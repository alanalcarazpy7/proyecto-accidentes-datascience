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xlsx" ContentType="application/vnd.openxmlformats-officedocument.spreadsheetml.sheet"/>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s-P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data1.xlsx"/></Relationships>
</file>

<file path=ppt/charts/_rels/chart2.xml.rels><?xml version='1.0' encoding='UTF-8' standalone='yes'?>
<Relationships xmlns="http://schemas.openxmlformats.org/package/2006/relationships"><Relationship Id="rId1" Type="http://schemas.openxmlformats.org/officeDocument/2006/relationships/package" Target="../embeddings/data2.xlsx"/></Relationships>
</file>

<file path=ppt/charts/_rels/chart3.xml.rels><?xml version='1.0' encoding='UTF-8' standalone='yes'?>
<Relationships xmlns="http://schemas.openxmlformats.org/package/2006/relationships"><Relationship Id="rId1" Type="http://schemas.openxmlformats.org/officeDocument/2006/relationships/package" Target="../embeddings/data3.xlsx"/></Relationships>
</file>

<file path=ppt/charts/_rels/chart4.xml.rels><?xml version='1.0' encoding='UTF-8' standalone='yes'?>
<Relationships xmlns="http://schemas.openxmlformats.org/package/2006/relationships"><Relationship Id="rId1" Type="http://schemas.openxmlformats.org/officeDocument/2006/relationships/package" Target="../embeddings/data4.xlsx"/></Relationships>
</file>

<file path=ppt/charts/_rels/chart5.xml.rels><?xml version='1.0' encoding='UTF-8' standalone='yes'?>
<Relationships xmlns="http://schemas.openxmlformats.org/package/2006/relationships"><Relationship Id="rId1" Type="http://schemas.openxmlformats.org/officeDocument/2006/relationships/package" Target="../embeddings/data5.xlsx"/></Relationships>
</file>

<file path=ppt/charts/_rels/chart6.xml.rels><?xml version='1.0' encoding='UTF-8' standalone='yes'?>
<Relationships xmlns="http://schemas.openxmlformats.org/package/2006/relationships"><Relationship Id="rId1" Type="http://schemas.openxmlformats.org/officeDocument/2006/relationships/package" Target="../embeddings/data6.xlsx"/></Relationships>
</file>

<file path=ppt/charts/_rels/chart7.xml.rels><?xml version='1.0' encoding='UTF-8' standalone='yes'?>
<Relationships xmlns="http://schemas.openxmlformats.org/package/2006/relationships"><Relationship Id="rId1" Type="http://schemas.openxmlformats.org/officeDocument/2006/relationships/package" Target="../embeddings/data7.xlsx"/></Relationships>
</file>

<file path=ppt/charts/_rels/chart8.xml.rels><?xml version='1.0' encoding='UTF-8' standalone='yes'?>
<Relationships xmlns="http://schemas.openxmlformats.org/package/2006/relationships"><Relationship Id="rId1" Type="http://schemas.openxmlformats.org/officeDocument/2006/relationships/package" Target="../embeddings/data8.xlsx"/></Relationships>
</file>

<file path=ppt/charts/_rels/chart9.xml.rels><?xml version='1.0' encoding='UTF-8' standalone='yes'?>
<Relationships xmlns="http://schemas.openxmlformats.org/package/2006/relationships"><Relationship Id="rId1" Type="http://schemas.openxmlformats.org/officeDocument/2006/relationships/package" Target="../embeddings/data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data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data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data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data13.xlsx"/></Relationships>
</file>

<file path=ppt/charts/chart1.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col"/>
        <c:grouping val="clustered"/>
        <c:varyColors val="0"/>
        <c:ser>
          <c:idx val="0"/>
          <c:order val="0"/>
          <c:tx>
            <c:strRef>
              <c:f>Datos!$B$1</c:f>
              <c:strCache>
                <c:ptCount val="1"/>
                <c:pt idx="0">
                  <c:v>Porcentaje de víctimas</c:v>
                </c:pt>
              </c:strCache>
            </c:strRef>
          </c:tx>
          <c:spPr>
            <a:solidFill>
              <a:srgbClr val="287F79"/>
            </a:solidFill>
            <a:ln>
              <a:noFill/>
            </a:ln>
          </c:spPr>
          <c:dPt>
            <c:idx val="0"/>
            <c:spPr>
              <a:solidFill>
                <a:srgbClr val="287F79"/>
              </a:solidFill>
              <a:ln>
                <a:noFill/>
              </a:ln>
            </c:spPr>
          </c:dPt>
          <c:dPt>
            <c:idx val="1"/>
            <c:spPr>
              <a:solidFill>
                <a:srgbClr val="BA6A3A"/>
              </a:solidFill>
              <a:ln>
                <a:noFill/>
              </a:ln>
            </c:spPr>
          </c:dPt>
          <c:cat>
            <c:strRef>
              <c:f>Datos!$A$2:$A$3</c:f>
              <c:strCache>
                <c:ptCount val="2"/>
                <c:pt idx="0">
                  <c:v>Heridos</c:v>
                </c:pt>
                <c:pt idx="1">
                  <c:v>Fallecidos</c:v>
                </c:pt>
              </c:strCache>
            </c:strRef>
          </c:cat>
          <c:val>
            <c:numRef>
              <c:f>Datos!$B$2:$B$3</c:f>
              <c:numCache>
                <c:formatCode>0.0%</c:formatCode>
                <c:ptCount val="2"/>
                <c:pt idx="0">
                  <c:v>0.8215911159657746</c:v>
                </c:pt>
                <c:pt idx="1">
                  <c:v>0.1784088840342254</c:v>
                </c:pt>
              </c:numCache>
            </c:numRef>
          </c:val>
        </c:ser>
        <c:dLbls>
          <c:numFmt formatCode="0.0%" sourceLinked="0"/>
          <c:txPr>
            <a:bodyPr/>
            <a:lstStyle/>
            <a:p>
              <a:pPr>
                <a:defRPr sz="1800" b="1">
                  <a:solidFill>
                    <a:srgbClr val="173F3B"/>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inMax"/>
        </c:scaling>
        <c:delete val="0"/>
        <c:axPos val="b"/>
        <c:majorTickMark val="none"/>
        <c:minorTickMark val="none"/>
        <c:tickLblPos val="nextTo"/>
        <c:spPr>
          <a:ln w="10000">
            <a:solidFill>
              <a:srgbClr val="DCE4DF"/>
            </a:solidFill>
          </a:ln>
        </c:spPr>
        <c:txPr>
          <a:bodyPr/>
          <a:lstStyle/>
          <a:p>
            <a:pPr>
              <a:defRPr sz="1600" b="0">
                <a:solidFill>
                  <a:srgbClr val="173F3B"/>
                </a:solidFill>
                <a:latin typeface="Arial"/>
              </a:defRPr>
            </a:pPr>
            <a:endParaRPr lang="es-PY"/>
          </a:p>
        </c:txPr>
        <c:crossAx val="200"/>
        <c:crosses val="autoZero"/>
        <c:auto val="1"/>
        <c:lblAlgn val="ctr"/>
        <c:lblOffset val="100"/>
      </c:catAx>
      <c:valAx>
        <c:axId val="200"/>
        <c:scaling>
          <c:orientation val="minMax"/>
          <c:max val="1.1"/>
          <c:min val="0"/>
        </c:scaling>
        <c:delete val="0"/>
        <c:axPos val="l"/>
        <c:majorGridlines>
          <c:spPr>
            <a:ln w="10000">
              <a:solidFill>
                <a:srgbClr val="DFE6E1"/>
              </a:solidFill>
            </a:ln>
          </c:spPr>
        </c:majorGridlines>
        <c:numFmt formatCode="0.0%" sourceLinked="0"/>
        <c:majorTickMark val="none"/>
        <c:minorTickMark val="none"/>
        <c:tickLblPos val="nextTo"/>
        <c:spPr>
          <a:ln w="10000">
            <a:solidFill>
              <a:srgbClr val="DCE4DF"/>
            </a:solidFill>
          </a:ln>
        </c:spPr>
        <c:txPr>
          <a:bodyPr/>
          <a:lstStyle/>
          <a:p>
            <a:pPr>
              <a:defRPr sz="1600" b="0">
                <a:solidFill>
                  <a:srgbClr val="173F3B"/>
                </a:solidFill>
                <a:latin typeface="Arial"/>
              </a:defRPr>
            </a:pPr>
            <a:endParaRPr lang="es-PY"/>
          </a:p>
        </c:txPr>
        <c:crossAx val="100"/>
        <c:crosses val="autoZero"/>
        <c:crossBetween val="between"/>
        <c:majorUnit val="0.5"/>
      </c:valAx>
    </c:plotArea>
    <c:plotVisOnly val="1"/>
    <c:dispBlanksAs val="gap"/>
    <c:showDLblsOverMax val="0"/>
  </c:chart>
  <c:spPr>
    <a:noFill/>
    <a:ln>
      <a:noFill/>
    </a:ln>
  </c:spPr>
  <c:txPr>
    <a:bodyPr/>
    <a:lstStyle/>
    <a:p>
      <a:pPr>
        <a:defRPr sz="1700" b="0">
          <a:solidFill>
            <a:srgbClr val="173F3B"/>
          </a:solidFill>
          <a:latin typeface="Arial"/>
        </a:defRPr>
      </a:pPr>
      <a:endParaRPr lang="es-PY"/>
    </a:p>
  </c:txPr>
  <c:externalData r:id="rId1">
    <c:autoUpdate val="0"/>
  </c:externalData>
</c:chartSpace>
</file>

<file path=ppt/charts/chart2.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col"/>
        <c:grouping val="clustered"/>
        <c:varyColors val="0"/>
        <c:ser>
          <c:idx val="0"/>
          <c:order val="0"/>
          <c:tx>
            <c:strRef>
              <c:f>Datos!$B$1</c:f>
              <c:strCache>
                <c:ptCount val="1"/>
                <c:pt idx="0">
                  <c:v>Disponibilidad de edad</c:v>
                </c:pt>
              </c:strCache>
            </c:strRef>
          </c:tx>
          <c:spPr>
            <a:solidFill>
              <a:srgbClr val="287F79"/>
            </a:solidFill>
            <a:ln>
              <a:noFill/>
            </a:ln>
          </c:spPr>
          <c:dPt>
            <c:idx val="0"/>
            <c:spPr>
              <a:solidFill>
                <a:srgbClr val="287F79"/>
              </a:solidFill>
              <a:ln>
                <a:noFill/>
              </a:ln>
            </c:spPr>
          </c:dPt>
          <c:dPt>
            <c:idx val="1"/>
            <c:spPr>
              <a:solidFill>
                <a:srgbClr val="BA6A3A"/>
              </a:solidFill>
              <a:ln>
                <a:noFill/>
              </a:ln>
            </c:spPr>
          </c:dPt>
          <c:cat>
            <c:strRef>
              <c:f>Datos!$A$2:$A$3</c:f>
              <c:strCache>
                <c:ptCount val="2"/>
                <c:pt idx="0">
                  <c:v>Conocida</c:v>
                </c:pt>
                <c:pt idx="1">
                  <c:v>Ignorada</c:v>
                </c:pt>
              </c:strCache>
            </c:strRef>
          </c:cat>
          <c:val>
            <c:numRef>
              <c:f>Datos!$B$2:$B$3</c:f>
              <c:numCache>
                <c:formatCode>0.0%</c:formatCode>
                <c:ptCount val="2"/>
                <c:pt idx="0">
                  <c:v>0.9357363917713454</c:v>
                </c:pt>
                <c:pt idx="1">
                  <c:v>0.06426360822865465</c:v>
                </c:pt>
              </c:numCache>
            </c:numRef>
          </c:val>
        </c:ser>
        <c:dLbls>
          <c:numFmt formatCode="0.0%" sourceLinked="0"/>
          <c:txPr>
            <a:bodyPr/>
            <a:lstStyle/>
            <a:p>
              <a:pPr>
                <a:defRPr sz="1800" b="1">
                  <a:solidFill>
                    <a:srgbClr val="173F3B"/>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inMax"/>
        </c:scaling>
        <c:delete val="0"/>
        <c:axPos val="b"/>
        <c:majorTickMark val="none"/>
        <c:minorTickMark val="none"/>
        <c:tickLblPos val="nextTo"/>
        <c:spPr>
          <a:ln w="10000">
            <a:solidFill>
              <a:srgbClr val="DCE4DF"/>
            </a:solidFill>
          </a:ln>
        </c:spPr>
        <c:txPr>
          <a:bodyPr/>
          <a:lstStyle/>
          <a:p>
            <a:pPr>
              <a:defRPr sz="1600" b="0">
                <a:solidFill>
                  <a:srgbClr val="173F3B"/>
                </a:solidFill>
                <a:latin typeface="Arial"/>
              </a:defRPr>
            </a:pPr>
            <a:endParaRPr lang="es-PY"/>
          </a:p>
        </c:txPr>
        <c:crossAx val="200"/>
        <c:crosses val="autoZero"/>
        <c:auto val="1"/>
        <c:lblAlgn val="ctr"/>
        <c:lblOffset val="100"/>
      </c:catAx>
      <c:valAx>
        <c:axId val="200"/>
        <c:scaling>
          <c:orientation val="minMax"/>
          <c:max val="1.1"/>
          <c:min val="0"/>
        </c:scaling>
        <c:delete val="0"/>
        <c:axPos val="l"/>
        <c:majorGridlines>
          <c:spPr>
            <a:ln w="10000">
              <a:solidFill>
                <a:srgbClr val="DFE6E1"/>
              </a:solidFill>
            </a:ln>
          </c:spPr>
        </c:majorGridlines>
        <c:numFmt formatCode="0.0%" sourceLinked="0"/>
        <c:majorTickMark val="none"/>
        <c:minorTickMark val="none"/>
        <c:tickLblPos val="nextTo"/>
        <c:spPr>
          <a:ln w="10000">
            <a:solidFill>
              <a:srgbClr val="DCE4DF"/>
            </a:solidFill>
          </a:ln>
        </c:spPr>
        <c:txPr>
          <a:bodyPr/>
          <a:lstStyle/>
          <a:p>
            <a:pPr>
              <a:defRPr sz="1600" b="0">
                <a:solidFill>
                  <a:srgbClr val="173F3B"/>
                </a:solidFill>
                <a:latin typeface="Arial"/>
              </a:defRPr>
            </a:pPr>
            <a:endParaRPr lang="es-PY"/>
          </a:p>
        </c:txPr>
        <c:crossAx val="100"/>
        <c:crosses val="autoZero"/>
        <c:crossBetween val="between"/>
        <c:majorUnit val="0.5"/>
      </c:valAx>
    </c:plotArea>
    <c:plotVisOnly val="1"/>
    <c:dispBlanksAs val="gap"/>
    <c:showDLblsOverMax val="0"/>
  </c:chart>
  <c:spPr>
    <a:noFill/>
    <a:ln>
      <a:noFill/>
    </a:ln>
  </c:spPr>
  <c:txPr>
    <a:bodyPr/>
    <a:lstStyle/>
    <a:p>
      <a:pPr>
        <a:defRPr sz="1700" b="0">
          <a:solidFill>
            <a:srgbClr val="173F3B"/>
          </a:solidFill>
          <a:latin typeface="Arial"/>
        </a:defRPr>
      </a:pPr>
      <a:endParaRPr lang="es-PY"/>
    </a:p>
  </c:txPr>
  <c:externalData r:id="rId1">
    <c:autoUpdate val="0"/>
  </c:externalData>
</c:chartSpace>
</file>

<file path=ppt/charts/chart3.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lineChart>
        <c:grouping val="standard"/>
        <c:varyColors val="0"/>
        <c:ser>
          <c:idx val="0"/>
          <c:order val="0"/>
          <c:tx>
            <c:strRef>
              <c:f>Datos!$B$1</c:f>
              <c:strCache>
                <c:ptCount val="1"/>
                <c:pt idx="0">
                  <c:v>Siniestros</c:v>
                </c:pt>
              </c:strCache>
            </c:strRef>
          </c:tx>
          <c:spPr>
            <a:solidFill>
              <a:srgbClr val="287F79"/>
            </a:solidFill>
            <a:ln w="28575">
              <a:solidFill>
                <a:srgbClr val="287F79"/>
              </a:solidFill>
            </a:ln>
          </c:spPr>
          <c:marker>
            <c:symbol val="circle"/>
            <c:size val="6"/>
          </c:marker>
          <c:cat>
            <c:strRef>
              <c:f>Datos!$A$2:$A$13</c:f>
              <c:strCache>
                <c:ptCount val="12"/>
                <c:pt idx="0">
                  <c:v>Ene</c:v>
                </c:pt>
                <c:pt idx="1">
                  <c:v>Feb</c:v>
                </c:pt>
                <c:pt idx="2">
                  <c:v>Mar</c:v>
                </c:pt>
                <c:pt idx="3">
                  <c:v>Abr</c:v>
                </c:pt>
                <c:pt idx="4">
                  <c:v>May</c:v>
                </c:pt>
                <c:pt idx="5">
                  <c:v>Jun</c:v>
                </c:pt>
                <c:pt idx="6">
                  <c:v>Jul</c:v>
                </c:pt>
                <c:pt idx="7">
                  <c:v>Ago</c:v>
                </c:pt>
                <c:pt idx="8">
                  <c:v>Set</c:v>
                </c:pt>
                <c:pt idx="9">
                  <c:v>Oct</c:v>
                </c:pt>
                <c:pt idx="10">
                  <c:v>Nov</c:v>
                </c:pt>
                <c:pt idx="11">
                  <c:v>Dic</c:v>
                </c:pt>
              </c:strCache>
            </c:strRef>
          </c:cat>
          <c:val>
            <c:numRef>
              <c:f>Datos!$B$2:$B$13</c:f>
              <c:numCache>
                <c:formatCode>0</c:formatCode>
                <c:ptCount val="12"/>
                <c:pt idx="0">
                  <c:v>140.0</c:v>
                </c:pt>
                <c:pt idx="1">
                  <c:v>129.0</c:v>
                </c:pt>
                <c:pt idx="2">
                  <c:v>124.0</c:v>
                </c:pt>
                <c:pt idx="3">
                  <c:v>138.0</c:v>
                </c:pt>
                <c:pt idx="4">
                  <c:v>145.0</c:v>
                </c:pt>
                <c:pt idx="5">
                  <c:v>140.0</c:v>
                </c:pt>
                <c:pt idx="6">
                  <c:v>173.0</c:v>
                </c:pt>
                <c:pt idx="7">
                  <c:v>188.0</c:v>
                </c:pt>
                <c:pt idx="8">
                  <c:v>198.0</c:v>
                </c:pt>
                <c:pt idx="9">
                  <c:v>201.0</c:v>
                </c:pt>
                <c:pt idx="10">
                  <c:v>179.0</c:v>
                </c:pt>
                <c:pt idx="11">
                  <c:v>187.0</c:v>
                </c:pt>
              </c:numCache>
            </c:numRef>
          </c:val>
        </c:ser>
        <c:dLbls>
          <c:dLbl>
            <c:idx val="0"/>
            <c:delete val="1"/>
          </c:dLbl>
          <c:dLbl>
            <c:idx val="1"/>
            <c:delete val="1"/>
          </c:dLbl>
          <c:dLbl>
            <c:idx val="3"/>
            <c:delete val="1"/>
          </c:dLbl>
          <c:dLbl>
            <c:idx val="4"/>
            <c:delete val="1"/>
          </c:dLbl>
          <c:dLbl>
            <c:idx val="5"/>
            <c:delete val="1"/>
          </c:dLbl>
          <c:dLbl>
            <c:idx val="6"/>
            <c:delete val="1"/>
          </c:dLbl>
          <c:dLbl>
            <c:idx val="7"/>
            <c:delete val="1"/>
          </c:dLbl>
          <c:dLbl>
            <c:idx val="8"/>
            <c:delete val="1"/>
          </c:dLbl>
          <c:dLbl>
            <c:idx val="10"/>
            <c:delete val="1"/>
          </c:dLbl>
          <c:dLbl>
            <c:idx val="11"/>
            <c:delete val="1"/>
          </c:dLbl>
          <c:numFmt formatCode="0" sourceLinked="0"/>
          <c:txPr>
            <a:bodyPr/>
            <a:lstStyle/>
            <a:p>
              <a:pPr>
                <a:defRPr sz="1500" b="1">
                  <a:solidFill>
                    <a:srgbClr val="173F3B"/>
                  </a:solidFill>
                  <a:latin typeface="Arial"/>
                </a:defRPr>
              </a:pPr>
              <a:endParaRPr lang="es-PY"/>
            </a:p>
          </c:txPr>
          <c:dLblPos val="t"/>
          <c:showLegendKey val="0"/>
          <c:showVal val="1"/>
          <c:showCatName val="0"/>
          <c:showSerName val="0"/>
          <c:showPercent val="0"/>
          <c:showBubbleSize val="0"/>
        </c:dLbls>
        <c:marker val="1"/>
        <c:smooth val="0"/>
        <c:axId val="100"/>
        <c:axId val="200"/>
      </c:lineChart>
      <c:catAx>
        <c:axId val="100"/>
        <c:scaling>
          <c:orientation val="minMax"/>
        </c:scaling>
        <c:delete val="0"/>
        <c:axPos val="b"/>
        <c:majorTickMark val="none"/>
        <c:minorTickMark val="none"/>
        <c:tickLblPos val="nextTo"/>
        <c:spPr>
          <a:ln w="10000">
            <a:solidFill>
              <a:srgbClr val="DCE4DF"/>
            </a:solidFill>
          </a:ln>
        </c:spPr>
        <c:txPr>
          <a:bodyPr/>
          <a:lstStyle/>
          <a:p>
            <a:pPr>
              <a:defRPr sz="1300" b="0">
                <a:solidFill>
                  <a:srgbClr val="173F3B"/>
                </a:solidFill>
                <a:latin typeface="Arial"/>
              </a:defRPr>
            </a:pPr>
            <a:endParaRPr lang="es-PY"/>
          </a:p>
        </c:txPr>
        <c:crossAx val="200"/>
        <c:crosses val="autoZero"/>
        <c:auto val="1"/>
        <c:lblAlgn val="ctr"/>
        <c:lblOffset val="100"/>
      </c:catAx>
      <c:valAx>
        <c:axId val="200"/>
        <c:scaling>
          <c:orientation val="minMax"/>
          <c:max val="240"/>
          <c:min val="0"/>
        </c:scaling>
        <c:delete val="0"/>
        <c:axPos val="l"/>
        <c:majorGridlines>
          <c:spPr>
            <a:ln w="10000">
              <a:solidFill>
                <a:srgbClr val="DFE6E1"/>
              </a:solidFill>
            </a:ln>
          </c:spPr>
        </c:majorGridlines>
        <c:numFmt formatCode="0" sourceLinked="0"/>
        <c:majorTickMark val="none"/>
        <c:minorTickMark val="none"/>
        <c:tickLblPos val="nextTo"/>
        <c:spPr>
          <a:ln w="10000">
            <a:solidFill>
              <a:srgbClr val="DCE4DF"/>
            </a:solidFill>
          </a:ln>
        </c:spPr>
        <c:txPr>
          <a:bodyPr/>
          <a:lstStyle/>
          <a:p>
            <a:pPr>
              <a:defRPr sz="1300" b="0">
                <a:solidFill>
                  <a:srgbClr val="173F3B"/>
                </a:solidFill>
                <a:latin typeface="Arial"/>
              </a:defRPr>
            </a:pPr>
            <a:endParaRPr lang="es-PY"/>
          </a:p>
        </c:txPr>
        <c:crossAx val="100"/>
        <c:crosses val="autoZero"/>
        <c:crossBetween val="between"/>
        <c:majorUnit val="60"/>
      </c:valAx>
    </c:plotArea>
    <c:plotVisOnly val="1"/>
    <c:dispBlanksAs val="gap"/>
    <c:showDLblsOverMax val="0"/>
  </c:chart>
  <c:spPr>
    <a:noFill/>
    <a:ln>
      <a:noFill/>
    </a:ln>
  </c:spPr>
  <c:txPr>
    <a:bodyPr/>
    <a:lstStyle/>
    <a:p>
      <a:pPr>
        <a:defRPr sz="1700" b="0">
          <a:solidFill>
            <a:srgbClr val="173F3B"/>
          </a:solidFill>
          <a:latin typeface="Arial"/>
        </a:defRPr>
      </a:pPr>
      <a:endParaRPr lang="es-PY"/>
    </a:p>
  </c:txPr>
  <c:externalData r:id="rId1">
    <c:autoUpdate val="0"/>
  </c:externalData>
</c:chartSpace>
</file>

<file path=ppt/charts/chart4.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Siniestros por ruta</c:v>
                </c:pt>
              </c:strCache>
            </c:strRef>
          </c:tx>
          <c:spPr>
            <a:solidFill>
              <a:srgbClr val="287F79"/>
            </a:solidFill>
            <a:ln>
              <a:noFill/>
            </a:ln>
          </c:spPr>
          <c:dPt>
            <c:idx val="0"/>
            <c:spPr>
              <a:solidFill>
                <a:srgbClr val="BA6A3A"/>
              </a:solidFill>
              <a:ln>
                <a:noFill/>
              </a:ln>
            </c:spPr>
          </c:dPt>
          <c:dPt>
            <c:idx val="1"/>
            <c:spPr>
              <a:solidFill>
                <a:srgbClr val="287F79"/>
              </a:solidFill>
              <a:ln>
                <a:noFill/>
              </a:ln>
            </c:spPr>
          </c:dPt>
          <c:dPt>
            <c:idx val="2"/>
            <c:spPr>
              <a:solidFill>
                <a:srgbClr val="287F79"/>
              </a:solidFill>
              <a:ln>
                <a:noFill/>
              </a:ln>
            </c:spPr>
          </c:dPt>
          <c:cat>
            <c:strRef>
              <c:f>Datos!$A$2:$A$4</c:f>
              <c:strCache>
                <c:ptCount val="3"/>
                <c:pt idx="0">
                  <c:v>PY02</c:v>
                </c:pt>
                <c:pt idx="1">
                  <c:v>PY01</c:v>
                </c:pt>
                <c:pt idx="2">
                  <c:v>PY06</c:v>
                </c:pt>
              </c:strCache>
            </c:strRef>
          </c:cat>
          <c:val>
            <c:numRef>
              <c:f>Datos!$B$2:$B$4</c:f>
              <c:numCache>
                <c:formatCode>#,##0</c:formatCode>
                <c:ptCount val="3"/>
                <c:pt idx="0">
                  <c:v>711.0</c:v>
                </c:pt>
                <c:pt idx="1">
                  <c:v>265.0</c:v>
                </c:pt>
                <c:pt idx="2">
                  <c:v>150.0</c:v>
                </c:pt>
              </c:numCache>
            </c:numRef>
          </c:val>
        </c:ser>
        <c:dLbls>
          <c:numFmt formatCode="#,##0" sourceLinked="0"/>
          <c:txPr>
            <a:bodyPr/>
            <a:lstStyle/>
            <a:p>
              <a:pPr>
                <a:defRPr sz="1700" b="1">
                  <a:solidFill>
                    <a:srgbClr val="173F3B"/>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CE4DF"/>
            </a:solidFill>
          </a:ln>
        </c:spPr>
        <c:txPr>
          <a:bodyPr/>
          <a:lstStyle/>
          <a:p>
            <a:pPr>
              <a:defRPr sz="1600" b="0">
                <a:solidFill>
                  <a:srgbClr val="173F3B"/>
                </a:solidFill>
                <a:latin typeface="Arial"/>
              </a:defRPr>
            </a:pPr>
            <a:endParaRPr lang="es-PY"/>
          </a:p>
        </c:txPr>
        <c:crossAx val="200"/>
        <c:crosses val="autoZero"/>
        <c:auto val="1"/>
        <c:lblAlgn val="ctr"/>
        <c:lblOffset val="100"/>
      </c:catAx>
      <c:valAx>
        <c:axId val="200"/>
        <c:scaling>
          <c:orientation val="minMax"/>
          <c:max val="850"/>
          <c:min val="0"/>
        </c:scaling>
        <c:delete val="0"/>
        <c:axPos val="b"/>
        <c:majorGridlines>
          <c:spPr>
            <a:ln w="10000">
              <a:solidFill>
                <a:srgbClr val="DFE6E1"/>
              </a:solidFill>
            </a:ln>
          </c:spPr>
        </c:majorGridlines>
        <c:numFmt formatCode="0" sourceLinked="0"/>
        <c:majorTickMark val="none"/>
        <c:minorTickMark val="none"/>
        <c:tickLblPos val="nextTo"/>
        <c:spPr>
          <a:ln w="10000">
            <a:solidFill>
              <a:srgbClr val="DCE4DF"/>
            </a:solidFill>
          </a:ln>
        </c:spPr>
        <c:txPr>
          <a:bodyPr/>
          <a:lstStyle/>
          <a:p>
            <a:pPr>
              <a:defRPr sz="1600" b="0">
                <a:solidFill>
                  <a:srgbClr val="173F3B"/>
                </a:solidFill>
                <a:latin typeface="Arial"/>
              </a:defRPr>
            </a:pPr>
            <a:endParaRPr lang="es-PY"/>
          </a:p>
        </c:txPr>
        <c:crossAx val="100"/>
        <c:crosses val="max"/>
        <c:crossBetween val="between"/>
        <c:majorUnit val="400"/>
      </c:valAx>
    </c:plotArea>
    <c:plotVisOnly val="1"/>
    <c:dispBlanksAs val="gap"/>
    <c:showDLblsOverMax val="0"/>
  </c:chart>
  <c:spPr>
    <a:noFill/>
    <a:ln>
      <a:noFill/>
    </a:ln>
  </c:spPr>
  <c:txPr>
    <a:bodyPr/>
    <a:lstStyle/>
    <a:p>
      <a:pPr>
        <a:defRPr sz="1700" b="0">
          <a:solidFill>
            <a:srgbClr val="173F3B"/>
          </a:solidFill>
          <a:latin typeface="Arial"/>
        </a:defRPr>
      </a:pPr>
      <a:endParaRPr lang="es-PY"/>
    </a:p>
  </c:txPr>
  <c:externalData r:id="rId1">
    <c:autoUpdate val="0"/>
  </c:externalData>
</c:chartSpace>
</file>

<file path=ppt/charts/chart5.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287F79"/>
            </a:solidFill>
            <a:ln>
              <a:noFill/>
            </a:ln>
          </c:spPr>
          <c:dPt>
            <c:idx val="0"/>
            <c:spPr>
              <a:solidFill>
                <a:srgbClr val="BA6A3A"/>
              </a:solidFill>
              <a:ln>
                <a:noFill/>
              </a:ln>
            </c:spPr>
          </c:dPt>
          <c:dPt>
            <c:idx val="1"/>
            <c:spPr>
              <a:solidFill>
                <a:srgbClr val="287F79"/>
              </a:solidFill>
              <a:ln>
                <a:noFill/>
              </a:ln>
            </c:spPr>
          </c:dPt>
          <c:cat>
            <c:strRef>
              <c:f>Datos!$A$2:$A$3</c:f>
              <c:strCache>
                <c:ptCount val="2"/>
                <c:pt idx="0">
                  <c:v>Hombres
850 / 4.291</c:v>
                </c:pt>
                <c:pt idx="1">
                  <c:v>Mujeres
130 / 1.202</c:v>
                </c:pt>
              </c:strCache>
            </c:strRef>
          </c:cat>
          <c:val>
            <c:numRef>
              <c:f>Datos!$B$2:$B$3</c:f>
              <c:numCache>
                <c:formatCode>0.0%</c:formatCode>
                <c:ptCount val="2"/>
                <c:pt idx="0">
                  <c:v>0.1980890235376369</c:v>
                </c:pt>
                <c:pt idx="1">
                  <c:v>0.10815307820299501</c:v>
                </c:pt>
              </c:numCache>
            </c:numRef>
          </c:val>
        </c:ser>
        <c:dLbls>
          <c:numFmt formatCode="0.0%" sourceLinked="0"/>
          <c:txPr>
            <a:bodyPr/>
            <a:lstStyle/>
            <a:p>
              <a:pPr>
                <a:defRPr sz="1800" b="1">
                  <a:solidFill>
                    <a:srgbClr val="173F3B"/>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CE4DF"/>
            </a:solidFill>
          </a:ln>
        </c:spPr>
        <c:txPr>
          <a:bodyPr/>
          <a:lstStyle/>
          <a:p>
            <a:pPr>
              <a:defRPr sz="1700" b="0">
                <a:solidFill>
                  <a:srgbClr val="173F3B"/>
                </a:solidFill>
                <a:latin typeface="Arial"/>
              </a:defRPr>
            </a:pPr>
            <a:endParaRPr lang="es-PY"/>
          </a:p>
        </c:txPr>
        <c:crossAx val="200"/>
        <c:crosses val="autoZero"/>
        <c:auto val="1"/>
        <c:lblAlgn val="ctr"/>
        <c:lblOffset val="100"/>
      </c:catAx>
      <c:valAx>
        <c:axId val="200"/>
        <c:scaling>
          <c:orientation val="minMax"/>
          <c:max val="0.3"/>
          <c:min val="0"/>
        </c:scaling>
        <c:delete val="0"/>
        <c:axPos val="b"/>
        <c:majorGridlines>
          <c:spPr>
            <a:ln w="10000">
              <a:solidFill>
                <a:srgbClr val="DFE6E1"/>
              </a:solidFill>
            </a:ln>
          </c:spPr>
        </c:majorGridlines>
        <c:numFmt formatCode="0.0%" sourceLinked="0"/>
        <c:majorTickMark val="none"/>
        <c:minorTickMark val="none"/>
        <c:tickLblPos val="nextTo"/>
        <c:spPr>
          <a:ln w="10000">
            <a:solidFill>
              <a:srgbClr val="DCE4DF"/>
            </a:solidFill>
          </a:ln>
        </c:spPr>
        <c:txPr>
          <a:bodyPr/>
          <a:lstStyle/>
          <a:p>
            <a:pPr>
              <a:defRPr sz="1700" b="0">
                <a:solidFill>
                  <a:srgbClr val="173F3B"/>
                </a:solidFill>
                <a:latin typeface="Arial"/>
              </a:defRPr>
            </a:pPr>
            <a:endParaRPr lang="es-PY"/>
          </a:p>
        </c:txPr>
        <c:crossAx val="100"/>
        <c:crosses val="max"/>
        <c:crossBetween val="between"/>
        <c:majorUnit val="0.1"/>
      </c:valAx>
    </c:plotArea>
    <c:plotVisOnly val="1"/>
    <c:dispBlanksAs val="gap"/>
    <c:showDLblsOverMax val="0"/>
  </c:chart>
  <c:spPr>
    <a:noFill/>
    <a:ln>
      <a:noFill/>
    </a:ln>
  </c:spPr>
  <c:txPr>
    <a:bodyPr/>
    <a:lstStyle/>
    <a:p>
      <a:pPr>
        <a:defRPr sz="1700" b="0">
          <a:solidFill>
            <a:srgbClr val="173F3B"/>
          </a:solidFill>
          <a:latin typeface="Arial"/>
        </a:defRPr>
      </a:pPr>
      <a:endParaRPr lang="es-PY"/>
    </a:p>
  </c:txPr>
  <c:externalData r:id="rId1">
    <c:autoUpdate val="0"/>
  </c:externalData>
</c:chartSpace>
</file>

<file path=ppt/charts/chart6.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287F79"/>
            </a:solidFill>
            <a:ln>
              <a:noFill/>
            </a:ln>
          </c:spPr>
          <c:dPt>
            <c:idx val="0"/>
            <c:spPr>
              <a:solidFill>
                <a:srgbClr val="287F79"/>
              </a:solidFill>
              <a:ln>
                <a:noFill/>
              </a:ln>
            </c:spPr>
          </c:dPt>
          <c:dPt>
            <c:idx val="1"/>
            <c:spPr>
              <a:solidFill>
                <a:srgbClr val="287F79"/>
              </a:solidFill>
              <a:ln>
                <a:noFill/>
              </a:ln>
            </c:spPr>
          </c:dPt>
          <c:dPt>
            <c:idx val="2"/>
            <c:spPr>
              <a:solidFill>
                <a:srgbClr val="287F79"/>
              </a:solidFill>
              <a:ln>
                <a:noFill/>
              </a:ln>
            </c:spPr>
          </c:dPt>
          <c:dPt>
            <c:idx val="3"/>
            <c:spPr>
              <a:solidFill>
                <a:srgbClr val="287F79"/>
              </a:solidFill>
              <a:ln>
                <a:noFill/>
              </a:ln>
            </c:spPr>
          </c:dPt>
          <c:dPt>
            <c:idx val="4"/>
            <c:spPr>
              <a:solidFill>
                <a:srgbClr val="287F79"/>
              </a:solidFill>
              <a:ln>
                <a:noFill/>
              </a:ln>
            </c:spPr>
          </c:dPt>
          <c:dPt>
            <c:idx val="5"/>
            <c:spPr>
              <a:solidFill>
                <a:srgbClr val="287F79"/>
              </a:solidFill>
              <a:ln>
                <a:noFill/>
              </a:ln>
            </c:spPr>
          </c:dPt>
          <c:dPt>
            <c:idx val="6"/>
            <c:spPr>
              <a:solidFill>
                <a:srgbClr val="BA6A3A"/>
              </a:solidFill>
              <a:ln>
                <a:noFill/>
              </a:ln>
            </c:spPr>
          </c:dPt>
          <c:cat>
            <c:strRef>
              <c:f>Datos!$A$2:$A$8</c:f>
              <c:strCache>
                <c:ptCount val="7"/>
                <c:pt idx="0">
                  <c:v>0–13</c:v>
                </c:pt>
                <c:pt idx="1">
                  <c:v>14–17</c:v>
                </c:pt>
                <c:pt idx="2">
                  <c:v>18–29</c:v>
                </c:pt>
                <c:pt idx="3">
                  <c:v>30–39</c:v>
                </c:pt>
                <c:pt idx="4">
                  <c:v>40–49</c:v>
                </c:pt>
                <c:pt idx="5">
                  <c:v>50–59</c:v>
                </c:pt>
                <c:pt idx="6">
                  <c:v>60 o más</c:v>
                </c:pt>
              </c:strCache>
            </c:strRef>
          </c:cat>
          <c:val>
            <c:numRef>
              <c:f>Datos!$B$2:$B$8</c:f>
              <c:numCache>
                <c:formatCode>0.0%</c:formatCode>
                <c:ptCount val="7"/>
                <c:pt idx="0">
                  <c:v>0.11437908496732026</c:v>
                </c:pt>
                <c:pt idx="1">
                  <c:v>0.12694877505567928</c:v>
                </c:pt>
                <c:pt idx="2">
                  <c:v>0.1511899206719552</c:v>
                </c:pt>
                <c:pt idx="3">
                  <c:v>0.1797872340425532</c:v>
                </c:pt>
                <c:pt idx="4">
                  <c:v>0.2037914691943128</c:v>
                </c:pt>
                <c:pt idx="5">
                  <c:v>0.2742382271468144</c:v>
                </c:pt>
                <c:pt idx="6">
                  <c:v>0.34415584415584416</c:v>
                </c:pt>
              </c:numCache>
            </c:numRef>
          </c:val>
        </c:ser>
        <c:dLbls>
          <c:numFmt formatCode="0.0%" sourceLinked="0"/>
          <c:txPr>
            <a:bodyPr/>
            <a:lstStyle/>
            <a:p>
              <a:pPr>
                <a:defRPr sz="1700" b="1">
                  <a:solidFill>
                    <a:srgbClr val="173F3B"/>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CE4DF"/>
            </a:solidFill>
          </a:ln>
        </c:spPr>
        <c:txPr>
          <a:bodyPr/>
          <a:lstStyle/>
          <a:p>
            <a:pPr>
              <a:defRPr sz="1700" b="0">
                <a:solidFill>
                  <a:srgbClr val="173F3B"/>
                </a:solidFill>
                <a:latin typeface="Arial"/>
              </a:defRPr>
            </a:pPr>
            <a:endParaRPr lang="es-PY"/>
          </a:p>
        </c:txPr>
        <c:crossAx val="200"/>
        <c:crosses val="autoZero"/>
        <c:auto val="1"/>
        <c:lblAlgn val="ctr"/>
        <c:lblOffset val="100"/>
      </c:catAx>
      <c:valAx>
        <c:axId val="200"/>
        <c:scaling>
          <c:orientation val="minMax"/>
          <c:max val="0.45"/>
          <c:min val="0"/>
        </c:scaling>
        <c:delete val="0"/>
        <c:axPos val="b"/>
        <c:majorGridlines>
          <c:spPr>
            <a:ln w="10000">
              <a:solidFill>
                <a:srgbClr val="DFE6E1"/>
              </a:solidFill>
            </a:ln>
          </c:spPr>
        </c:majorGridlines>
        <c:numFmt formatCode="0.0%" sourceLinked="0"/>
        <c:majorTickMark val="none"/>
        <c:minorTickMark val="none"/>
        <c:tickLblPos val="nextTo"/>
        <c:spPr>
          <a:ln w="10000">
            <a:solidFill>
              <a:srgbClr val="DCE4DF"/>
            </a:solidFill>
          </a:ln>
        </c:spPr>
        <c:txPr>
          <a:bodyPr/>
          <a:lstStyle/>
          <a:p>
            <a:pPr>
              <a:defRPr sz="1700" b="0">
                <a:solidFill>
                  <a:srgbClr val="173F3B"/>
                </a:solidFill>
                <a:latin typeface="Arial"/>
              </a:defRPr>
            </a:pPr>
            <a:endParaRPr lang="es-PY"/>
          </a:p>
        </c:txPr>
        <c:crossAx val="100"/>
        <c:crosses val="max"/>
        <c:crossBetween val="between"/>
        <c:majorUnit val="0.2"/>
      </c:valAx>
    </c:plotArea>
    <c:plotVisOnly val="1"/>
    <c:dispBlanksAs val="gap"/>
    <c:showDLblsOverMax val="0"/>
  </c:chart>
  <c:spPr>
    <a:noFill/>
    <a:ln>
      <a:noFill/>
    </a:ln>
  </c:spPr>
  <c:txPr>
    <a:bodyPr/>
    <a:lstStyle/>
    <a:p>
      <a:pPr>
        <a:defRPr sz="1700" b="0">
          <a:solidFill>
            <a:srgbClr val="173F3B"/>
          </a:solidFill>
          <a:latin typeface="Arial"/>
        </a:defRPr>
      </a:pPr>
      <a:endParaRPr lang="es-PY"/>
    </a:p>
  </c:txPr>
  <c:externalData r:id="rId1">
    <c:autoUpdate val="0"/>
  </c:externalData>
</c:chartSpace>
</file>

<file path=ppt/charts/chart7.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287F79"/>
            </a:solidFill>
            <a:ln>
              <a:noFill/>
            </a:ln>
          </c:spPr>
          <c:dPt>
            <c:idx val="0"/>
            <c:spPr>
              <a:solidFill>
                <a:srgbClr val="287F79"/>
              </a:solidFill>
              <a:ln>
                <a:noFill/>
              </a:ln>
            </c:spPr>
          </c:dPt>
          <c:dPt>
            <c:idx val="1"/>
            <c:spPr>
              <a:solidFill>
                <a:srgbClr val="287F79"/>
              </a:solidFill>
              <a:ln>
                <a:noFill/>
              </a:ln>
            </c:spPr>
          </c:dPt>
          <c:dPt>
            <c:idx val="2"/>
            <c:spPr>
              <a:solidFill>
                <a:srgbClr val="BA6A3A"/>
              </a:solidFill>
              <a:ln>
                <a:noFill/>
              </a:ln>
            </c:spPr>
          </c:dPt>
          <c:cat>
            <c:strRef>
              <c:f>Datos!$A$2:$A$4</c:f>
              <c:strCache>
                <c:ptCount val="3"/>
                <c:pt idx="0">
                  <c:v>Asunción
26 / 167</c:v>
                </c:pt>
                <c:pt idx="1">
                  <c:v>Central
82 / 476</c:v>
                </c:pt>
                <c:pt idx="2">
                  <c:v>Interior
187 / 848</c:v>
                </c:pt>
              </c:strCache>
            </c:strRef>
          </c:cat>
          <c:val>
            <c:numRef>
              <c:f>Datos!$B$2:$B$4</c:f>
              <c:numCache>
                <c:formatCode>0.0%</c:formatCode>
                <c:ptCount val="3"/>
                <c:pt idx="0">
                  <c:v>0.15568862275449102</c:v>
                </c:pt>
                <c:pt idx="1">
                  <c:v>0.1722689075630252</c:v>
                </c:pt>
                <c:pt idx="2">
                  <c:v>0.2205188679245283</c:v>
                </c:pt>
              </c:numCache>
            </c:numRef>
          </c:val>
        </c:ser>
        <c:dLbls>
          <c:numFmt formatCode="0.0%" sourceLinked="0"/>
          <c:txPr>
            <a:bodyPr/>
            <a:lstStyle/>
            <a:p>
              <a:pPr>
                <a:defRPr sz="1800" b="1">
                  <a:solidFill>
                    <a:srgbClr val="173F3B"/>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CE4DF"/>
            </a:solidFill>
          </a:ln>
        </c:spPr>
        <c:txPr>
          <a:bodyPr/>
          <a:lstStyle/>
          <a:p>
            <a:pPr>
              <a:defRPr sz="1800" b="0">
                <a:solidFill>
                  <a:srgbClr val="173F3B"/>
                </a:solidFill>
                <a:latin typeface="Arial"/>
              </a:defRPr>
            </a:pPr>
            <a:endParaRPr lang="es-PY"/>
          </a:p>
        </c:txPr>
        <c:crossAx val="200"/>
        <c:crosses val="autoZero"/>
        <c:auto val="1"/>
        <c:lblAlgn val="ctr"/>
        <c:lblOffset val="100"/>
      </c:catAx>
      <c:valAx>
        <c:axId val="200"/>
        <c:scaling>
          <c:orientation val="minMax"/>
          <c:max val="0.3"/>
          <c:min val="0"/>
        </c:scaling>
        <c:delete val="0"/>
        <c:axPos val="b"/>
        <c:majorGridlines>
          <c:spPr>
            <a:ln w="10000">
              <a:solidFill>
                <a:srgbClr val="DFE6E1"/>
              </a:solidFill>
            </a:ln>
          </c:spPr>
        </c:majorGridlines>
        <c:numFmt formatCode="0.0%" sourceLinked="0"/>
        <c:majorTickMark val="none"/>
        <c:minorTickMark val="none"/>
        <c:tickLblPos val="nextTo"/>
        <c:spPr>
          <a:ln w="10000">
            <a:solidFill>
              <a:srgbClr val="DCE4DF"/>
            </a:solidFill>
          </a:ln>
        </c:spPr>
        <c:txPr>
          <a:bodyPr/>
          <a:lstStyle/>
          <a:p>
            <a:pPr>
              <a:defRPr sz="1800" b="0">
                <a:solidFill>
                  <a:srgbClr val="173F3B"/>
                </a:solidFill>
                <a:latin typeface="Arial"/>
              </a:defRPr>
            </a:pPr>
            <a:endParaRPr lang="es-PY"/>
          </a:p>
        </c:txPr>
        <c:crossAx val="100"/>
        <c:crosses val="max"/>
        <c:crossBetween val="between"/>
        <c:majorUnit val="0.1"/>
      </c:valAx>
    </c:plotArea>
    <c:plotVisOnly val="1"/>
    <c:dispBlanksAs val="gap"/>
    <c:showDLblsOverMax val="0"/>
  </c:chart>
  <c:spPr>
    <a:noFill/>
    <a:ln>
      <a:noFill/>
    </a:ln>
  </c:spPr>
  <c:txPr>
    <a:bodyPr/>
    <a:lstStyle/>
    <a:p>
      <a:pPr>
        <a:defRPr sz="1700" b="0">
          <a:solidFill>
            <a:srgbClr val="173F3B"/>
          </a:solidFill>
          <a:latin typeface="Arial"/>
        </a:defRPr>
      </a:pPr>
      <a:endParaRPr lang="es-PY"/>
    </a:p>
  </c:txPr>
  <c:externalData r:id="rId1">
    <c:autoUpdate val="0"/>
  </c:externalData>
</c:chartSpace>
</file>

<file path=ppt/charts/chart8.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287F79"/>
            </a:solidFill>
            <a:ln>
              <a:noFill/>
            </a:ln>
          </c:spPr>
          <c:dPt>
            <c:idx val="0"/>
            <c:spPr>
              <a:solidFill>
                <a:srgbClr val="BA6A3A"/>
              </a:solidFill>
              <a:ln>
                <a:noFill/>
              </a:ln>
            </c:spPr>
          </c:dPt>
          <c:dPt>
            <c:idx val="1"/>
            <c:spPr>
              <a:solidFill>
                <a:srgbClr val="287F79"/>
              </a:solidFill>
              <a:ln>
                <a:noFill/>
              </a:ln>
            </c:spPr>
          </c:dPt>
          <c:cat>
            <c:strRef>
              <c:f>Datos!$A$2:$A$3</c:f>
              <c:strCache>
                <c:ptCount val="2"/>
                <c:pt idx="0">
                  <c:v>Motocicleta
151 / 534</c:v>
                </c:pt>
                <c:pt idx="1">
                  <c:v>Demás usuarios
114 / 785</c:v>
                </c:pt>
              </c:strCache>
            </c:strRef>
          </c:cat>
          <c:val>
            <c:numRef>
              <c:f>Datos!$B$2:$B$3</c:f>
              <c:numCache>
                <c:formatCode>0.0%</c:formatCode>
                <c:ptCount val="2"/>
                <c:pt idx="0">
                  <c:v>0.28277153558052437</c:v>
                </c:pt>
                <c:pt idx="1">
                  <c:v>0.14522292993630573</c:v>
                </c:pt>
              </c:numCache>
            </c:numRef>
          </c:val>
        </c:ser>
        <c:dLbls>
          <c:numFmt formatCode="0.0%" sourceLinked="0"/>
          <c:txPr>
            <a:bodyPr/>
            <a:lstStyle/>
            <a:p>
              <a:pPr>
                <a:defRPr sz="1900" b="1">
                  <a:solidFill>
                    <a:srgbClr val="173F3B"/>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CE4DF"/>
            </a:solidFill>
          </a:ln>
        </c:spPr>
        <c:txPr>
          <a:bodyPr/>
          <a:lstStyle/>
          <a:p>
            <a:pPr>
              <a:defRPr sz="1800" b="0">
                <a:solidFill>
                  <a:srgbClr val="173F3B"/>
                </a:solidFill>
                <a:latin typeface="Arial"/>
              </a:defRPr>
            </a:pPr>
            <a:endParaRPr lang="es-PY"/>
          </a:p>
        </c:txPr>
        <c:crossAx val="200"/>
        <c:crosses val="autoZero"/>
        <c:auto val="1"/>
        <c:lblAlgn val="ctr"/>
        <c:lblOffset val="100"/>
      </c:catAx>
      <c:valAx>
        <c:axId val="200"/>
        <c:scaling>
          <c:orientation val="minMax"/>
          <c:max val="0.4"/>
          <c:min val="0"/>
        </c:scaling>
        <c:delete val="0"/>
        <c:axPos val="b"/>
        <c:majorGridlines>
          <c:spPr>
            <a:ln w="10000">
              <a:solidFill>
                <a:srgbClr val="DFE6E1"/>
              </a:solidFill>
            </a:ln>
          </c:spPr>
        </c:majorGridlines>
        <c:numFmt formatCode="0.0%" sourceLinked="0"/>
        <c:majorTickMark val="none"/>
        <c:minorTickMark val="none"/>
        <c:tickLblPos val="nextTo"/>
        <c:spPr>
          <a:ln w="10000">
            <a:solidFill>
              <a:srgbClr val="DCE4DF"/>
            </a:solidFill>
          </a:ln>
        </c:spPr>
        <c:txPr>
          <a:bodyPr/>
          <a:lstStyle/>
          <a:p>
            <a:pPr>
              <a:defRPr sz="1800" b="0">
                <a:solidFill>
                  <a:srgbClr val="173F3B"/>
                </a:solidFill>
                <a:latin typeface="Arial"/>
              </a:defRPr>
            </a:pPr>
            <a:endParaRPr lang="es-PY"/>
          </a:p>
        </c:txPr>
        <c:crossAx val="100"/>
        <c:crosses val="max"/>
        <c:crossBetween val="between"/>
        <c:majorUnit val="0.1"/>
      </c:valAx>
    </c:plotArea>
    <c:plotVisOnly val="1"/>
    <c:dispBlanksAs val="gap"/>
    <c:showDLblsOverMax val="0"/>
  </c:chart>
  <c:spPr>
    <a:noFill/>
    <a:ln>
      <a:noFill/>
    </a:ln>
  </c:spPr>
  <c:txPr>
    <a:bodyPr/>
    <a:lstStyle/>
    <a:p>
      <a:pPr>
        <a:defRPr sz="1700" b="0">
          <a:solidFill>
            <a:srgbClr val="173F3B"/>
          </a:solidFill>
          <a:latin typeface="Arial"/>
        </a:defRPr>
      </a:pPr>
      <a:endParaRPr lang="es-PY"/>
    </a:p>
  </c:txPr>
  <c:externalData r:id="rId1">
    <c:autoUpdate val="0"/>
  </c:externalData>
</c:chartSpace>
</file>

<file path=ppt/charts/chart9.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287F79"/>
            </a:solidFill>
            <a:ln>
              <a:noFill/>
            </a:ln>
          </c:spPr>
          <c:dPt>
            <c:idx val="0"/>
            <c:spPr>
              <a:solidFill>
                <a:srgbClr val="287F79"/>
              </a:solidFill>
              <a:ln>
                <a:noFill/>
              </a:ln>
            </c:spPr>
          </c:dPt>
          <c:dPt>
            <c:idx val="1"/>
            <c:spPr>
              <a:solidFill>
                <a:srgbClr val="BA6A3A"/>
              </a:solidFill>
              <a:ln>
                <a:noFill/>
              </a:ln>
            </c:spPr>
          </c:dPt>
          <c:cat>
            <c:strRef>
              <c:f>Datos!$A$2:$A$3</c:f>
              <c:strCache>
                <c:ptCount val="2"/>
                <c:pt idx="0">
                  <c:v>Menores de 60
813 / 4.832</c:v>
                </c:pt>
                <c:pt idx="1">
                  <c:v>60 años o más
106 / 308</c:v>
                </c:pt>
              </c:strCache>
            </c:strRef>
          </c:cat>
          <c:val>
            <c:numRef>
              <c:f>Datos!$B$2:$B$3</c:f>
              <c:numCache>
                <c:formatCode>0.0%</c:formatCode>
                <c:ptCount val="2"/>
                <c:pt idx="0">
                  <c:v>0.16825331125827814</c:v>
                </c:pt>
                <c:pt idx="1">
                  <c:v>0.34415584415584416</c:v>
                </c:pt>
              </c:numCache>
            </c:numRef>
          </c:val>
        </c:ser>
        <c:dLbls>
          <c:numFmt formatCode="0.0%" sourceLinked="0"/>
          <c:txPr>
            <a:bodyPr/>
            <a:lstStyle/>
            <a:p>
              <a:pPr>
                <a:defRPr sz="1900" b="1">
                  <a:solidFill>
                    <a:srgbClr val="173F3B"/>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CE4DF"/>
            </a:solidFill>
          </a:ln>
        </c:spPr>
        <c:txPr>
          <a:bodyPr/>
          <a:lstStyle/>
          <a:p>
            <a:pPr>
              <a:defRPr sz="1800" b="0">
                <a:solidFill>
                  <a:srgbClr val="173F3B"/>
                </a:solidFill>
                <a:latin typeface="Arial"/>
              </a:defRPr>
            </a:pPr>
            <a:endParaRPr lang="es-PY"/>
          </a:p>
        </c:txPr>
        <c:crossAx val="200"/>
        <c:crosses val="autoZero"/>
        <c:auto val="1"/>
        <c:lblAlgn val="ctr"/>
        <c:lblOffset val="100"/>
      </c:catAx>
      <c:valAx>
        <c:axId val="200"/>
        <c:scaling>
          <c:orientation val="minMax"/>
          <c:max val="0.45"/>
          <c:min val="0"/>
        </c:scaling>
        <c:delete val="0"/>
        <c:axPos val="b"/>
        <c:majorGridlines>
          <c:spPr>
            <a:ln w="10000">
              <a:solidFill>
                <a:srgbClr val="DFE6E1"/>
              </a:solidFill>
            </a:ln>
          </c:spPr>
        </c:majorGridlines>
        <c:numFmt formatCode="0.0%" sourceLinked="0"/>
        <c:majorTickMark val="none"/>
        <c:minorTickMark val="none"/>
        <c:tickLblPos val="nextTo"/>
        <c:spPr>
          <a:ln w="10000">
            <a:solidFill>
              <a:srgbClr val="DCE4DF"/>
            </a:solidFill>
          </a:ln>
        </c:spPr>
        <c:txPr>
          <a:bodyPr/>
          <a:lstStyle/>
          <a:p>
            <a:pPr>
              <a:defRPr sz="1800" b="0">
                <a:solidFill>
                  <a:srgbClr val="173F3B"/>
                </a:solidFill>
                <a:latin typeface="Arial"/>
              </a:defRPr>
            </a:pPr>
            <a:endParaRPr lang="es-PY"/>
          </a:p>
        </c:txPr>
        <c:crossAx val="100"/>
        <c:crosses val="max"/>
        <c:crossBetween val="between"/>
        <c:majorUnit val="0.1"/>
      </c:valAx>
    </c:plotArea>
    <c:plotVisOnly val="1"/>
    <c:dispBlanksAs val="gap"/>
    <c:showDLblsOverMax val="0"/>
  </c:chart>
  <c:spPr>
    <a:noFill/>
    <a:ln>
      <a:noFill/>
    </a:ln>
  </c:spPr>
  <c:txPr>
    <a:bodyPr/>
    <a:lstStyle/>
    <a:p>
      <a:pPr>
        <a:defRPr sz="1700" b="0">
          <a:solidFill>
            <a:srgbClr val="173F3B"/>
          </a:solidFill>
          <a:latin typeface="Arial"/>
        </a:defRPr>
      </a:pPr>
      <a:endParaRPr lang="es-PY"/>
    </a:p>
  </c:txPr>
  <c:externalData r:id="rId1">
    <c:autoUpdate val="0"/>
  </c:externalData>
</c:chartSpace>
</file>

<file path=ppt/charts/chart10.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stacked"/>
        <c:varyColors val="0"/>
        <c:ser>
          <c:idx val="0"/>
          <c:order val="0"/>
          <c:tx>
            <c:strRef>
              <c:f>Datos!$B$1</c:f>
              <c:strCache>
                <c:ptCount val="1"/>
                <c:pt idx="0">
                  <c:v>Entrenamiento</c:v>
                </c:pt>
              </c:strCache>
            </c:strRef>
          </c:tx>
          <c:spPr>
            <a:solidFill>
              <a:srgbClr val="287F79"/>
            </a:solidFill>
            <a:ln>
              <a:noFill/>
            </a:ln>
          </c:spPr>
          <c:cat>
            <c:strRef>
              <c:f>Datos!$A$2:$A$2</c:f>
              <c:strCache>
                <c:ptCount val="1"/>
                <c:pt idx="0">
                  <c:v>5.493 filas</c:v>
                </c:pt>
              </c:strCache>
            </c:strRef>
          </c:cat>
          <c:val>
            <c:numRef>
              <c:f>Datos!$B$2:$B$2</c:f>
              <c:numCache>
                <c:formatCode>#,##0</c:formatCode>
                <c:ptCount val="1"/>
                <c:pt idx="0">
                  <c:v>4394.0</c:v>
                </c:pt>
              </c:numCache>
            </c:numRef>
          </c:val>
        </c:ser>
        <c:ser>
          <c:idx val="1"/>
          <c:order val="1"/>
          <c:tx>
            <c:strRef>
              <c:f>Datos!$C$1</c:f>
              <c:strCache>
                <c:ptCount val="1"/>
                <c:pt idx="0">
                  <c:v>Prueba</c:v>
                </c:pt>
              </c:strCache>
            </c:strRef>
          </c:tx>
          <c:spPr>
            <a:solidFill>
              <a:srgbClr val="BA6A3A"/>
            </a:solidFill>
            <a:ln>
              <a:noFill/>
            </a:ln>
          </c:spPr>
          <c:cat>
            <c:strRef>
              <c:f>Datos!$A$2:$A$2</c:f>
              <c:strCache>
                <c:ptCount val="1"/>
                <c:pt idx="0">
                  <c:v>5.493 filas</c:v>
                </c:pt>
              </c:strCache>
            </c:strRef>
          </c:cat>
          <c:val>
            <c:numRef>
              <c:f>Datos!$C$2:$C$2</c:f>
              <c:numCache>
                <c:formatCode>#,##0</c:formatCode>
                <c:ptCount val="1"/>
                <c:pt idx="0">
                  <c:v>1099</c:v>
                </c:pt>
              </c:numCache>
            </c:numRef>
          </c:val>
        </c:ser>
        <c:dLbls>
          <c:numFmt formatCode="#,##0" sourceLinked="0"/>
          <c:txPr>
            <a:bodyPr/>
            <a:lstStyle/>
            <a:p>
              <a:pPr>
                <a:defRPr sz="1900" b="1">
                  <a:solidFill>
                    <a:srgbClr val="FFFFFF"/>
                  </a:solidFill>
                  <a:latin typeface="Arial"/>
                </a:defRPr>
              </a:pPr>
              <a:endParaRPr lang="es-PY"/>
            </a:p>
          </c:txPr>
          <c:dLblPos val="ctr"/>
          <c:showLegendKey val="0"/>
          <c:showVal val="1"/>
          <c:showCatName val="0"/>
          <c:showSerName val="0"/>
          <c:showPercent val="0"/>
          <c:showBubbleSize val="0"/>
        </c:dLbls>
        <c:gapWidth val="85"/>
        <c:overlap val="100"/>
        <c:axId val="100"/>
        <c:axId val="200"/>
      </c:barChart>
      <c:catAx>
        <c:axId val="100"/>
        <c:scaling>
          <c:orientation val="maxMin"/>
        </c:scaling>
        <c:delete val="1"/>
        <c:axPos val="l"/>
        <c:majorTickMark val="none"/>
        <c:minorTickMark val="none"/>
        <c:tickLblPos val="nextTo"/>
        <c:spPr>
          <a:ln w="10000">
            <a:solidFill>
              <a:srgbClr val="DCE4DF"/>
            </a:solidFill>
          </a:ln>
        </c:spPr>
        <c:txPr>
          <a:bodyPr/>
          <a:lstStyle/>
          <a:p>
            <a:pPr>
              <a:defRPr sz="1700" b="0">
                <a:solidFill>
                  <a:srgbClr val="173F3B"/>
                </a:solidFill>
                <a:latin typeface="Arial"/>
              </a:defRPr>
            </a:pPr>
            <a:endParaRPr lang="es-PY"/>
          </a:p>
        </c:txPr>
        <c:crossAx val="200"/>
        <c:crosses val="autoZero"/>
        <c:auto val="1"/>
        <c:lblAlgn val="ctr"/>
        <c:lblOffset val="100"/>
      </c:catAx>
      <c:valAx>
        <c:axId val="200"/>
        <c:scaling>
          <c:orientation val="minMax"/>
          <c:max val="5493"/>
          <c:min val="0"/>
        </c:scaling>
        <c:delete val="1"/>
        <c:axPos val="b"/>
        <c:numFmt formatCode="#,##0" sourceLinked="0"/>
        <c:majorTickMark val="none"/>
        <c:minorTickMark val="none"/>
        <c:tickLblPos val="nextTo"/>
        <c:spPr>
          <a:ln w="10000">
            <a:solidFill>
              <a:srgbClr val="DCE4DF"/>
            </a:solidFill>
          </a:ln>
        </c:spPr>
        <c:txPr>
          <a:bodyPr/>
          <a:lstStyle/>
          <a:p>
            <a:pPr>
              <a:defRPr sz="1700" b="0">
                <a:solidFill>
                  <a:srgbClr val="173F3B"/>
                </a:solidFill>
                <a:latin typeface="Arial"/>
              </a:defRPr>
            </a:pPr>
            <a:endParaRPr lang="es-PY"/>
          </a:p>
        </c:txPr>
        <c:crossAx val="100"/>
        <c:crosses val="max"/>
        <c:crossBetween val="between"/>
        <c:majorUnit val="0.1"/>
      </c:valAx>
    </c:plotArea>
    <c:legend>
      <c:legendPos val="b"/>
      <c:overlay val="0"/>
      <c:txPr>
        <a:bodyPr/>
        <a:lstStyle/>
        <a:p>
          <a:pPr>
            <a:defRPr sz="1600" b="0">
              <a:solidFill>
                <a:srgbClr val="173F3B"/>
              </a:solidFill>
              <a:latin typeface="Arial"/>
            </a:defRPr>
          </a:pPr>
          <a:endParaRPr lang="es-PY"/>
        </a:p>
      </c:txPr>
    </c:legend>
    <c:plotVisOnly val="1"/>
    <c:dispBlanksAs val="gap"/>
    <c:showDLblsOverMax val="0"/>
  </c:chart>
  <c:spPr>
    <a:noFill/>
    <a:ln>
      <a:noFill/>
    </a:ln>
  </c:spPr>
  <c:txPr>
    <a:bodyPr/>
    <a:lstStyle/>
    <a:p>
      <a:pPr>
        <a:defRPr sz="1700" b="0">
          <a:solidFill>
            <a:srgbClr val="173F3B"/>
          </a:solidFill>
          <a:latin typeface="Arial"/>
        </a:defRPr>
      </a:pPr>
      <a:endParaRPr lang="es-PY"/>
    </a:p>
  </c:txPr>
  <c:externalData r:id="rId1">
    <c:autoUpdate val="0"/>
  </c:externalData>
</c:chartSpace>
</file>

<file path=ppt/charts/chart11.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F1 macro CV</c:v>
                </c:pt>
              </c:strCache>
            </c:strRef>
          </c:tx>
          <c:spPr>
            <a:solidFill>
              <a:srgbClr val="287F79"/>
            </a:solidFill>
            <a:ln>
              <a:noFill/>
            </a:ln>
          </c:spPr>
          <c:dPt>
            <c:idx val="0"/>
            <c:spPr>
              <a:solidFill>
                <a:srgbClr val="8D9F9C"/>
              </a:solidFill>
              <a:ln>
                <a:noFill/>
              </a:ln>
            </c:spPr>
          </c:dPt>
          <c:dPt>
            <c:idx val="1"/>
            <c:spPr>
              <a:solidFill>
                <a:srgbClr val="8CB7AA"/>
              </a:solidFill>
              <a:ln>
                <a:noFill/>
              </a:ln>
            </c:spPr>
          </c:dPt>
          <c:dPt>
            <c:idx val="2"/>
            <c:spPr>
              <a:solidFill>
                <a:srgbClr val="BA6A3A"/>
              </a:solidFill>
              <a:ln>
                <a:noFill/>
              </a:ln>
            </c:spPr>
          </c:dPt>
          <c:dPt>
            <c:idx val="3"/>
            <c:spPr>
              <a:solidFill>
                <a:srgbClr val="8CB7AA"/>
              </a:solidFill>
              <a:ln>
                <a:noFill/>
              </a:ln>
            </c:spPr>
          </c:dPt>
          <c:dPt>
            <c:idx val="4"/>
            <c:spPr>
              <a:solidFill>
                <a:srgbClr val="8CB7AA"/>
              </a:solidFill>
              <a:ln>
                <a:noFill/>
              </a:ln>
            </c:spPr>
          </c:dPt>
          <c:cat>
            <c:strRef>
              <c:f>Datos!$A$2:$A$6</c:f>
              <c:strCache>
                <c:ptCount val="5"/>
                <c:pt idx="0">
                  <c:v>Dummy</c:v>
                </c:pt>
                <c:pt idx="1">
                  <c:v>Logística</c:v>
                </c:pt>
                <c:pt idx="2">
                  <c:v>Árbol</c:v>
                </c:pt>
                <c:pt idx="3">
                  <c:v>Random Forest</c:v>
                </c:pt>
                <c:pt idx="4">
                  <c:v>Bayes</c:v>
                </c:pt>
              </c:strCache>
            </c:strRef>
          </c:cat>
          <c:val>
            <c:numRef>
              <c:f>Datos!$B$2:$B$6</c:f>
              <c:numCache>
                <c:formatCode>0.0000</c:formatCode>
                <c:ptCount val="5"/>
                <c:pt idx="0">
                  <c:v>0.4510245159275453</c:v>
                </c:pt>
                <c:pt idx="1">
                  <c:v>0.5277786834703426</c:v>
                </c:pt>
                <c:pt idx="2">
                  <c:v>0.5415647678697221</c:v>
                </c:pt>
                <c:pt idx="3">
                  <c:v>0.5233744287692632</c:v>
                </c:pt>
                <c:pt idx="4">
                  <c:v>0.5347235300382636</c:v>
                </c:pt>
              </c:numCache>
            </c:numRef>
          </c:val>
        </c:ser>
        <c:dLbls>
          <c:numFmt formatCode="0.0000" sourceLinked="0"/>
          <c:txPr>
            <a:bodyPr/>
            <a:lstStyle/>
            <a:p>
              <a:pPr>
                <a:defRPr sz="1700" b="1">
                  <a:solidFill>
                    <a:srgbClr val="173F3B"/>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CE4DF"/>
            </a:solidFill>
          </a:ln>
        </c:spPr>
        <c:txPr>
          <a:bodyPr/>
          <a:lstStyle/>
          <a:p>
            <a:pPr>
              <a:defRPr sz="1800" b="0">
                <a:solidFill>
                  <a:srgbClr val="173F3B"/>
                </a:solidFill>
                <a:latin typeface="Arial"/>
              </a:defRPr>
            </a:pPr>
            <a:endParaRPr lang="es-PY"/>
          </a:p>
        </c:txPr>
        <c:crossAx val="200"/>
        <c:crosses val="autoZero"/>
        <c:auto val="1"/>
        <c:lblAlgn val="ctr"/>
        <c:lblOffset val="100"/>
      </c:catAx>
      <c:valAx>
        <c:axId val="200"/>
        <c:scaling>
          <c:orientation val="minMax"/>
          <c:max val="0.65"/>
          <c:min val="0"/>
        </c:scaling>
        <c:delete val="0"/>
        <c:axPos val="b"/>
        <c:majorGridlines>
          <c:spPr>
            <a:ln w="10000">
              <a:solidFill>
                <a:srgbClr val="DFE6E1"/>
              </a:solidFill>
            </a:ln>
          </c:spPr>
        </c:majorGridlines>
        <c:numFmt formatCode="0.0" sourceLinked="0"/>
        <c:majorTickMark val="none"/>
        <c:minorTickMark val="none"/>
        <c:tickLblPos val="nextTo"/>
        <c:spPr>
          <a:ln w="10000">
            <a:solidFill>
              <a:srgbClr val="DCE4DF"/>
            </a:solidFill>
          </a:ln>
        </c:spPr>
        <c:txPr>
          <a:bodyPr/>
          <a:lstStyle/>
          <a:p>
            <a:pPr>
              <a:defRPr sz="1800" b="0">
                <a:solidFill>
                  <a:srgbClr val="173F3B"/>
                </a:solidFill>
                <a:latin typeface="Arial"/>
              </a:defRPr>
            </a:pPr>
            <a:endParaRPr lang="es-PY"/>
          </a:p>
        </c:txPr>
        <c:crossAx val="100"/>
        <c:crosses val="max"/>
        <c:crossBetween val="between"/>
        <c:majorUnit val="0.2"/>
      </c:valAx>
    </c:plotArea>
    <c:plotVisOnly val="1"/>
    <c:dispBlanksAs val="gap"/>
    <c:showDLblsOverMax val="0"/>
  </c:chart>
  <c:spPr>
    <a:noFill/>
    <a:ln>
      <a:noFill/>
    </a:ln>
  </c:spPr>
  <c:txPr>
    <a:bodyPr/>
    <a:lstStyle/>
    <a:p>
      <a:pPr>
        <a:defRPr sz="1700" b="0">
          <a:solidFill>
            <a:srgbClr val="173F3B"/>
          </a:solidFill>
          <a:latin typeface="Arial"/>
        </a:defRPr>
      </a:pPr>
      <a:endParaRPr lang="es-PY"/>
    </a:p>
  </c:txPr>
  <c:externalData r:id="rId1">
    <c:autoUpdate val="0"/>
  </c:externalData>
</c:chartSpace>
</file>

<file path=ppt/charts/chart12.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F1 macro</c:v>
                </c:pt>
              </c:strCache>
            </c:strRef>
          </c:tx>
          <c:spPr>
            <a:solidFill>
              <a:srgbClr val="287F79"/>
            </a:solidFill>
            <a:ln>
              <a:noFill/>
            </a:ln>
          </c:spPr>
          <c:dPt>
            <c:idx val="0"/>
            <c:spPr>
              <a:solidFill>
                <a:srgbClr val="8CB7AA"/>
              </a:solidFill>
              <a:ln>
                <a:noFill/>
              </a:ln>
            </c:spPr>
          </c:dPt>
          <c:dPt>
            <c:idx val="1"/>
            <c:spPr>
              <a:solidFill>
                <a:srgbClr val="8CB7AA"/>
              </a:solidFill>
              <a:ln>
                <a:noFill/>
              </a:ln>
            </c:spPr>
          </c:dPt>
          <c:dPt>
            <c:idx val="2"/>
            <c:spPr>
              <a:solidFill>
                <a:srgbClr val="287F79"/>
              </a:solidFill>
              <a:ln>
                <a:noFill/>
              </a:ln>
            </c:spPr>
          </c:dPt>
          <c:dPt>
            <c:idx val="3"/>
            <c:spPr>
              <a:solidFill>
                <a:srgbClr val="BA6A3A"/>
              </a:solidFill>
              <a:ln>
                <a:noFill/>
              </a:ln>
            </c:spPr>
          </c:dPt>
          <c:cat>
            <c:strRef>
              <c:f>Datos!$A$2:$A$5</c:f>
              <c:strCache>
                <c:ptCount val="4"/>
                <c:pt idx="0">
                  <c:v>Entrenamiento</c:v>
                </c:pt>
                <c:pt idx="1">
                  <c:v>CV</c:v>
                </c:pt>
                <c:pt idx="2">
                  <c:v>Prueba</c:v>
                </c:pt>
                <c:pt idx="3">
                  <c:v>Sin perfiles
compartidos</c:v>
                </c:pt>
              </c:strCache>
            </c:strRef>
          </c:cat>
          <c:val>
            <c:numRef>
              <c:f>Datos!$B$2:$B$5</c:f>
              <c:numCache>
                <c:formatCode>0.000</c:formatCode>
                <c:ptCount val="4"/>
                <c:pt idx="0">
                  <c:v>0.5490039307166918</c:v>
                </c:pt>
                <c:pt idx="1">
                  <c:v>0.5415647678697221</c:v>
                </c:pt>
                <c:pt idx="2">
                  <c:v>0.5298714210887336</c:v>
                </c:pt>
                <c:pt idx="3">
                  <c:v>0.4555926527627962</c:v>
                </c:pt>
              </c:numCache>
            </c:numRef>
          </c:val>
        </c:ser>
        <c:dLbls>
          <c:numFmt formatCode="0.000" sourceLinked="0"/>
          <c:txPr>
            <a:bodyPr/>
            <a:lstStyle/>
            <a:p>
              <a:pPr>
                <a:defRPr sz="1700" b="1">
                  <a:solidFill>
                    <a:srgbClr val="173F3B"/>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CE4DF"/>
            </a:solidFill>
          </a:ln>
        </c:spPr>
        <c:txPr>
          <a:bodyPr/>
          <a:lstStyle/>
          <a:p>
            <a:pPr>
              <a:defRPr sz="1600" b="0">
                <a:solidFill>
                  <a:srgbClr val="173F3B"/>
                </a:solidFill>
                <a:latin typeface="Arial"/>
              </a:defRPr>
            </a:pPr>
            <a:endParaRPr lang="es-PY"/>
          </a:p>
        </c:txPr>
        <c:crossAx val="200"/>
        <c:crosses val="autoZero"/>
        <c:auto val="1"/>
        <c:lblAlgn val="ctr"/>
        <c:lblOffset val="100"/>
      </c:catAx>
      <c:valAx>
        <c:axId val="200"/>
        <c:scaling>
          <c:orientation val="minMax"/>
          <c:max val="0.65"/>
          <c:min val="0"/>
        </c:scaling>
        <c:delete val="0"/>
        <c:axPos val="b"/>
        <c:majorGridlines>
          <c:spPr>
            <a:ln w="10000">
              <a:solidFill>
                <a:srgbClr val="DFE6E1"/>
              </a:solidFill>
            </a:ln>
          </c:spPr>
        </c:majorGridlines>
        <c:numFmt formatCode="0.0" sourceLinked="0"/>
        <c:majorTickMark val="none"/>
        <c:minorTickMark val="none"/>
        <c:tickLblPos val="nextTo"/>
        <c:spPr>
          <a:ln w="10000">
            <a:solidFill>
              <a:srgbClr val="DCE4DF"/>
            </a:solidFill>
          </a:ln>
        </c:spPr>
        <c:txPr>
          <a:bodyPr/>
          <a:lstStyle/>
          <a:p>
            <a:pPr>
              <a:defRPr sz="1600" b="0">
                <a:solidFill>
                  <a:srgbClr val="173F3B"/>
                </a:solidFill>
                <a:latin typeface="Arial"/>
              </a:defRPr>
            </a:pPr>
            <a:endParaRPr lang="es-PY"/>
          </a:p>
        </c:txPr>
        <c:crossAx val="100"/>
        <c:crosses val="max"/>
        <c:crossBetween val="between"/>
        <c:majorUnit val="0.2"/>
      </c:valAx>
    </c:plotArea>
    <c:plotVisOnly val="1"/>
    <c:dispBlanksAs val="gap"/>
    <c:showDLblsOverMax val="0"/>
  </c:chart>
  <c:spPr>
    <a:noFill/>
    <a:ln>
      <a:noFill/>
    </a:ln>
  </c:spPr>
  <c:txPr>
    <a:bodyPr/>
    <a:lstStyle/>
    <a:p>
      <a:pPr>
        <a:defRPr sz="1700" b="0">
          <a:solidFill>
            <a:srgbClr val="173F3B"/>
          </a:solidFill>
          <a:latin typeface="Arial"/>
        </a:defRPr>
      </a:pPr>
      <a:endParaRPr lang="es-PY"/>
    </a:p>
  </c:txPr>
  <c:externalData r:id="rId1">
    <c:autoUpdate val="0"/>
  </c:externalData>
</c:chartSpace>
</file>

<file path=ppt/charts/chart13.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Caída media de F1 macro</c:v>
                </c:pt>
              </c:strCache>
            </c:strRef>
          </c:tx>
          <c:spPr>
            <a:solidFill>
              <a:srgbClr val="287F79"/>
            </a:solidFill>
            <a:ln>
              <a:noFill/>
            </a:ln>
          </c:spPr>
          <c:dPt>
            <c:idx val="0"/>
            <c:spPr>
              <a:solidFill>
                <a:srgbClr val="BA6A3A"/>
              </a:solidFill>
              <a:ln>
                <a:noFill/>
              </a:ln>
            </c:spPr>
          </c:dPt>
          <c:dPt>
            <c:idx val="1"/>
            <c:spPr>
              <a:solidFill>
                <a:srgbClr val="287F79"/>
              </a:solidFill>
              <a:ln>
                <a:noFill/>
              </a:ln>
            </c:spPr>
          </c:dPt>
          <c:cat>
            <c:strRef>
              <c:f>Datos!$A$2:$A$3</c:f>
              <c:strCache>
                <c:ptCount val="2"/>
                <c:pt idx="0">
                  <c:v>Edad</c:v>
                </c:pt>
                <c:pt idx="1">
                  <c:v>Sexo</c:v>
                </c:pt>
              </c:strCache>
            </c:strRef>
          </c:cat>
          <c:val>
            <c:numRef>
              <c:f>Datos!$B$2:$B$3</c:f>
              <c:numCache>
                <c:formatCode>0.000</c:formatCode>
                <c:ptCount val="2"/>
                <c:pt idx="0">
                  <c:v>0.0361</c:v>
                </c:pt>
                <c:pt idx="1">
                  <c:v>0.0142</c:v>
                </c:pt>
              </c:numCache>
            </c:numRef>
          </c:val>
        </c:ser>
        <c:dLbls>
          <c:numFmt formatCode="0.000" sourceLinked="0"/>
          <c:txPr>
            <a:bodyPr/>
            <a:lstStyle/>
            <a:p>
              <a:pPr>
                <a:defRPr sz="1800" b="1">
                  <a:solidFill>
                    <a:srgbClr val="173F3B"/>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CE4DF"/>
            </a:solidFill>
          </a:ln>
        </c:spPr>
        <c:txPr>
          <a:bodyPr/>
          <a:lstStyle/>
          <a:p>
            <a:pPr>
              <a:defRPr sz="1800" b="0">
                <a:solidFill>
                  <a:srgbClr val="173F3B"/>
                </a:solidFill>
                <a:latin typeface="Arial"/>
              </a:defRPr>
            </a:pPr>
            <a:endParaRPr lang="es-PY"/>
          </a:p>
        </c:txPr>
        <c:crossAx val="200"/>
        <c:crosses val="autoZero"/>
        <c:auto val="1"/>
        <c:lblAlgn val="ctr"/>
        <c:lblOffset val="100"/>
      </c:catAx>
      <c:valAx>
        <c:axId val="200"/>
        <c:scaling>
          <c:orientation val="minMax"/>
          <c:max val="0.05"/>
          <c:min val="0"/>
        </c:scaling>
        <c:delete val="0"/>
        <c:axPos val="b"/>
        <c:majorGridlines>
          <c:spPr>
            <a:ln w="10000">
              <a:solidFill>
                <a:srgbClr val="DFE6E1"/>
              </a:solidFill>
            </a:ln>
          </c:spPr>
        </c:majorGridlines>
        <c:numFmt formatCode="0.00" sourceLinked="0"/>
        <c:majorTickMark val="none"/>
        <c:minorTickMark val="none"/>
        <c:tickLblPos val="nextTo"/>
        <c:spPr>
          <a:ln w="10000">
            <a:solidFill>
              <a:srgbClr val="DCE4DF"/>
            </a:solidFill>
          </a:ln>
        </c:spPr>
        <c:txPr>
          <a:bodyPr/>
          <a:lstStyle/>
          <a:p>
            <a:pPr>
              <a:defRPr sz="1800" b="0">
                <a:solidFill>
                  <a:srgbClr val="173F3B"/>
                </a:solidFill>
                <a:latin typeface="Arial"/>
              </a:defRPr>
            </a:pPr>
            <a:endParaRPr lang="es-PY"/>
          </a:p>
        </c:txPr>
        <c:crossAx val="100"/>
        <c:crosses val="max"/>
        <c:crossBetween val="between"/>
        <c:majorUnit val="0.02"/>
      </c:valAx>
    </c:plotArea>
    <c:plotVisOnly val="1"/>
    <c:dispBlanksAs val="gap"/>
    <c:showDLblsOverMax val="0"/>
  </c:chart>
  <c:spPr>
    <a:noFill/>
    <a:ln>
      <a:noFill/>
    </a:ln>
  </c:spPr>
  <c:txPr>
    <a:bodyPr/>
    <a:lstStyle/>
    <a:p>
      <a:pPr>
        <a:defRPr sz="1700" b="0">
          <a:solidFill>
            <a:srgbClr val="173F3B"/>
          </a:solidFill>
          <a:latin typeface="Arial"/>
        </a:defRPr>
      </a:pPr>
      <a:endParaRPr lang="es-PY"/>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Y"/>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0501E-A137-4E87-8DF2-8D7A7186656C}" type="datetimeFigureOut">
              <a:rPr lang="es-PY" smtClean="0"/>
              <a:t>28/10/2026</a:t>
            </a:fld>
            <a:endParaRPr lang="es-PY"/>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Y"/>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Y"/>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EA7D93-D789-40F5-B58C-516DC9601723}" type="slidenum">
              <a:rPr lang="es-PY" smtClean="0"/>
              <a:t>‹Nº›</a:t>
            </a:fld>
            <a:endParaRPr lang="es-PY"/>
          </a:p>
        </p:txBody>
      </p:sp>
    </p:spTree>
    <p:extLst>
      <p:ext uri="{BB962C8B-B14F-4D97-AF65-F5344CB8AC3E}">
        <p14:creationId xmlns:p14="http://schemas.microsoft.com/office/powerpoint/2010/main" val="2935986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20 segundos. EXPOSITOR SUGERIDO: Alan Alcaraz.</a:t>
            </a:r>
            <a:endParaRPr lang="es-PY"/>
          </a:p>
          <a:p>
            <a:r>
              <a:rPr lang="es-PY" sz="1200">
                <a:latin typeface="Arial"/>
              </a:rPr>
              <a:t/>
            </a:r>
            <a:endParaRPr lang="es-PY"/>
          </a:p>
          <a:p>
            <a:r>
              <a:rPr lang="es-PY" sz="1200">
                <a:latin typeface="Arial"/>
              </a:rPr>
              <a:t>GUION BREVE</a:t>
            </a:r>
            <a:endParaRPr lang="es-PY"/>
          </a:p>
          <a:p>
            <a:r>
              <a:rPr lang="es-PY" sz="1200">
                <a:latin typeface="Arial"/>
              </a:rPr>
              <a:t>Nuestro proyecto estudia la gravedad de las víctimas de tránsito en Paraguay durante 2021. Primero describimos los datos, después contrastamos asociaciones y finalmente comparamos modelos para clasificar el desenlace.</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Presentamos el proyecto sobre gravedad de víctimas de tránsito en Paraguay. Recorrimos tres fases: describir los datos, contrastar asociaciones y comparar modelos para clasificar el desenlace. La presentación explica también lo que los datos no permiten afirmar. Todos los integrantes deben conocer las tres fases. Reparto sugerido: Alan diapositivas 1 a 5, Leandro 6 a 10 y Jorge 11 a 15, cinco minutos cada uno.</a:t>
            </a:r>
            <a:endParaRPr lang="es-PY"/>
          </a:p>
          <a:p>
            <a:r>
              <a:rPr lang="es-PY" sz="1200">
                <a:latin typeface="Arial"/>
              </a:rPr>
              <a:t>Fuente: título, integrantes y alcance del informe del grupo.</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1</a:t>
            </a:fld>
            <a:endParaRPr lang="es-PY"/>
          </a:p>
        </p:txBody>
      </p:sp>
    </p:spTree>
    <p:extLst>
      <p:ext uri="{BB962C8B-B14F-4D97-AF65-F5344CB8AC3E}">
        <p14:creationId xmlns:p14="http://schemas.microsoft.com/office/powerpoint/2010/main" val="2264570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75 segundos. EXPOSITOR SUGERIDO: Alan Alcaraz.</a:t>
            </a:r>
            <a:endParaRPr lang="es-PY"/>
          </a:p>
          <a:p>
            <a:r>
              <a:rPr lang="es-PY" sz="1200">
                <a:latin typeface="Arial"/>
              </a:rPr>
              <a:t/>
            </a:r>
            <a:endParaRPr lang="es-PY"/>
          </a:p>
          <a:p>
            <a:r>
              <a:rPr lang="es-PY" sz="1200">
                <a:latin typeface="Arial"/>
              </a:rPr>
              <a:t>GUION BREVE</a:t>
            </a:r>
            <a:endParaRPr lang="es-PY"/>
          </a:p>
          <a:p>
            <a:r>
              <a:rPr lang="es-PY" sz="1200">
                <a:latin typeface="Arial"/>
              </a:rPr>
              <a:t>La fuente nacional registra 5.493 víctimas, de las cuales 980 fallecieron. Queremos analizar cómo se relacionan sexo, edad, territorio y motocicleta con la gravedad. La Fase 1 describe los patrones, la Fase 2 evalúa la evidencia estadística y la Fase 3 compara modelos. La pregunta se refiere a víctimas ya registradas. No calculamos el riesgo de que cualquier habitante sufra un accidente.</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La gravedad es importante porque la fuente nacional registra 980 fallecidos entre 5.493 víctimas. Son víctimas ya registradas, no todos los habitantes ni todos los usuarios de la vía. Nuestra pregunta analiza asociaciones con sexo, edad, territorio y motocicleta. No calculamos la probabilidad de que una persona de la población sufra un accidente. La Fase 1 describe, la Fase 2 contrasta asociaciones y la Fase 3 evalúa si sexo y edad permiten clasificar el desenlace. Los cuatro factores no están disponibles juntos en una misma tabla individual.</a:t>
            </a:r>
            <a:endParaRPr lang="es-PY"/>
          </a:p>
          <a:p>
            <a:r>
              <a:rPr lang="es-PY" sz="1200">
                <a:latin typeface="Arial"/>
              </a:rPr>
              <a:t>Fuente: INE, cuadro 12.2.1, año 2021. https://www.ine.gov.py/Publicaciones/Biblioteca/documento/240/Anuario%20Estadistico%202021.pdf</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2</a:t>
            </a:fld>
            <a:endParaRPr lang="es-PY"/>
          </a:p>
        </p:txBody>
      </p:sp>
    </p:spTree>
    <p:extLst>
      <p:ext uri="{BB962C8B-B14F-4D97-AF65-F5344CB8AC3E}">
        <p14:creationId xmlns:p14="http://schemas.microsoft.com/office/powerpoint/2010/main" val="1275036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60 segundos. EXPOSITOR SUGERIDO: Alan Alcaraz.</a:t>
            </a:r>
            <a:endParaRPr lang="es-PY"/>
          </a:p>
          <a:p>
            <a:r>
              <a:rPr lang="es-PY" sz="1200">
                <a:latin typeface="Arial"/>
              </a:rPr>
              <a:t/>
            </a:r>
            <a:endParaRPr lang="es-PY"/>
          </a:p>
          <a:p>
            <a:r>
              <a:rPr lang="es-PY" sz="1200">
                <a:latin typeface="Arial"/>
              </a:rPr>
              <a:t>GUION BREVE</a:t>
            </a:r>
            <a:endParaRPr lang="es-PY"/>
          </a:p>
          <a:p>
            <a:r>
              <a:rPr lang="es-PY" sz="1200">
                <a:latin typeface="Arial"/>
              </a:rPr>
              <a:t>Trabajamos con 11 tablas del INE y una revisión de DINATRAN. Las fuentes tienen coberturas diferentes. La nacional contiene sexo, edad y gravedad. La territorial registra 1.491 víctimas y la vehicular 1.324. Además, analizamos 1.942 siniestros, que son hechos y no personas. Por eso no sumamos esas cantidades ni unimos las tablas por fila. Esa separación evita inventar relaciones entre víctimas.</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Cada fila de los archivos originales es una frecuencia agrupada. La fuente nacional de Policía Nacional contiene sexo, edad y gravedad. La fuente territorial combina la cobertura indicada por INE para Asunción, Central e Interior. La vehicular corresponde a Caminera, con 1.324 víctimas, y DINATRAN precisa sus roles. Los 1.942 siniestros son hechos registrados, no 1.942 personas. En Fase 1 consultamos 11 cuadros únicos y organizamos resúmenes por mes y ruta. No debemos sumar universos ni unir por posición de fila: eso inventaría relaciones entre personas. El subconjunto de 539 está dentro de la cobertura vehicular, no se agrega como otro total independiente.</a:t>
            </a:r>
            <a:endParaRPr lang="es-PY"/>
          </a:p>
          <a:p>
            <a:r>
              <a:rPr lang="es-PY" sz="1200">
                <a:latin typeface="Arial"/>
              </a:rPr>
              <a:t>Fuentes: cuadros indicados del INE. https://www.ine.gov.py/Publicaciones/Biblioteca/documento/240/Anuario%20Estadistico%202021.pdf</a:t>
            </a:r>
            <a:endParaRPr lang="es-PY"/>
          </a:p>
          <a:p>
            <a:r>
              <a:rPr lang="es-PY" sz="1200">
                <a:latin typeface="Arial"/>
              </a:rPr>
              <a:t>DINATRAN: https://www.dinatran.gov.py/docum/ANUARIO%202021.pdf</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3</a:t>
            </a:fld>
            <a:endParaRPr lang="es-PY"/>
          </a:p>
        </p:txBody>
      </p:sp>
    </p:spTree>
    <p:extLst>
      <p:ext uri="{BB962C8B-B14F-4D97-AF65-F5344CB8AC3E}">
        <p14:creationId xmlns:p14="http://schemas.microsoft.com/office/powerpoint/2010/main" val="2037802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55 segundos. EXPOSITOR SUGERIDO: Alan Alcaraz.</a:t>
            </a:r>
            <a:endParaRPr lang="es-PY"/>
          </a:p>
          <a:p>
            <a:r>
              <a:rPr lang="es-PY" sz="1200">
                <a:latin typeface="Arial"/>
              </a:rPr>
              <a:t/>
            </a:r>
            <a:endParaRPr lang="es-PY"/>
          </a:p>
          <a:p>
            <a:r>
              <a:rPr lang="es-PY" sz="1200">
                <a:latin typeface="Arial"/>
              </a:rPr>
              <a:t>GUION BREVE</a:t>
            </a:r>
            <a:endParaRPr lang="es-PY"/>
          </a:p>
          <a:p>
            <a:r>
              <a:rPr lang="es-PY" sz="1200">
                <a:latin typeface="Arial"/>
              </a:rPr>
              <a:t>Normalizamos formatos y categorías y comprobamos las sumas. Después expandimos las frecuencias de sexo, edad y gravedad. Aunque obtuvimos 5.493 filas, siguen existiendo solamente 16 perfiles. La expansión no crea información individual. También corregimos la edad ignorada: los 353 casos permanecen en el modelo, pero se excluyen de los contrastes que necesitan ordenar las edades.</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En la preparación normalizamos números y categorías, revisamos duplicaciones y verificamos que los desgloses coincidan con los totales. Interpretamos los guiones según su significado en cada cuadro. La expansión repite un perfil tantas veces como indica su frecuencia: facilita usar scikit-learn, pero no añade historias personales nuevas. Las dos categorías de sexo y ocho categorías de edad dan 16 perfiles. Esta diapositiva integra la limpieza de Fase 1 con la corrección posterior de Fase 3: las edades ignoradas ya no se ordenan como menos uno ni se consideran menores de 60. Se mantienen como categoría nominal para clasificar y se excluyen de los contrastes etarios.</a:t>
            </a:r>
            <a:endParaRPr lang="es-PY"/>
          </a:p>
          <a:p>
            <a:r>
              <a:rPr lang="es-PY" sz="1200">
                <a:latin typeface="Arial"/>
              </a:rPr>
              <a:t>Fuentes: output/fase1/bitacora_limpieza_datos.csv; src/preparar_datos.py; notebooks/Fase3_Accidentes_AUDITADA.ipynb, ejecutado y revisado.</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4</a:t>
            </a:fld>
            <a:endParaRPr lang="es-PY"/>
          </a:p>
        </p:txBody>
      </p:sp>
    </p:spTree>
    <p:extLst>
      <p:ext uri="{BB962C8B-B14F-4D97-AF65-F5344CB8AC3E}">
        <p14:creationId xmlns:p14="http://schemas.microsoft.com/office/powerpoint/2010/main" val="2391571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90 segundos. EXPOSITOR SUGERIDO: Alan Alcaraz.</a:t>
            </a:r>
            <a:endParaRPr lang="es-PY"/>
          </a:p>
          <a:p>
            <a:r>
              <a:rPr lang="es-PY" sz="1200">
                <a:latin typeface="Arial"/>
              </a:rPr>
              <a:t/>
            </a:r>
            <a:endParaRPr lang="es-PY"/>
          </a:p>
          <a:p>
            <a:r>
              <a:rPr lang="es-PY" sz="1200">
                <a:latin typeface="Arial"/>
              </a:rPr>
              <a:t>GUION BREVE</a:t>
            </a:r>
            <a:endParaRPr lang="es-PY"/>
          </a:p>
          <a:p>
            <a:r>
              <a:rPr lang="es-PY" sz="1200">
                <a:latin typeface="Arial"/>
              </a:rPr>
              <a:t>La Fase 1 permitió ver cuándo y dónde se concentran los registros. Hubo 1.942 siniestros en esta cobertura de 2021. Marzo tuvo el menor conteo, 124, y octubre el mayor, 201. La PY02 concentró 711 registros, por encima de PY01 y PY06. Estas son cantidades observadas. No prueban que una ruta sea más peligrosa, porque falta información sobre cuánto tránsito circula por ella. Un solo año tampoco permite afirmar estacionalidad ni atribuir el aumento a una causa.</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En Fase 1 describimos la distribución temporal y por rutas. Hay 1.942 siniestros en la cobertura de Central e Interior. Los meses van de 124 en marzo a 201 en octubre. La serie sube en la segunda mitad del año, pero un año aislado no demuestra estacionalidad ni permite atribuirlo a una causa como la pandemia. La PY02 tiene 711 registros, por encima de PY01 y PY06. Eso muestra concentración de hechos, no necesariamente mayor peligrosidad: no contamos con kilómetros recorridos o volumen de tránsito comparable. Los horarios, días, causas reportadas y rutas también se exploraron en el notebook de Fase 1.</a:t>
            </a:r>
            <a:endParaRPr lang="es-PY"/>
          </a:p>
          <a:p>
            <a:r>
              <a:rPr lang="es-PY" sz="1200">
                <a:latin typeface="Arial"/>
              </a:rPr>
              <a:t>Fuentes: output/siniestros_mensual_2021.csv y output/top10_rutas_siniestros.csv, cotejados con cuadros oficiales 12.2.2/12.2.9. https://www.ine.gov.py/Publicaciones/Biblioteca/documento/240/Anuario%20Estadistico%202021.pdf</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5</a:t>
            </a:fld>
            <a:endParaRPr lang="es-PY"/>
          </a:p>
        </p:txBody>
      </p:sp>
    </p:spTree>
    <p:extLst>
      <p:ext uri="{BB962C8B-B14F-4D97-AF65-F5344CB8AC3E}">
        <p14:creationId xmlns:p14="http://schemas.microsoft.com/office/powerpoint/2010/main" val="167128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60 segundos. EXPOSITOR SUGERIDO: Leandro Ferreira.</a:t>
            </a:r>
            <a:endParaRPr lang="es-PY"/>
          </a:p>
          <a:p>
            <a:r>
              <a:rPr lang="es-PY" sz="1200">
                <a:latin typeface="Arial"/>
              </a:rPr>
              <a:t/>
            </a:r>
            <a:endParaRPr lang="es-PY"/>
          </a:p>
          <a:p>
            <a:r>
              <a:rPr lang="es-PY" sz="1200">
                <a:latin typeface="Arial"/>
              </a:rPr>
              <a:t>GUION BREVE</a:t>
            </a:r>
            <a:endParaRPr lang="es-PY"/>
          </a:p>
          <a:p>
            <a:r>
              <a:rPr lang="es-PY" sz="1200">
                <a:latin typeface="Arial"/>
              </a:rPr>
              <a:t>Comparamos la proporción de fallecidos dentro de cada grupo. En hombres fue 19,81 % y en mujeres 10,82 %. Entre quienes tienen edad conocida, los porcentajes aumentan desde 11,44 % en el grupo de 0 a 13 años hasta 34,42 % en el de 60 o más. Son patrones descriptivos. Tener más víctimas registradas no es lo mismo que tener una mayor proporción de fallecidos.</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El porcentaje se calcula dentro de cada grupo. De los hombres registrados falleció 19,81 %, y de las mujeres 10,82 %. Estas diferencias no equivalen a probabilidades poblacionales de morir o accidentarse. En el gráfico de edades conocidas, la fracción fallecida aumenta desde 11,44 % en 0 a 13 años hasta 34,42 % en 60 o más. El grupo de 18 a 29 años reúne más víctimas en términos absolutos, 2.143, pero eso es una pregunta diferente de la proporción de fallecidos. Los 353 ignorados no se ubican en un orden etario y por eso quedan fuera del gráfico ordenado. Fase 2 evaluará la incertidumbre de estas asociaciones.</a:t>
            </a:r>
            <a:endParaRPr lang="es-PY"/>
          </a:p>
          <a:p>
            <a:r>
              <a:rPr lang="es-PY" sz="1200">
                <a:latin typeface="Arial"/>
              </a:rPr>
              <a:t>Fuente: INE 12.2.1, frecuencias nacionales. https://www.ine.gov.py/Publicaciones/Biblioteca/documento/240/Anuario%20Estadistico%202021.pdf</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6</a:t>
            </a:fld>
            <a:endParaRPr lang="es-PY"/>
          </a:p>
        </p:txBody>
      </p:sp>
    </p:spTree>
    <p:extLst>
      <p:ext uri="{BB962C8B-B14F-4D97-AF65-F5344CB8AC3E}">
        <p14:creationId xmlns:p14="http://schemas.microsoft.com/office/powerpoint/2010/main" val="928807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55 segundos. EXPOSITOR SUGERIDO: Leandro Ferreira.</a:t>
            </a:r>
            <a:endParaRPr lang="es-PY"/>
          </a:p>
          <a:p>
            <a:r>
              <a:rPr lang="es-PY" sz="1200">
                <a:latin typeface="Arial"/>
              </a:rPr>
              <a:t/>
            </a:r>
            <a:endParaRPr lang="es-PY"/>
          </a:p>
          <a:p>
            <a:r>
              <a:rPr lang="es-PY" sz="1200">
                <a:latin typeface="Arial"/>
              </a:rPr>
              <a:t>GUION BREVE</a:t>
            </a:r>
            <a:endParaRPr lang="es-PY"/>
          </a:p>
          <a:p>
            <a:r>
              <a:rPr lang="es-PY" sz="1200">
                <a:latin typeface="Arial"/>
              </a:rPr>
              <a:t>El Interior registra 22,05 % de fallecidos, frente a 17,23 % en Central y 15,57 % en Asunción. Para H1 agrupamos Asunción y Central como Metropolitana, con 16,80 %. La diferencia frente al Interior es de 5,26 puntos porcentuales. Después evaluamos un modelo territorial con meses posteriores. Empeoró a su base en dos de tres cortes, así que la diferencia observada no garantizó una mejora predictiva.</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La cobertura territorial es de 1.491 víctimas, y no debe confundirse con las 5.493 de la fuente nacional. Interior registra 22,05 % de fallecidos, Central 17,23 % y Asunción 15,57 %. Para H1, Metropolitana agrupa Asunción y Central: 108 fallecidos de 643 víctimas, o 16,80 %. La diferencia Interior menos Metropolitana es de 5,26 puntos porcentuales. Una diferencia descriptiva no explica causas como velocidad o acceso a atención. La significación depende del contraste y del ajuste por comparaciones, que veremos en Fase 2.</a:t>
            </a:r>
            <a:endParaRPr lang="es-PY"/>
          </a:p>
          <a:p>
            <a:r>
              <a:rPr lang="es-PY" sz="1200">
                <a:latin typeface="Arial"/>
              </a:rPr>
              <a:t>Fuente: INE, cuadro 12.2.6, pp.307. https://www.ine.gov.py/Publicaciones/Biblioteca/documento/240/Anuario%20Estadistico%202021.pdf</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7</a:t>
            </a:fld>
            <a:endParaRPr lang="es-PY"/>
          </a:p>
        </p:txBody>
      </p:sp>
    </p:spTree>
    <p:extLst>
      <p:ext uri="{BB962C8B-B14F-4D97-AF65-F5344CB8AC3E}">
        <p14:creationId xmlns:p14="http://schemas.microsoft.com/office/powerpoint/2010/main" val="4115421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65 segundos. EXPOSITOR SUGERIDO: Leandro Ferreira.</a:t>
            </a:r>
            <a:endParaRPr lang="es-PY"/>
          </a:p>
          <a:p>
            <a:r>
              <a:rPr lang="es-PY" sz="1200">
                <a:latin typeface="Arial"/>
              </a:rPr>
              <a:t/>
            </a:r>
            <a:endParaRPr lang="es-PY"/>
          </a:p>
          <a:p>
            <a:r>
              <a:rPr lang="es-PY" sz="1200">
                <a:latin typeface="Arial"/>
              </a:rPr>
              <a:t>GUION BREVE</a:t>
            </a:r>
            <a:endParaRPr lang="es-PY"/>
          </a:p>
          <a:p>
            <a:r>
              <a:rPr lang="es-PY" sz="1200">
                <a:latin typeface="Arial"/>
              </a:rPr>
              <a:t>DINATRAN nos permitió precisar H3. Los 539 del grupo original incluyen 534 conductores o acompañantes de motocicleta y cinco pasajeros de motocarro. Comparamos solo motocicleta con los mismos 785 demás usuarios, excluyendo esos cinco. Falleció el 28,28 % frente al 14,52 %. El RR es aproximadamente 1,95, con intervalo entre 1,57 y 2,42. Esto fortalece la asociación original. El resto incluye peatones y ciclistas. No demuestra causalidad ni permite unir vehículo con sexo y edad del modelo nacional.</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Esta revisión precisa una comparación nacida en Fase 1 y contrastada en Fase 2. DINATRAN identifica 461 conductores y 73 acompañantes de motocicleta, que suman 534, más cinco pasajeros de motocarro. Los 539 del grupo original conservan RR 1,9802 y OR 2,3758 frente a 785 demás usuarios. Para hablar de motocicleta de forma más precisa excluimos los cinco de motocarro, sin transferirlos al resto: 151 de 534 fallecidos frente a 114 de 785. El RR es 1,9472, IC 1,5675 a 2,4188, y OR 2,3206. El resto incluye peatones y ciclistas. Las fuentes coinciden por mes y tienen el mismo registro de Caminera, no son dos muestras independientes. La región se apoya en el cuadro INE que identifica Central e Interior.</a:t>
            </a:r>
            <a:endParaRPr lang="es-PY"/>
          </a:p>
          <a:p>
            <a:r>
              <a:rPr lang="es-PY" sz="1200">
                <a:latin typeface="Arial"/>
              </a:rPr>
              <a:t>Fuentes: INE 12.2.5/12.2.10, pp.307/311: https://www.ine.gov.py/Publicaciones/Biblioteca/documento/240/Anuario%20Estadistico%202021.pdf</a:t>
            </a:r>
            <a:endParaRPr lang="es-PY"/>
          </a:p>
          <a:p>
            <a:r>
              <a:rPr lang="es-PY" sz="1200">
                <a:latin typeface="Arial"/>
              </a:rPr>
              <a:t>DINATRAN pp.130/132/133/135/136: https://www.dinatran.gov.py/docum/ANUARIO%202021.pdf</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8</a:t>
            </a:fld>
            <a:endParaRPr lang="es-PY"/>
          </a:p>
        </p:txBody>
      </p:sp>
    </p:spTree>
    <p:extLst>
      <p:ext uri="{BB962C8B-B14F-4D97-AF65-F5344CB8AC3E}">
        <p14:creationId xmlns:p14="http://schemas.microsoft.com/office/powerpoint/2010/main" val="2667469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65 segundos. EXPOSITOR SUGERIDO: Leandro Ferreira.</a:t>
            </a:r>
            <a:endParaRPr lang="es-PY"/>
          </a:p>
          <a:p>
            <a:r>
              <a:rPr lang="es-PY" sz="1200">
                <a:latin typeface="Arial"/>
              </a:rPr>
              <a:t/>
            </a:r>
            <a:endParaRPr lang="es-PY"/>
          </a:p>
          <a:p>
            <a:r>
              <a:rPr lang="es-PY" sz="1200">
                <a:latin typeface="Arial"/>
              </a:rPr>
              <a:t>GUION BREVE</a:t>
            </a:r>
            <a:endParaRPr lang="es-PY"/>
          </a:p>
          <a:p>
            <a:r>
              <a:rPr lang="es-PY" sz="1200">
                <a:latin typeface="Arial"/>
              </a:rPr>
              <a:t>En Fase 2 elegimos pruebas según el tipo de datos y corregimos por seis comparaciones. H2, H3 y H4 mantienen evidencia estadística bajo sus supuestos. H1 tiene p ajustado de 0,0698 y no alcanza el umbral de 0,05. Eso no prueba que las zonas sean iguales. El cambio frente al ajuste anterior se explica porque ahora consideramos seis comparaciones. Además, no podemos verificar si varias víctimas pertenecen al mismo accidente.</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Las hipótesis surgen de los patrones de Fase 1. H1 y H2 comparan categorías mediante chi-cuadrado. H3 usa Fisher para comparar la proporción fatal de los grupos vehiculares documentados. H4 usa Mann–Whitney porque edad está ordenada en grupos y no es una variable continua en años. Corregimos por seis comparaciones para no interpretar cada p como si fuera el único análisis: las cuatro hipótesis, la comparación de 60 años y la sensibilidad H3 sin motocarro. H1 conserva su p histórico ajustado por cuatro de 0,046565, pero con seis queda en 0,069847, sin rechazo al 5 %. Esto no prueba igualdad entre zonas. H2, H3 y H4 mantienen evidencia bajo sus supuestos. Los efectos son asociaciones condicionadas al registro, sin causalidad. No podemos verificar independencia por accidente ni corregir conglomeración.</a:t>
            </a:r>
            <a:endParaRPr lang="es-PY"/>
          </a:p>
          <a:p>
            <a:r>
              <a:rPr lang="es-PY" sz="1200">
                <a:latin typeface="Arial"/>
              </a:rPr>
              <a:t>Resultados: multiplicidad_actual, antecedentes_historicos y h3_contrastes del notebook. notebooks/Fase3_Accidentes_AUDITADA.ipynb, ejecutado y revisado.</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9</a:t>
            </a:fld>
            <a:endParaRPr lang="es-PY"/>
          </a:p>
        </p:txBody>
      </p:sp>
    </p:spTree>
    <p:extLst>
      <p:ext uri="{BB962C8B-B14F-4D97-AF65-F5344CB8AC3E}">
        <p14:creationId xmlns:p14="http://schemas.microsoft.com/office/powerpoint/2010/main" val="2905278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55 segundos. EXPOSITOR SUGERIDO: Leandro Ferreira.</a:t>
            </a:r>
            <a:endParaRPr lang="es-PY"/>
          </a:p>
          <a:p>
            <a:r>
              <a:rPr lang="es-PY" sz="1200">
                <a:latin typeface="Arial"/>
              </a:rPr>
              <a:t/>
            </a:r>
            <a:endParaRPr lang="es-PY"/>
          </a:p>
          <a:p>
            <a:r>
              <a:rPr lang="es-PY" sz="1200">
                <a:latin typeface="Arial"/>
              </a:rPr>
              <a:t>GUION BREVE</a:t>
            </a:r>
            <a:endParaRPr lang="es-PY"/>
          </a:p>
          <a:p>
            <a:r>
              <a:rPr lang="es-PY" sz="1200">
                <a:latin typeface="Arial"/>
              </a:rPr>
              <a:t>Corregimos la edad ignorada para que no quedara por debajo de la niñez. Con las edades conocidas, Mann–Whitney muestra que los fallecidos tienden a ubicarse en grupos mayores, con un efecto pequeño. En la comparación de 60 o más frente a menores de 60, falleció el 34,42 % frente al 16,83 %. El RR de 2,05 indica una proporción aproximadamente doble entre las víctimas registradas, sin demostrar que la edad cause el desenlace.</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Hay dos preguntas relacionadas. Mann–Whitney compara si los fallecidos tienden a estar en grupos etarios superiores a los heridos. Tras excluir 353 desconocidos solo de los contrastes, U es 2.299.236, p 1,6568 por diez elevado a menos veinte y r biserial 0,1854, un efecto pequeño. Su intervalo bootstrap de 2.000 réplicas es 0,1455 a 0,2266. La otra pregunta compara mayores de 60 frente a menores: 106 fallecidos de 308, frente a 813 de 4.832. El RR es 2,0455 con IC de Katz 1,7319 a 2,4158. Fisher mantiene evidencia después de Bonferroni por seis. Edad ignorada no es una edad menor que cero ni equivale a menor de 60. Estos resultados no explican mecanismos biológicos ni riesgo de accidentarse en la población.</a:t>
            </a:r>
            <a:endParaRPr lang="es-PY"/>
          </a:p>
          <a:p>
            <a:r>
              <a:rPr lang="es-PY" sz="1200">
                <a:latin typeface="Arial"/>
              </a:rPr>
              <a:t>Fuente: h4_ordinal y h4_mayores60 del notebook ejecutado. notebooks/Fase3_Accidentes_AUDITADA.ipynb, ejecutado y revisado.</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10</a:t>
            </a:fld>
            <a:endParaRPr lang="es-PY"/>
          </a:p>
        </p:txBody>
      </p:sp>
    </p:spTree>
    <p:extLst>
      <p:ext uri="{BB962C8B-B14F-4D97-AF65-F5344CB8AC3E}">
        <p14:creationId xmlns:p14="http://schemas.microsoft.com/office/powerpoint/2010/main" val="712563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55 segundos. EXPOSITOR SUGERIDO: Jorge Rios.</a:t>
            </a:r>
            <a:endParaRPr lang="es-PY"/>
          </a:p>
          <a:p>
            <a:r>
              <a:rPr lang="es-PY" sz="1200">
                <a:latin typeface="Arial"/>
              </a:rPr>
              <a:t/>
            </a:r>
            <a:endParaRPr lang="es-PY"/>
          </a:p>
          <a:p>
            <a:r>
              <a:rPr lang="es-PY" sz="1200">
                <a:latin typeface="Arial"/>
              </a:rPr>
              <a:t>GUION BREVE</a:t>
            </a:r>
            <a:endParaRPr lang="es-PY"/>
          </a:p>
          <a:p>
            <a:r>
              <a:rPr lang="es-PY" sz="1200">
                <a:latin typeface="Arial"/>
              </a:rPr>
              <a:t>El Modelo A utiliza solo sexo y grupo de edad. Reservamos 80 % para entrenamiento y 20 % para prueba, con semilla 42. Comparamos cuatro algoritmos de tres familias y una referencia que siempre predice Herido. Los parámetros se eligieron con cinco pliegues dentro de entrenamiento y usando F1 macro. El conjunto de prueba ya había sido visto en versiones anteriores. Por eso, lo presentamos como evaluación histórica interna y no como validación externa.</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El Modelo A clasifica Herido o Fallecido usando solo sexo y grupo de edad. Dividimos en 4.394 filas de entrenamiento y 1.099 de prueba, estratificando por desenlace con semilla 42. Los codificadores se ajustan dentro de Pipeline usando entrenamiento. Probamos logística, árbol, bosque y Bayes: son tres familias porque árbol y bosque comparten familia. Las grillas y cinco pliegues usan solo entrenamiento y el criterio es F1 macro. Logística, árbol y bosque ponderan clases de forma balanceada; Bayes usa prior 0,5/0,5. El test ya se vio en versiones anteriores, por eso lo llamamos reserva histórica. No unimos vehículo ni zona al modelo nacional y no creamos un Modelo B.</a:t>
            </a:r>
            <a:endParaRPr lang="es-PY"/>
          </a:p>
          <a:p>
            <a:r>
              <a:rPr lang="es-PY" sz="1200">
                <a:latin typeface="Arial"/>
              </a:rPr>
              <a:t>Fuente: diseño, validacion y seleccion del notebook. notebooks/Fase3_Accidentes_AUDITADA.ipynb, ejecutado y revisado.</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11</a:t>
            </a:fld>
            <a:endParaRPr lang="es-PY"/>
          </a:p>
        </p:txBody>
      </p:sp>
    </p:spTree>
    <p:extLst>
      <p:ext uri="{BB962C8B-B14F-4D97-AF65-F5344CB8AC3E}">
        <p14:creationId xmlns:p14="http://schemas.microsoft.com/office/powerpoint/2010/main" val="21808095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70 segundos. EXPOSITOR SUGERIDO: Jorge Rios.</a:t>
            </a:r>
            <a:endParaRPr lang="es-PY"/>
          </a:p>
          <a:p>
            <a:r>
              <a:rPr lang="es-PY" sz="1200">
                <a:latin typeface="Arial"/>
              </a:rPr>
              <a:t/>
            </a:r>
            <a:endParaRPr lang="es-PY"/>
          </a:p>
          <a:p>
            <a:r>
              <a:rPr lang="es-PY" sz="1200">
                <a:latin typeface="Arial"/>
              </a:rPr>
              <a:t>GUION BREVE</a:t>
            </a:r>
            <a:endParaRPr lang="es-PY"/>
          </a:p>
          <a:p>
            <a:r>
              <a:rPr lang="es-PY" sz="1200">
                <a:latin typeface="Arial"/>
              </a:rPr>
              <a:t>Elegimos el árbol porque obtuvo el mayor F1 macro en validación cruzada, 0,5416. En prueba alcanzó 0,5299. F1 macro considera por igual a Herido y Fallecido. Su AUC fue 0,5809, lo que muestra poca capacidad para distinguir los desenlaces. No cambiamos el ganador por otra métrica del conjunto de prueba. Además, Dummy logra más exactitud al predecir siempre Herido, pero no detecta ningún fallecido. Por eso, una sola métrica puede dar una impresión equivocada.</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El árbol consigue el mayor F1 macro medio en CV: 0,5416. Le siguen Bayes 0,5347, logística 0,5278 y bosque 0,5234. No cambiamos de ganador porque Bayes tenga algo más de AUC en prueba: eso usaría prueba para seleccionar. En la reserva, el árbol alcanza F1 macro 0,5299 frente a 0,4510 de Dummy. Su AUC es 0,5809, por lo que discrimina poco. F1 combina precisión y recall; macro promedia el resultado de ambas clases con igual peso. AUC mide ordenamiento a distintos umbrales, no calibración. CV no es anidada, así que su puntuación seleccionada puede ser optimista. La exactitud de Dummy es 82,17 %, mayor que 63,51 % del árbol, pero Dummy no detecta fallecidos.</a:t>
            </a:r>
            <a:endParaRPr lang="es-PY"/>
          </a:p>
          <a:p>
            <a:r>
              <a:rPr lang="es-PY" sz="1200">
                <a:latin typeface="Arial"/>
              </a:rPr>
              <a:t>Fuente: tablas validacion y metricas_test, criterio fijado en seleccion. notebooks/Fase3_Accidentes_AUDITADA.ipynb, ejecutado y revisado.</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12</a:t>
            </a:fld>
            <a:endParaRPr lang="es-PY"/>
          </a:p>
        </p:txBody>
      </p:sp>
    </p:spTree>
    <p:extLst>
      <p:ext uri="{BB962C8B-B14F-4D97-AF65-F5344CB8AC3E}">
        <p14:creationId xmlns:p14="http://schemas.microsoft.com/office/powerpoint/2010/main" val="22211675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65 segundos. EXPOSITOR SUGERIDO: Jorge Rios.</a:t>
            </a:r>
            <a:endParaRPr lang="es-PY"/>
          </a:p>
          <a:p>
            <a:r>
              <a:rPr lang="es-PY" sz="1200">
                <a:latin typeface="Arial"/>
              </a:rPr>
              <a:t/>
            </a:r>
            <a:endParaRPr lang="es-PY"/>
          </a:p>
          <a:p>
            <a:r>
              <a:rPr lang="es-PY" sz="1200">
                <a:latin typeface="Arial"/>
              </a:rPr>
              <a:t>GUION BREVE</a:t>
            </a:r>
            <a:endParaRPr lang="es-PY"/>
          </a:p>
          <a:p>
            <a:r>
              <a:rPr lang="es-PY" sz="1200">
                <a:latin typeface="Arial"/>
              </a:rPr>
              <a:t>La matriz muestra los aciertos y errores del árbol. Detectó 89 de 196 fallecidos, es decir, 45,41 %, y omitió 107. También clasificó a 294 heridos como fallecidos. Solo 23,24 % de sus predicciones de Fallecido fueron correctas. Las omisiones afectan a todas las mujeres fallecidas y a todos los fallecidos menores de 30 de esta prueba. Quince casos pertenecen a ambos grupos, por lo que no se suman dos veces. Son limitaciones importantes para cualquier uso individual.</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La matriz cruza desenlace real, en las filas, con la predicción, en las columnas. Acierta 609 heridos y 89 fallecidos. Las falsas alarmas son 294 heridos clasificados como fallecidos. Omite 107 fallecidos al clasificarlos como heridos. El recall es 89 de 196, o 45,41 %. La precisión es 89 de 383 predicciones de Fallecido, o 23,24 %. La exactitud es 63,51 %. Los errores están distribuidos de forma desigual: omite a las 33 fallecidas mujeres y los 81 fallecidos de 0 a 29 años. Quince casos pertenecen a ambos grupos, así que la unión es 33 más 81 menos 15, igual a 99; los ocho restantes son hombres con edad ignorada. Un error global bajo en mujeres oculta que no se detectó a ninguna fallecida. Esto impide recomendar uso individual o clínico.</a:t>
            </a:r>
            <a:endParaRPr lang="es-PY"/>
          </a:p>
          <a:p>
            <a:r>
              <a:rPr lang="es-PY" sz="1200">
                <a:latin typeface="Arial"/>
              </a:rPr>
              <a:t>Fuente: matrices, errores_sexo, errores_edad y descomposicion_FN del notebook. notebooks/Fase3_Accidentes_AUDITADA.ipynb, ejecutado y revisado.</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13</a:t>
            </a:fld>
            <a:endParaRPr lang="es-PY"/>
          </a:p>
        </p:txBody>
      </p:sp>
    </p:spTree>
    <p:extLst>
      <p:ext uri="{BB962C8B-B14F-4D97-AF65-F5344CB8AC3E}">
        <p14:creationId xmlns:p14="http://schemas.microsoft.com/office/powerpoint/2010/main" val="3743580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70 segundos. EXPOSITOR SUGERIDO: Jorge Rios.</a:t>
            </a:r>
            <a:endParaRPr lang="es-PY"/>
          </a:p>
          <a:p>
            <a:r>
              <a:rPr lang="es-PY" sz="1200">
                <a:latin typeface="Arial"/>
              </a:rPr>
              <a:t/>
            </a:r>
            <a:endParaRPr lang="es-PY"/>
          </a:p>
          <a:p>
            <a:r>
              <a:rPr lang="es-PY" sz="1200">
                <a:latin typeface="Arial"/>
              </a:rPr>
              <a:t>GUION BREVE</a:t>
            </a:r>
            <a:endParaRPr lang="es-PY"/>
          </a:p>
          <a:p>
            <a:r>
              <a:rPr lang="es-PY" sz="1200">
                <a:latin typeface="Arial"/>
              </a:rPr>
              <a:t>Las diferencias entre entrenamiento, validación y prueba son pequeñas, pero los perfiles se repiten. Al separar perfiles completos, el F1 cae a 0,456. Esta es una sensibilidad dentro de entrenamiento, no una validación externa. Mezclar edad perjudica más que mezclar sexo, por lo que edad aporta algo más al modelo. Aun así, los puntajes no están calibrados: el promedio fue 0,4902 frente a una fracción real de 0,1783. El resultado necesita datos más completos y una evaluación independiente.</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La brecha entre entrenamiento y prueba es pequeña, 0,0191, pero los mismos perfiles de sexo y edad se repiten entre particiones. Al dejar perfiles completos fuera en GroupKFold de cuatro pliegues, el F1 medio cae a 0,4556 y la AUC a 0,5248. Esta es una sensibilidad dentro de entrenamiento, con hiperparámetros ya elegidos, no una validación externa o anidada. En permutación, mezclar edad reduce F1 unos 0,0361 y mezclar sexo unos 0,0142: edad aporta algo más, sin causalidad. Los resultados coinciden en dirección con H2 y H4, pero la importancia no resuelve los errores. La puntuación media 0,4902 supera mucho a la fracción fallecida 0,1783. Brier es 0,2457 para árbol y 0,1783 para Dummy. Los pesos balanceados y el bajo número de perfiles impiden tratar el puntaje como probabilidad individual confiable. El modelo territorial adicional empeora a su base en dos de tres cortes cronológicos, por lo que tampoco justifica uso predictivo.</a:t>
            </a:r>
            <a:endParaRPr lang="es-PY"/>
          </a:p>
          <a:p>
            <a:r>
              <a:rPr lang="es-PY" sz="1200">
                <a:latin typeface="Arial"/>
              </a:rPr>
              <a:t>Fuente: resultados de sensibilidad, permutación, calibración y territorio_validacion del notebook. notebooks/Fase3_Accidentes_AUDITADA.ipynb, ejecutado y revisado.</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14</a:t>
            </a:fld>
            <a:endParaRPr lang="es-PY"/>
          </a:p>
        </p:txBody>
      </p:sp>
    </p:spTree>
    <p:extLst>
      <p:ext uri="{BB962C8B-B14F-4D97-AF65-F5344CB8AC3E}">
        <p14:creationId xmlns:p14="http://schemas.microsoft.com/office/powerpoint/2010/main" val="2655897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Y" sz="1200">
                <a:latin typeface="Arial"/>
              </a:rPr>
              <a:t>TIEMPO SUGERIDO: 40 segundos. EXPOSITOR SUGERIDO: Jorge Rios.</a:t>
            </a:r>
            <a:endParaRPr lang="es-PY"/>
          </a:p>
          <a:p>
            <a:r>
              <a:rPr lang="es-PY" sz="1200">
                <a:latin typeface="Arial"/>
              </a:rPr>
              <a:t/>
            </a:r>
            <a:endParaRPr lang="es-PY"/>
          </a:p>
          <a:p>
            <a:r>
              <a:rPr lang="es-PY" sz="1200">
                <a:latin typeface="Arial"/>
              </a:rPr>
              <a:t>GUION BREVE</a:t>
            </a:r>
            <a:endParaRPr lang="es-PY"/>
          </a:p>
          <a:p>
            <a:r>
              <a:rPr lang="es-PY" sz="1200">
                <a:latin typeface="Arial"/>
              </a:rPr>
              <a:t>Respondemos parcialmente la pregunta original. Encontramos asociaciones de gravedad, pero no podemos analizar simultáneamente los cuatro factores. El Modelo A tiene capacidad limitada y no debe usarse para decisiones clínicas. Para avanzar necesitamos datos individuales vinculados de víctimas y siniestros, y validar con información de otro año.</a:t>
            </a:r>
            <a:endParaRPr lang="es-PY"/>
          </a:p>
          <a:p>
            <a:r>
              <a:rPr lang="es-PY" sz="1200">
                <a:latin typeface="Arial"/>
              </a:rPr>
              <a:t/>
            </a:r>
            <a:endParaRPr lang="es-PY"/>
          </a:p>
          <a:p>
            <a:r>
              <a:rPr lang="es-PY" sz="1200">
                <a:latin typeface="Arial"/>
              </a:rPr>
              <a:t>APOYO PARA PREGUNTAS Y FUENTES</a:t>
            </a:r>
            <a:endParaRPr lang="es-PY"/>
          </a:p>
          <a:p>
            <a:r>
              <a:rPr lang="es-PY" sz="1200">
                <a:latin typeface="Arial"/>
              </a:rPr>
              <a:t>La respuesta es parcial: encontramos asociaciones de gravedad por sexo, edad y vehículo y diferencias territoriales pequeñas, con sus restricciones. La nueva revisión oficial fortalece H3 y distingue motocicleta de motocarro. La evidencia agregada no permite estimar efectos simultáneos de los cuatro factores. La predicción es limitada: los resultados del árbol no justifican decisiones clínicas. El paso siguiente es obtener datos individuales vinculados de víctima y siniestro, vehículo real y fechas, y validar en otro año y por grupos.</a:t>
            </a:r>
            <a:endParaRPr lang="es-PY"/>
          </a:p>
          <a:p>
            <a:r>
              <a:rPr lang="es-PY" sz="1200">
                <a:latin typeface="Arial"/>
              </a:rPr>
              <a:t>REFERENCIAS</a:t>
            </a:r>
            <a:endParaRPr lang="es-PY"/>
          </a:p>
          <a:p>
            <a:r>
              <a:rPr lang="es-PY" sz="1200">
                <a:latin typeface="Arial"/>
              </a:rPr>
              <a:t>1. INE, Anuario Estadístico 2021, cuadros 12.2.1 a 12.2.10 según cada diapositiva. https://www.ine.gov.py/Publicaciones/Biblioteca/documento/240/Anuario%20Estadistico%202021.pdf</a:t>
            </a:r>
            <a:endParaRPr lang="es-PY"/>
          </a:p>
          <a:p>
            <a:r>
              <a:rPr lang="es-PY" sz="1200">
                <a:latin typeface="Arial"/>
              </a:rPr>
              <a:t>2. DINATRAN, Anuario Estadístico de Transporte 2021, pp.130, 132, 133, 135 y 136. https://www.dinatran.gov.py/docum/ANUARIO%202021.pdf</a:t>
            </a:r>
            <a:endParaRPr lang="es-PY"/>
          </a:p>
          <a:p>
            <a:r>
              <a:rPr lang="es-PY" sz="1200">
                <a:latin typeface="Arial"/>
              </a:rPr>
              <a:t>3. Notebook ejecutado notebooks/Fase3_Accidentes_AUDITADA.ipynb, ejecutado y revisado.</a:t>
            </a:r>
            <a:endParaRPr lang="es-PY"/>
          </a:p>
          <a:p>
            <a:r>
              <a:rPr lang="es-PY" sz="1200">
                <a:latin typeface="Arial"/>
              </a:rPr>
              <a:t>4. Fase_3_Accidentes_Transito (1).docx, redacción revisada por el grupo y contrastada con las salidas actuales.</a:t>
            </a:r>
            <a:endParaRPr lang="es-PY"/>
          </a:p>
          <a:p>
            <a:r>
              <a:rPr lang="es-PY" sz="1200">
                <a:latin typeface="Arial"/>
              </a:rPr>
              <a:t>5. Consigna Proyecto_DataScience_Tres_Fases (1).pdf, secciones 8 y 9.4.</a:t>
            </a:r>
            <a:endParaRPr lang="es-PY"/>
          </a:p>
          <a:p>
            <a:r>
              <a:rPr lang="es-PY" sz="1200">
                <a:latin typeface="Arial"/>
              </a:rPr>
              <a:t>INTEGRIDAD: Se utilizó IA para auditoría, apoyo de código y explicaciones, redacción y elaboración de esta presentación. Los gráficos muestran conteos y resultados del proyecto, sin generar víctimas ni mejorar métricas. La revisión, comprensión y defensa corresponden a los integrantes. Esta presentación no acredita que esa revisión personal ya se haya completado.</a:t>
            </a:r>
            <a:endParaRPr lang="es-PY"/>
          </a:p>
          <a:p>
            <a:r>
              <a:rPr lang="es-PY" sz="1200">
                <a:latin typeface="Arial"/>
              </a:rPr>
              <a:t>Para preguntas: cualquiera de los integrantes puede ser consultado sobre las tres fases.</a:t>
            </a:r>
            <a:endParaRPr lang="es-PY"/>
          </a:p>
        </p:txBody>
      </p:sp>
      <p:sp>
        <p:nvSpPr>
          <p:cNvPr id="4" name="Marcador de número de diapositiva 3"/>
          <p:cNvSpPr>
            <a:spLocks noGrp="1"/>
          </p:cNvSpPr>
          <p:nvPr>
            <p:ph type="sldNum" sz="quarter" idx="5"/>
          </p:nvPr>
        </p:nvSpPr>
        <p:spPr/>
        <p:txBody>
          <a:bodyPr/>
          <a:lstStyle/>
          <a:p>
            <a:fld id="{3DEA7D93-D789-40F5-B58C-516DC9601723}" type="slidenum">
              <a:rPr lang="es-PY" smtClean="0"/>
              <a:t>15</a:t>
            </a:fld>
            <a:endParaRPr lang="es-PY"/>
          </a:p>
        </p:txBody>
      </p:sp>
    </p:spTree>
    <p:extLst>
      <p:ext uri="{BB962C8B-B14F-4D97-AF65-F5344CB8AC3E}">
        <p14:creationId xmlns:p14="http://schemas.microsoft.com/office/powerpoint/2010/main" val="3452086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51FE21-9CCF-4890-B4F4-78255A1036F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Y"/>
          </a:p>
        </p:txBody>
      </p:sp>
      <p:sp>
        <p:nvSpPr>
          <p:cNvPr id="3" name="Subtítulo 2">
            <a:extLst>
              <a:ext uri="{FF2B5EF4-FFF2-40B4-BE49-F238E27FC236}">
                <a16:creationId xmlns:a16="http://schemas.microsoft.com/office/drawing/2014/main" id="{206C16D0-B730-416C-6407-CAADD843AA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Y"/>
          </a:p>
        </p:txBody>
      </p:sp>
      <p:sp>
        <p:nvSpPr>
          <p:cNvPr id="4" name="Marcador de fecha 3">
            <a:extLst>
              <a:ext uri="{FF2B5EF4-FFF2-40B4-BE49-F238E27FC236}">
                <a16:creationId xmlns:a16="http://schemas.microsoft.com/office/drawing/2014/main" id="{D6D08146-85BE-D143-7E0F-DB84FEA6ECAC}"/>
              </a:ext>
            </a:extLst>
          </p:cNvPr>
          <p:cNvSpPr>
            <a:spLocks noGrp="1"/>
          </p:cNvSpPr>
          <p:nvPr>
            <p:ph type="dt" sz="half" idx="10"/>
          </p:nvPr>
        </p:nvSpPr>
        <p:spPr/>
        <p:txBody>
          <a:bodyPr/>
          <a:lstStyle/>
          <a:p>
            <a:fld id="{70EA1176-E31C-45E5-8D38-D02E48D4758F}" type="datetimeFigureOut">
              <a:rPr lang="es-PY" smtClean="0"/>
              <a:t>28/10/2026</a:t>
            </a:fld>
            <a:endParaRPr lang="es-PY"/>
          </a:p>
        </p:txBody>
      </p:sp>
      <p:sp>
        <p:nvSpPr>
          <p:cNvPr id="5" name="Marcador de pie de página 4">
            <a:extLst>
              <a:ext uri="{FF2B5EF4-FFF2-40B4-BE49-F238E27FC236}">
                <a16:creationId xmlns:a16="http://schemas.microsoft.com/office/drawing/2014/main" id="{7B8D7C0E-B5DE-735F-F0BB-21465C4426AE}"/>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DC5B8F34-4C74-8B70-1630-7BE79641C0E6}"/>
              </a:ext>
            </a:extLst>
          </p:cNvPr>
          <p:cNvSpPr>
            <a:spLocks noGrp="1"/>
          </p:cNvSpPr>
          <p:nvPr>
            <p:ph type="sldNum" sz="quarter" idx="12"/>
          </p:nvPr>
        </p:nvSpPr>
        <p:spPr/>
        <p:txBody>
          <a:bodyPr/>
          <a:lstStyle/>
          <a:p>
            <a:fld id="{9F3BBD67-730F-4A28-8489-91D4CC33E256}" type="slidenum">
              <a:rPr lang="es-PY" smtClean="0"/>
              <a:t>‹Nº›</a:t>
            </a:fld>
            <a:endParaRPr lang="es-PY"/>
          </a:p>
        </p:txBody>
      </p:sp>
    </p:spTree>
    <p:extLst>
      <p:ext uri="{BB962C8B-B14F-4D97-AF65-F5344CB8AC3E}">
        <p14:creationId xmlns:p14="http://schemas.microsoft.com/office/powerpoint/2010/main" val="3123372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DB0655-7C68-E9E1-F866-2EE2A6F349C2}"/>
              </a:ext>
            </a:extLst>
          </p:cNvPr>
          <p:cNvSpPr>
            <a:spLocks noGrp="1"/>
          </p:cNvSpPr>
          <p:nvPr>
            <p:ph type="title"/>
          </p:nvPr>
        </p:nvSpPr>
        <p:spPr/>
        <p:txBody>
          <a:bodyPr/>
          <a:lstStyle/>
          <a:p>
            <a:r>
              <a:rPr lang="es-ES"/>
              <a:t>Haga clic para modificar el estilo de título del patrón</a:t>
            </a:r>
            <a:endParaRPr lang="es-PY"/>
          </a:p>
        </p:txBody>
      </p:sp>
      <p:sp>
        <p:nvSpPr>
          <p:cNvPr id="3" name="Marcador de contenido 2">
            <a:extLst>
              <a:ext uri="{FF2B5EF4-FFF2-40B4-BE49-F238E27FC236}">
                <a16:creationId xmlns:a16="http://schemas.microsoft.com/office/drawing/2014/main" id="{583258A1-FC71-9C33-18BA-AA258F72FD6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fecha 3">
            <a:extLst>
              <a:ext uri="{FF2B5EF4-FFF2-40B4-BE49-F238E27FC236}">
                <a16:creationId xmlns:a16="http://schemas.microsoft.com/office/drawing/2014/main" id="{1E18FA42-DE65-85EF-A3BE-8D15A4F1FBE6}"/>
              </a:ext>
            </a:extLst>
          </p:cNvPr>
          <p:cNvSpPr>
            <a:spLocks noGrp="1"/>
          </p:cNvSpPr>
          <p:nvPr>
            <p:ph type="dt" sz="half" idx="10"/>
          </p:nvPr>
        </p:nvSpPr>
        <p:spPr/>
        <p:txBody>
          <a:bodyPr/>
          <a:lstStyle/>
          <a:p>
            <a:fld id="{70EA1176-E31C-45E5-8D38-D02E48D4758F}" type="datetimeFigureOut">
              <a:rPr lang="es-PY" smtClean="0"/>
              <a:t>28/10/2026</a:t>
            </a:fld>
            <a:endParaRPr lang="es-PY"/>
          </a:p>
        </p:txBody>
      </p:sp>
      <p:sp>
        <p:nvSpPr>
          <p:cNvPr id="5" name="Marcador de pie de página 4">
            <a:extLst>
              <a:ext uri="{FF2B5EF4-FFF2-40B4-BE49-F238E27FC236}">
                <a16:creationId xmlns:a16="http://schemas.microsoft.com/office/drawing/2014/main" id="{6C03EB10-D3CA-164F-F512-76592EFC369A}"/>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866EC394-EDBF-48BB-C062-3E1C5B51E111}"/>
              </a:ext>
            </a:extLst>
          </p:cNvPr>
          <p:cNvSpPr>
            <a:spLocks noGrp="1"/>
          </p:cNvSpPr>
          <p:nvPr>
            <p:ph type="sldNum" sz="quarter" idx="12"/>
          </p:nvPr>
        </p:nvSpPr>
        <p:spPr/>
        <p:txBody>
          <a:bodyPr/>
          <a:lstStyle/>
          <a:p>
            <a:fld id="{9F3BBD67-730F-4A28-8489-91D4CC33E256}" type="slidenum">
              <a:rPr lang="es-PY" smtClean="0"/>
              <a:t>‹Nº›</a:t>
            </a:fld>
            <a:endParaRPr lang="es-PY"/>
          </a:p>
        </p:txBody>
      </p:sp>
    </p:spTree>
    <p:extLst>
      <p:ext uri="{BB962C8B-B14F-4D97-AF65-F5344CB8AC3E}">
        <p14:creationId xmlns:p14="http://schemas.microsoft.com/office/powerpoint/2010/main" val="1064553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07AD90-E1FF-3851-2A19-ACBC8E9B9F7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Y"/>
          </a:p>
        </p:txBody>
      </p:sp>
      <p:sp>
        <p:nvSpPr>
          <p:cNvPr id="3" name="Marcador de texto 2">
            <a:extLst>
              <a:ext uri="{FF2B5EF4-FFF2-40B4-BE49-F238E27FC236}">
                <a16:creationId xmlns:a16="http://schemas.microsoft.com/office/drawing/2014/main" id="{990E8D57-2EAF-6C77-8F3F-F7D299D70C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6A01018-40A0-4783-D707-B5F0AAC4B6D8}"/>
              </a:ext>
            </a:extLst>
          </p:cNvPr>
          <p:cNvSpPr>
            <a:spLocks noGrp="1"/>
          </p:cNvSpPr>
          <p:nvPr>
            <p:ph type="dt" sz="half" idx="10"/>
          </p:nvPr>
        </p:nvSpPr>
        <p:spPr/>
        <p:txBody>
          <a:bodyPr/>
          <a:lstStyle/>
          <a:p>
            <a:fld id="{70EA1176-E31C-45E5-8D38-D02E48D4758F}" type="datetimeFigureOut">
              <a:rPr lang="es-PY" smtClean="0"/>
              <a:t>28/10/2026</a:t>
            </a:fld>
            <a:endParaRPr lang="es-PY"/>
          </a:p>
        </p:txBody>
      </p:sp>
      <p:sp>
        <p:nvSpPr>
          <p:cNvPr id="5" name="Marcador de pie de página 4">
            <a:extLst>
              <a:ext uri="{FF2B5EF4-FFF2-40B4-BE49-F238E27FC236}">
                <a16:creationId xmlns:a16="http://schemas.microsoft.com/office/drawing/2014/main" id="{E1325526-FF38-139E-D34D-C38C7D920AEC}"/>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C8143D81-CE43-CA81-7E48-CFF574C155AF}"/>
              </a:ext>
            </a:extLst>
          </p:cNvPr>
          <p:cNvSpPr>
            <a:spLocks noGrp="1"/>
          </p:cNvSpPr>
          <p:nvPr>
            <p:ph type="sldNum" sz="quarter" idx="12"/>
          </p:nvPr>
        </p:nvSpPr>
        <p:spPr/>
        <p:txBody>
          <a:bodyPr/>
          <a:lstStyle/>
          <a:p>
            <a:fld id="{9F3BBD67-730F-4A28-8489-91D4CC33E256}" type="slidenum">
              <a:rPr lang="es-PY" smtClean="0"/>
              <a:t>‹Nº›</a:t>
            </a:fld>
            <a:endParaRPr lang="es-PY"/>
          </a:p>
        </p:txBody>
      </p:sp>
    </p:spTree>
    <p:extLst>
      <p:ext uri="{BB962C8B-B14F-4D97-AF65-F5344CB8AC3E}">
        <p14:creationId xmlns:p14="http://schemas.microsoft.com/office/powerpoint/2010/main" val="202505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918986-0286-691B-F6F9-E7E952D32F80}"/>
              </a:ext>
            </a:extLst>
          </p:cNvPr>
          <p:cNvSpPr>
            <a:spLocks noGrp="1"/>
          </p:cNvSpPr>
          <p:nvPr>
            <p:ph type="title"/>
          </p:nvPr>
        </p:nvSpPr>
        <p:spPr/>
        <p:txBody>
          <a:bodyPr/>
          <a:lstStyle/>
          <a:p>
            <a:r>
              <a:rPr lang="es-ES"/>
              <a:t>Haga clic para modificar el estilo de título del patrón</a:t>
            </a:r>
            <a:endParaRPr lang="es-PY"/>
          </a:p>
        </p:txBody>
      </p:sp>
      <p:sp>
        <p:nvSpPr>
          <p:cNvPr id="3" name="Marcador de contenido 2">
            <a:extLst>
              <a:ext uri="{FF2B5EF4-FFF2-40B4-BE49-F238E27FC236}">
                <a16:creationId xmlns:a16="http://schemas.microsoft.com/office/drawing/2014/main" id="{84E03E1E-3095-BE6F-92D0-6253311DD38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contenido 3">
            <a:extLst>
              <a:ext uri="{FF2B5EF4-FFF2-40B4-BE49-F238E27FC236}">
                <a16:creationId xmlns:a16="http://schemas.microsoft.com/office/drawing/2014/main" id="{CC423CE5-977A-83A1-394E-71C74E32B2C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5" name="Marcador de fecha 4">
            <a:extLst>
              <a:ext uri="{FF2B5EF4-FFF2-40B4-BE49-F238E27FC236}">
                <a16:creationId xmlns:a16="http://schemas.microsoft.com/office/drawing/2014/main" id="{C347EFB9-A92F-AD8B-5B55-30C7A517E388}"/>
              </a:ext>
            </a:extLst>
          </p:cNvPr>
          <p:cNvSpPr>
            <a:spLocks noGrp="1"/>
          </p:cNvSpPr>
          <p:nvPr>
            <p:ph type="dt" sz="half" idx="10"/>
          </p:nvPr>
        </p:nvSpPr>
        <p:spPr/>
        <p:txBody>
          <a:bodyPr/>
          <a:lstStyle/>
          <a:p>
            <a:fld id="{70EA1176-E31C-45E5-8D38-D02E48D4758F}" type="datetimeFigureOut">
              <a:rPr lang="es-PY" smtClean="0"/>
              <a:t>28/10/2026</a:t>
            </a:fld>
            <a:endParaRPr lang="es-PY"/>
          </a:p>
        </p:txBody>
      </p:sp>
      <p:sp>
        <p:nvSpPr>
          <p:cNvPr id="6" name="Marcador de pie de página 5">
            <a:extLst>
              <a:ext uri="{FF2B5EF4-FFF2-40B4-BE49-F238E27FC236}">
                <a16:creationId xmlns:a16="http://schemas.microsoft.com/office/drawing/2014/main" id="{FD356C6F-E5BC-A2AF-46E3-5FDB41B3F6F6}"/>
              </a:ext>
            </a:extLst>
          </p:cNvPr>
          <p:cNvSpPr>
            <a:spLocks noGrp="1"/>
          </p:cNvSpPr>
          <p:nvPr>
            <p:ph type="ftr" sz="quarter" idx="11"/>
          </p:nvPr>
        </p:nvSpPr>
        <p:spPr/>
        <p:txBody>
          <a:bodyPr/>
          <a:lstStyle/>
          <a:p>
            <a:endParaRPr lang="es-PY"/>
          </a:p>
        </p:txBody>
      </p:sp>
      <p:sp>
        <p:nvSpPr>
          <p:cNvPr id="7" name="Marcador de número de diapositiva 6">
            <a:extLst>
              <a:ext uri="{FF2B5EF4-FFF2-40B4-BE49-F238E27FC236}">
                <a16:creationId xmlns:a16="http://schemas.microsoft.com/office/drawing/2014/main" id="{C16A37A3-EFEB-7F9A-9439-04C8A3EC71A9}"/>
              </a:ext>
            </a:extLst>
          </p:cNvPr>
          <p:cNvSpPr>
            <a:spLocks noGrp="1"/>
          </p:cNvSpPr>
          <p:nvPr>
            <p:ph type="sldNum" sz="quarter" idx="12"/>
          </p:nvPr>
        </p:nvSpPr>
        <p:spPr/>
        <p:txBody>
          <a:bodyPr/>
          <a:lstStyle/>
          <a:p>
            <a:fld id="{9F3BBD67-730F-4A28-8489-91D4CC33E256}" type="slidenum">
              <a:rPr lang="es-PY" smtClean="0"/>
              <a:t>‹Nº›</a:t>
            </a:fld>
            <a:endParaRPr lang="es-PY"/>
          </a:p>
        </p:txBody>
      </p:sp>
    </p:spTree>
    <p:extLst>
      <p:ext uri="{BB962C8B-B14F-4D97-AF65-F5344CB8AC3E}">
        <p14:creationId xmlns:p14="http://schemas.microsoft.com/office/powerpoint/2010/main" val="492689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FEA8BD-AB13-450C-0E99-6CEEE264297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Y"/>
          </a:p>
        </p:txBody>
      </p:sp>
      <p:sp>
        <p:nvSpPr>
          <p:cNvPr id="3" name="Marcador de texto 2">
            <a:extLst>
              <a:ext uri="{FF2B5EF4-FFF2-40B4-BE49-F238E27FC236}">
                <a16:creationId xmlns:a16="http://schemas.microsoft.com/office/drawing/2014/main" id="{B419387D-2EBF-DCB5-F76F-4139E67C0B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75D2E31-1966-93B3-70F1-E5D1DD334A1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5" name="Marcador de texto 4">
            <a:extLst>
              <a:ext uri="{FF2B5EF4-FFF2-40B4-BE49-F238E27FC236}">
                <a16:creationId xmlns:a16="http://schemas.microsoft.com/office/drawing/2014/main" id="{43EC13CA-E4EF-EBC1-D0F3-7239F67220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810531B-1B1F-89FD-94AE-E7A452D4F51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7" name="Marcador de fecha 6">
            <a:extLst>
              <a:ext uri="{FF2B5EF4-FFF2-40B4-BE49-F238E27FC236}">
                <a16:creationId xmlns:a16="http://schemas.microsoft.com/office/drawing/2014/main" id="{512F44F2-6B03-5621-47AB-BF787B5B95B1}"/>
              </a:ext>
            </a:extLst>
          </p:cNvPr>
          <p:cNvSpPr>
            <a:spLocks noGrp="1"/>
          </p:cNvSpPr>
          <p:nvPr>
            <p:ph type="dt" sz="half" idx="10"/>
          </p:nvPr>
        </p:nvSpPr>
        <p:spPr/>
        <p:txBody>
          <a:bodyPr/>
          <a:lstStyle/>
          <a:p>
            <a:fld id="{70EA1176-E31C-45E5-8D38-D02E48D4758F}" type="datetimeFigureOut">
              <a:rPr lang="es-PY" smtClean="0"/>
              <a:t>28/10/2026</a:t>
            </a:fld>
            <a:endParaRPr lang="es-PY"/>
          </a:p>
        </p:txBody>
      </p:sp>
      <p:sp>
        <p:nvSpPr>
          <p:cNvPr id="8" name="Marcador de pie de página 7">
            <a:extLst>
              <a:ext uri="{FF2B5EF4-FFF2-40B4-BE49-F238E27FC236}">
                <a16:creationId xmlns:a16="http://schemas.microsoft.com/office/drawing/2014/main" id="{1CD401F1-7AD5-D8B7-8C81-69D5E3BC0BDD}"/>
              </a:ext>
            </a:extLst>
          </p:cNvPr>
          <p:cNvSpPr>
            <a:spLocks noGrp="1"/>
          </p:cNvSpPr>
          <p:nvPr>
            <p:ph type="ftr" sz="quarter" idx="11"/>
          </p:nvPr>
        </p:nvSpPr>
        <p:spPr/>
        <p:txBody>
          <a:bodyPr/>
          <a:lstStyle/>
          <a:p>
            <a:endParaRPr lang="es-PY"/>
          </a:p>
        </p:txBody>
      </p:sp>
      <p:sp>
        <p:nvSpPr>
          <p:cNvPr id="9" name="Marcador de número de diapositiva 8">
            <a:extLst>
              <a:ext uri="{FF2B5EF4-FFF2-40B4-BE49-F238E27FC236}">
                <a16:creationId xmlns:a16="http://schemas.microsoft.com/office/drawing/2014/main" id="{A041DC9D-129D-602D-951D-23D8D9CB2BD1}"/>
              </a:ext>
            </a:extLst>
          </p:cNvPr>
          <p:cNvSpPr>
            <a:spLocks noGrp="1"/>
          </p:cNvSpPr>
          <p:nvPr>
            <p:ph type="sldNum" sz="quarter" idx="12"/>
          </p:nvPr>
        </p:nvSpPr>
        <p:spPr/>
        <p:txBody>
          <a:bodyPr/>
          <a:lstStyle/>
          <a:p>
            <a:fld id="{9F3BBD67-730F-4A28-8489-91D4CC33E256}" type="slidenum">
              <a:rPr lang="es-PY" smtClean="0"/>
              <a:t>‹Nº›</a:t>
            </a:fld>
            <a:endParaRPr lang="es-PY"/>
          </a:p>
        </p:txBody>
      </p:sp>
    </p:spTree>
    <p:extLst>
      <p:ext uri="{BB962C8B-B14F-4D97-AF65-F5344CB8AC3E}">
        <p14:creationId xmlns:p14="http://schemas.microsoft.com/office/powerpoint/2010/main" val="1460217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5D4495-2745-F5CE-5EA7-0A9572EAF24A}"/>
              </a:ext>
            </a:extLst>
          </p:cNvPr>
          <p:cNvSpPr>
            <a:spLocks noGrp="1"/>
          </p:cNvSpPr>
          <p:nvPr>
            <p:ph type="title"/>
          </p:nvPr>
        </p:nvSpPr>
        <p:spPr/>
        <p:txBody>
          <a:bodyPr/>
          <a:lstStyle/>
          <a:p>
            <a:r>
              <a:rPr lang="es-ES"/>
              <a:t>Haga clic para modificar el estilo de título del patrón</a:t>
            </a:r>
            <a:endParaRPr lang="es-PY"/>
          </a:p>
        </p:txBody>
      </p:sp>
      <p:sp>
        <p:nvSpPr>
          <p:cNvPr id="3" name="Marcador de fecha 2">
            <a:extLst>
              <a:ext uri="{FF2B5EF4-FFF2-40B4-BE49-F238E27FC236}">
                <a16:creationId xmlns:a16="http://schemas.microsoft.com/office/drawing/2014/main" id="{2510B505-B439-80D1-7017-C3A63A3170BC}"/>
              </a:ext>
            </a:extLst>
          </p:cNvPr>
          <p:cNvSpPr>
            <a:spLocks noGrp="1"/>
          </p:cNvSpPr>
          <p:nvPr>
            <p:ph type="dt" sz="half" idx="10"/>
          </p:nvPr>
        </p:nvSpPr>
        <p:spPr/>
        <p:txBody>
          <a:bodyPr/>
          <a:lstStyle/>
          <a:p>
            <a:fld id="{70EA1176-E31C-45E5-8D38-D02E48D4758F}" type="datetimeFigureOut">
              <a:rPr lang="es-PY" smtClean="0"/>
              <a:t>28/10/2026</a:t>
            </a:fld>
            <a:endParaRPr lang="es-PY"/>
          </a:p>
        </p:txBody>
      </p:sp>
      <p:sp>
        <p:nvSpPr>
          <p:cNvPr id="4" name="Marcador de pie de página 3">
            <a:extLst>
              <a:ext uri="{FF2B5EF4-FFF2-40B4-BE49-F238E27FC236}">
                <a16:creationId xmlns:a16="http://schemas.microsoft.com/office/drawing/2014/main" id="{18F34033-AA1B-00FF-BAC4-A49F31EF2D1A}"/>
              </a:ext>
            </a:extLst>
          </p:cNvPr>
          <p:cNvSpPr>
            <a:spLocks noGrp="1"/>
          </p:cNvSpPr>
          <p:nvPr>
            <p:ph type="ftr" sz="quarter" idx="11"/>
          </p:nvPr>
        </p:nvSpPr>
        <p:spPr/>
        <p:txBody>
          <a:bodyPr/>
          <a:lstStyle/>
          <a:p>
            <a:endParaRPr lang="es-PY"/>
          </a:p>
        </p:txBody>
      </p:sp>
      <p:sp>
        <p:nvSpPr>
          <p:cNvPr id="5" name="Marcador de número de diapositiva 4">
            <a:extLst>
              <a:ext uri="{FF2B5EF4-FFF2-40B4-BE49-F238E27FC236}">
                <a16:creationId xmlns:a16="http://schemas.microsoft.com/office/drawing/2014/main" id="{9C3C4B7D-6829-E22B-E94E-83B443972745}"/>
              </a:ext>
            </a:extLst>
          </p:cNvPr>
          <p:cNvSpPr>
            <a:spLocks noGrp="1"/>
          </p:cNvSpPr>
          <p:nvPr>
            <p:ph type="sldNum" sz="quarter" idx="12"/>
          </p:nvPr>
        </p:nvSpPr>
        <p:spPr/>
        <p:txBody>
          <a:bodyPr/>
          <a:lstStyle/>
          <a:p>
            <a:fld id="{9F3BBD67-730F-4A28-8489-91D4CC33E256}" type="slidenum">
              <a:rPr lang="es-PY" smtClean="0"/>
              <a:t>‹Nº›</a:t>
            </a:fld>
            <a:endParaRPr lang="es-PY"/>
          </a:p>
        </p:txBody>
      </p:sp>
    </p:spTree>
    <p:extLst>
      <p:ext uri="{BB962C8B-B14F-4D97-AF65-F5344CB8AC3E}">
        <p14:creationId xmlns:p14="http://schemas.microsoft.com/office/powerpoint/2010/main" val="3766549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DB6F46B-13B3-CCB7-B848-5FD308D4142F}"/>
              </a:ext>
            </a:extLst>
          </p:cNvPr>
          <p:cNvSpPr>
            <a:spLocks noGrp="1"/>
          </p:cNvSpPr>
          <p:nvPr>
            <p:ph type="dt" sz="half" idx="10"/>
          </p:nvPr>
        </p:nvSpPr>
        <p:spPr/>
        <p:txBody>
          <a:bodyPr/>
          <a:lstStyle/>
          <a:p>
            <a:fld id="{70EA1176-E31C-45E5-8D38-D02E48D4758F}" type="datetimeFigureOut">
              <a:rPr lang="es-PY" smtClean="0"/>
              <a:t>28/10/2026</a:t>
            </a:fld>
            <a:endParaRPr lang="es-PY"/>
          </a:p>
        </p:txBody>
      </p:sp>
      <p:sp>
        <p:nvSpPr>
          <p:cNvPr id="3" name="Marcador de pie de página 2">
            <a:extLst>
              <a:ext uri="{FF2B5EF4-FFF2-40B4-BE49-F238E27FC236}">
                <a16:creationId xmlns:a16="http://schemas.microsoft.com/office/drawing/2014/main" id="{B0DB0A29-A280-CA99-BDCF-CCDDE72246C5}"/>
              </a:ext>
            </a:extLst>
          </p:cNvPr>
          <p:cNvSpPr>
            <a:spLocks noGrp="1"/>
          </p:cNvSpPr>
          <p:nvPr>
            <p:ph type="ftr" sz="quarter" idx="11"/>
          </p:nvPr>
        </p:nvSpPr>
        <p:spPr/>
        <p:txBody>
          <a:bodyPr/>
          <a:lstStyle/>
          <a:p>
            <a:endParaRPr lang="es-PY"/>
          </a:p>
        </p:txBody>
      </p:sp>
      <p:sp>
        <p:nvSpPr>
          <p:cNvPr id="4" name="Marcador de número de diapositiva 3">
            <a:extLst>
              <a:ext uri="{FF2B5EF4-FFF2-40B4-BE49-F238E27FC236}">
                <a16:creationId xmlns:a16="http://schemas.microsoft.com/office/drawing/2014/main" id="{785A1520-6B57-A20A-823A-1B6F45C17016}"/>
              </a:ext>
            </a:extLst>
          </p:cNvPr>
          <p:cNvSpPr>
            <a:spLocks noGrp="1"/>
          </p:cNvSpPr>
          <p:nvPr>
            <p:ph type="sldNum" sz="quarter" idx="12"/>
          </p:nvPr>
        </p:nvSpPr>
        <p:spPr/>
        <p:txBody>
          <a:bodyPr/>
          <a:lstStyle/>
          <a:p>
            <a:fld id="{9F3BBD67-730F-4A28-8489-91D4CC33E256}" type="slidenum">
              <a:rPr lang="es-PY" smtClean="0"/>
              <a:t>‹Nº›</a:t>
            </a:fld>
            <a:endParaRPr lang="es-PY"/>
          </a:p>
        </p:txBody>
      </p:sp>
    </p:spTree>
    <p:extLst>
      <p:ext uri="{BB962C8B-B14F-4D97-AF65-F5344CB8AC3E}">
        <p14:creationId xmlns:p14="http://schemas.microsoft.com/office/powerpoint/2010/main" val="236734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293D3D-F564-D5B9-E0ED-F22C19FF7EA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Y"/>
          </a:p>
        </p:txBody>
      </p:sp>
      <p:sp>
        <p:nvSpPr>
          <p:cNvPr id="3" name="Marcador de contenido 2">
            <a:extLst>
              <a:ext uri="{FF2B5EF4-FFF2-40B4-BE49-F238E27FC236}">
                <a16:creationId xmlns:a16="http://schemas.microsoft.com/office/drawing/2014/main" id="{056583E8-9DD6-5EA4-988B-AAAD2E6C07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texto 3">
            <a:extLst>
              <a:ext uri="{FF2B5EF4-FFF2-40B4-BE49-F238E27FC236}">
                <a16:creationId xmlns:a16="http://schemas.microsoft.com/office/drawing/2014/main" id="{14564E63-D343-837B-0294-6D6CD79766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C901F71-EFB2-E8C2-99E9-AD6E09F3C1FB}"/>
              </a:ext>
            </a:extLst>
          </p:cNvPr>
          <p:cNvSpPr>
            <a:spLocks noGrp="1"/>
          </p:cNvSpPr>
          <p:nvPr>
            <p:ph type="dt" sz="half" idx="10"/>
          </p:nvPr>
        </p:nvSpPr>
        <p:spPr/>
        <p:txBody>
          <a:bodyPr/>
          <a:lstStyle/>
          <a:p>
            <a:fld id="{70EA1176-E31C-45E5-8D38-D02E48D4758F}" type="datetimeFigureOut">
              <a:rPr lang="es-PY" smtClean="0"/>
              <a:t>28/10/2026</a:t>
            </a:fld>
            <a:endParaRPr lang="es-PY"/>
          </a:p>
        </p:txBody>
      </p:sp>
      <p:sp>
        <p:nvSpPr>
          <p:cNvPr id="6" name="Marcador de pie de página 5">
            <a:extLst>
              <a:ext uri="{FF2B5EF4-FFF2-40B4-BE49-F238E27FC236}">
                <a16:creationId xmlns:a16="http://schemas.microsoft.com/office/drawing/2014/main" id="{A4C33E89-D5A2-E181-1F46-9C8B80BFAF37}"/>
              </a:ext>
            </a:extLst>
          </p:cNvPr>
          <p:cNvSpPr>
            <a:spLocks noGrp="1"/>
          </p:cNvSpPr>
          <p:nvPr>
            <p:ph type="ftr" sz="quarter" idx="11"/>
          </p:nvPr>
        </p:nvSpPr>
        <p:spPr/>
        <p:txBody>
          <a:bodyPr/>
          <a:lstStyle/>
          <a:p>
            <a:endParaRPr lang="es-PY"/>
          </a:p>
        </p:txBody>
      </p:sp>
      <p:sp>
        <p:nvSpPr>
          <p:cNvPr id="7" name="Marcador de número de diapositiva 6">
            <a:extLst>
              <a:ext uri="{FF2B5EF4-FFF2-40B4-BE49-F238E27FC236}">
                <a16:creationId xmlns:a16="http://schemas.microsoft.com/office/drawing/2014/main" id="{FC22F0A4-20CD-D44A-4534-786146A2DE5E}"/>
              </a:ext>
            </a:extLst>
          </p:cNvPr>
          <p:cNvSpPr>
            <a:spLocks noGrp="1"/>
          </p:cNvSpPr>
          <p:nvPr>
            <p:ph type="sldNum" sz="quarter" idx="12"/>
          </p:nvPr>
        </p:nvSpPr>
        <p:spPr/>
        <p:txBody>
          <a:bodyPr/>
          <a:lstStyle/>
          <a:p>
            <a:fld id="{9F3BBD67-730F-4A28-8489-91D4CC33E256}" type="slidenum">
              <a:rPr lang="es-PY" smtClean="0"/>
              <a:t>‹Nº›</a:t>
            </a:fld>
            <a:endParaRPr lang="es-PY"/>
          </a:p>
        </p:txBody>
      </p:sp>
    </p:spTree>
    <p:extLst>
      <p:ext uri="{BB962C8B-B14F-4D97-AF65-F5344CB8AC3E}">
        <p14:creationId xmlns:p14="http://schemas.microsoft.com/office/powerpoint/2010/main" val="1385824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D2B04-2AAD-DAB0-FD1A-D76916ED4C3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Y"/>
          </a:p>
        </p:txBody>
      </p:sp>
      <p:sp>
        <p:nvSpPr>
          <p:cNvPr id="3" name="Marcador de posición de imagen 2">
            <a:extLst>
              <a:ext uri="{FF2B5EF4-FFF2-40B4-BE49-F238E27FC236}">
                <a16:creationId xmlns:a16="http://schemas.microsoft.com/office/drawing/2014/main" id="{C90FDFC1-D69A-199B-34AB-D6EBEF20F0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Y"/>
          </a:p>
        </p:txBody>
      </p:sp>
      <p:sp>
        <p:nvSpPr>
          <p:cNvPr id="4" name="Marcador de texto 3">
            <a:extLst>
              <a:ext uri="{FF2B5EF4-FFF2-40B4-BE49-F238E27FC236}">
                <a16:creationId xmlns:a16="http://schemas.microsoft.com/office/drawing/2014/main" id="{B2103446-8229-16CD-7052-5FAE2B1222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D4FEE0E-2803-610A-9135-8555FE2D08B3}"/>
              </a:ext>
            </a:extLst>
          </p:cNvPr>
          <p:cNvSpPr>
            <a:spLocks noGrp="1"/>
          </p:cNvSpPr>
          <p:nvPr>
            <p:ph type="dt" sz="half" idx="10"/>
          </p:nvPr>
        </p:nvSpPr>
        <p:spPr/>
        <p:txBody>
          <a:bodyPr/>
          <a:lstStyle/>
          <a:p>
            <a:fld id="{70EA1176-E31C-45E5-8D38-D02E48D4758F}" type="datetimeFigureOut">
              <a:rPr lang="es-PY" smtClean="0"/>
              <a:t>28/10/2026</a:t>
            </a:fld>
            <a:endParaRPr lang="es-PY"/>
          </a:p>
        </p:txBody>
      </p:sp>
      <p:sp>
        <p:nvSpPr>
          <p:cNvPr id="6" name="Marcador de pie de página 5">
            <a:extLst>
              <a:ext uri="{FF2B5EF4-FFF2-40B4-BE49-F238E27FC236}">
                <a16:creationId xmlns:a16="http://schemas.microsoft.com/office/drawing/2014/main" id="{63B7B547-3E8C-634B-2DAE-DE0442B48723}"/>
              </a:ext>
            </a:extLst>
          </p:cNvPr>
          <p:cNvSpPr>
            <a:spLocks noGrp="1"/>
          </p:cNvSpPr>
          <p:nvPr>
            <p:ph type="ftr" sz="quarter" idx="11"/>
          </p:nvPr>
        </p:nvSpPr>
        <p:spPr/>
        <p:txBody>
          <a:bodyPr/>
          <a:lstStyle/>
          <a:p>
            <a:endParaRPr lang="es-PY"/>
          </a:p>
        </p:txBody>
      </p:sp>
      <p:sp>
        <p:nvSpPr>
          <p:cNvPr id="7" name="Marcador de número de diapositiva 6">
            <a:extLst>
              <a:ext uri="{FF2B5EF4-FFF2-40B4-BE49-F238E27FC236}">
                <a16:creationId xmlns:a16="http://schemas.microsoft.com/office/drawing/2014/main" id="{12F4CF74-AB54-62D2-0C76-193226D795EF}"/>
              </a:ext>
            </a:extLst>
          </p:cNvPr>
          <p:cNvSpPr>
            <a:spLocks noGrp="1"/>
          </p:cNvSpPr>
          <p:nvPr>
            <p:ph type="sldNum" sz="quarter" idx="12"/>
          </p:nvPr>
        </p:nvSpPr>
        <p:spPr/>
        <p:txBody>
          <a:bodyPr/>
          <a:lstStyle/>
          <a:p>
            <a:fld id="{9F3BBD67-730F-4A28-8489-91D4CC33E256}" type="slidenum">
              <a:rPr lang="es-PY" smtClean="0"/>
              <a:t>‹Nº›</a:t>
            </a:fld>
            <a:endParaRPr lang="es-PY"/>
          </a:p>
        </p:txBody>
      </p:sp>
    </p:spTree>
    <p:extLst>
      <p:ext uri="{BB962C8B-B14F-4D97-AF65-F5344CB8AC3E}">
        <p14:creationId xmlns:p14="http://schemas.microsoft.com/office/powerpoint/2010/main" val="2686306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6C9969-749F-16EC-88FA-743C32430CED}"/>
              </a:ext>
            </a:extLst>
          </p:cNvPr>
          <p:cNvSpPr>
            <a:spLocks noGrp="1"/>
          </p:cNvSpPr>
          <p:nvPr>
            <p:ph type="title"/>
          </p:nvPr>
        </p:nvSpPr>
        <p:spPr/>
        <p:txBody>
          <a:bodyPr/>
          <a:lstStyle/>
          <a:p>
            <a:r>
              <a:rPr lang="es-ES"/>
              <a:t>Haga clic para modificar el estilo de título del patrón</a:t>
            </a:r>
            <a:endParaRPr lang="es-PY"/>
          </a:p>
        </p:txBody>
      </p:sp>
      <p:sp>
        <p:nvSpPr>
          <p:cNvPr id="3" name="Marcador de texto vertical 2">
            <a:extLst>
              <a:ext uri="{FF2B5EF4-FFF2-40B4-BE49-F238E27FC236}">
                <a16:creationId xmlns:a16="http://schemas.microsoft.com/office/drawing/2014/main" id="{7A319BCC-1657-409D-A1A6-68E9E99716F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fecha 3">
            <a:extLst>
              <a:ext uri="{FF2B5EF4-FFF2-40B4-BE49-F238E27FC236}">
                <a16:creationId xmlns:a16="http://schemas.microsoft.com/office/drawing/2014/main" id="{77B2E979-129A-4E2F-6A10-4DF1295F169B}"/>
              </a:ext>
            </a:extLst>
          </p:cNvPr>
          <p:cNvSpPr>
            <a:spLocks noGrp="1"/>
          </p:cNvSpPr>
          <p:nvPr>
            <p:ph type="dt" sz="half" idx="10"/>
          </p:nvPr>
        </p:nvSpPr>
        <p:spPr/>
        <p:txBody>
          <a:bodyPr/>
          <a:lstStyle/>
          <a:p>
            <a:fld id="{70EA1176-E31C-45E5-8D38-D02E48D4758F}" type="datetimeFigureOut">
              <a:rPr lang="es-PY" smtClean="0"/>
              <a:t>28/10/2026</a:t>
            </a:fld>
            <a:endParaRPr lang="es-PY"/>
          </a:p>
        </p:txBody>
      </p:sp>
      <p:sp>
        <p:nvSpPr>
          <p:cNvPr id="5" name="Marcador de pie de página 4">
            <a:extLst>
              <a:ext uri="{FF2B5EF4-FFF2-40B4-BE49-F238E27FC236}">
                <a16:creationId xmlns:a16="http://schemas.microsoft.com/office/drawing/2014/main" id="{F60804B3-2A12-BB6F-17DE-7999E68F9630}"/>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292F4B01-A7AE-0C29-1404-1F47F034A4D6}"/>
              </a:ext>
            </a:extLst>
          </p:cNvPr>
          <p:cNvSpPr>
            <a:spLocks noGrp="1"/>
          </p:cNvSpPr>
          <p:nvPr>
            <p:ph type="sldNum" sz="quarter" idx="12"/>
          </p:nvPr>
        </p:nvSpPr>
        <p:spPr/>
        <p:txBody>
          <a:bodyPr/>
          <a:lstStyle/>
          <a:p>
            <a:fld id="{9F3BBD67-730F-4A28-8489-91D4CC33E256}" type="slidenum">
              <a:rPr lang="es-PY" smtClean="0"/>
              <a:t>‹Nº›</a:t>
            </a:fld>
            <a:endParaRPr lang="es-PY"/>
          </a:p>
        </p:txBody>
      </p:sp>
    </p:spTree>
    <p:extLst>
      <p:ext uri="{BB962C8B-B14F-4D97-AF65-F5344CB8AC3E}">
        <p14:creationId xmlns:p14="http://schemas.microsoft.com/office/powerpoint/2010/main" val="1683164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81F5070-B7FB-E7BD-7AC6-4DC406423E8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Y"/>
          </a:p>
        </p:txBody>
      </p:sp>
      <p:sp>
        <p:nvSpPr>
          <p:cNvPr id="3" name="Marcador de texto vertical 2">
            <a:extLst>
              <a:ext uri="{FF2B5EF4-FFF2-40B4-BE49-F238E27FC236}">
                <a16:creationId xmlns:a16="http://schemas.microsoft.com/office/drawing/2014/main" id="{ECCB2E5F-45A5-FCC3-0522-71749BB07A4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fecha 3">
            <a:extLst>
              <a:ext uri="{FF2B5EF4-FFF2-40B4-BE49-F238E27FC236}">
                <a16:creationId xmlns:a16="http://schemas.microsoft.com/office/drawing/2014/main" id="{8AEB8609-7C8B-943C-B833-BE61345CB1B7}"/>
              </a:ext>
            </a:extLst>
          </p:cNvPr>
          <p:cNvSpPr>
            <a:spLocks noGrp="1"/>
          </p:cNvSpPr>
          <p:nvPr>
            <p:ph type="dt" sz="half" idx="10"/>
          </p:nvPr>
        </p:nvSpPr>
        <p:spPr/>
        <p:txBody>
          <a:bodyPr/>
          <a:lstStyle/>
          <a:p>
            <a:fld id="{70EA1176-E31C-45E5-8D38-D02E48D4758F}" type="datetimeFigureOut">
              <a:rPr lang="es-PY" smtClean="0"/>
              <a:t>28/10/2026</a:t>
            </a:fld>
            <a:endParaRPr lang="es-PY"/>
          </a:p>
        </p:txBody>
      </p:sp>
      <p:sp>
        <p:nvSpPr>
          <p:cNvPr id="5" name="Marcador de pie de página 4">
            <a:extLst>
              <a:ext uri="{FF2B5EF4-FFF2-40B4-BE49-F238E27FC236}">
                <a16:creationId xmlns:a16="http://schemas.microsoft.com/office/drawing/2014/main" id="{500BE5FE-6271-CD7F-45B5-15CA0DEC4103}"/>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F1988268-6C84-F796-6B41-31D07E036DF8}"/>
              </a:ext>
            </a:extLst>
          </p:cNvPr>
          <p:cNvSpPr>
            <a:spLocks noGrp="1"/>
          </p:cNvSpPr>
          <p:nvPr>
            <p:ph type="sldNum" sz="quarter" idx="12"/>
          </p:nvPr>
        </p:nvSpPr>
        <p:spPr/>
        <p:txBody>
          <a:bodyPr/>
          <a:lstStyle/>
          <a:p>
            <a:fld id="{9F3BBD67-730F-4A28-8489-91D4CC33E256}" type="slidenum">
              <a:rPr lang="es-PY" smtClean="0"/>
              <a:t>‹Nº›</a:t>
            </a:fld>
            <a:endParaRPr lang="es-PY"/>
          </a:p>
        </p:txBody>
      </p:sp>
    </p:spTree>
    <p:extLst>
      <p:ext uri="{BB962C8B-B14F-4D97-AF65-F5344CB8AC3E}">
        <p14:creationId xmlns:p14="http://schemas.microsoft.com/office/powerpoint/2010/main" val="1781290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E1FFF27-682E-8A72-82C5-07E3041ACA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Y"/>
          </a:p>
        </p:txBody>
      </p:sp>
      <p:sp>
        <p:nvSpPr>
          <p:cNvPr id="3" name="Marcador de texto 2">
            <a:extLst>
              <a:ext uri="{FF2B5EF4-FFF2-40B4-BE49-F238E27FC236}">
                <a16:creationId xmlns:a16="http://schemas.microsoft.com/office/drawing/2014/main" id="{A7EA8380-3AD4-CD84-8D37-B36C87976A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fecha 3">
            <a:extLst>
              <a:ext uri="{FF2B5EF4-FFF2-40B4-BE49-F238E27FC236}">
                <a16:creationId xmlns:a16="http://schemas.microsoft.com/office/drawing/2014/main" id="{3AE52B34-01A8-282B-F424-21CF408276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EA1176-E31C-45E5-8D38-D02E48D4758F}" type="datetimeFigureOut">
              <a:rPr lang="es-PY" smtClean="0"/>
              <a:t>28/10/2026</a:t>
            </a:fld>
            <a:endParaRPr lang="es-PY"/>
          </a:p>
        </p:txBody>
      </p:sp>
      <p:sp>
        <p:nvSpPr>
          <p:cNvPr id="5" name="Marcador de pie de página 4">
            <a:extLst>
              <a:ext uri="{FF2B5EF4-FFF2-40B4-BE49-F238E27FC236}">
                <a16:creationId xmlns:a16="http://schemas.microsoft.com/office/drawing/2014/main" id="{7F5CA17F-AA7D-848F-DE18-964ACB3532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Y"/>
          </a:p>
        </p:txBody>
      </p:sp>
      <p:sp>
        <p:nvSpPr>
          <p:cNvPr id="6" name="Marcador de número de diapositiva 5">
            <a:extLst>
              <a:ext uri="{FF2B5EF4-FFF2-40B4-BE49-F238E27FC236}">
                <a16:creationId xmlns:a16="http://schemas.microsoft.com/office/drawing/2014/main" id="{7681EF54-1A2D-16FE-DB8B-BA7CE796AE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3BBD67-730F-4A28-8489-91D4CC33E256}" type="slidenum">
              <a:rPr lang="es-PY" smtClean="0"/>
              <a:t>‹Nº›</a:t>
            </a:fld>
            <a:endParaRPr lang="es-PY"/>
          </a:p>
        </p:txBody>
      </p:sp>
    </p:spTree>
    <p:extLst>
      <p:ext uri="{BB962C8B-B14F-4D97-AF65-F5344CB8AC3E}">
        <p14:creationId xmlns:p14="http://schemas.microsoft.com/office/powerpoint/2010/main" val="7137894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 Id="rIdGraph1" Type="http://schemas.openxmlformats.org/officeDocument/2006/relationships/chart" Target="../charts/char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 Id="rIdGraph2"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 Id="rIdGraph3" Type="http://schemas.openxmlformats.org/officeDocument/2006/relationships/chart" Target="../charts/chart3.xml"/><Relationship Id="rIdGraph4" Type="http://schemas.openxmlformats.org/officeDocument/2006/relationships/chart" Target="../charts/char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 Id="rIdGraph5" Type="http://schemas.openxmlformats.org/officeDocument/2006/relationships/chart" Target="../charts/chart5.xml"/><Relationship Id="rIdGraph6" Type="http://schemas.openxmlformats.org/officeDocument/2006/relationships/chart" Target="../charts/char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 Id="rIdGraph7" Type="http://schemas.openxmlformats.org/officeDocument/2006/relationships/chart" Target="../charts/char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 Id="rIdGraph8" Type="http://schemas.openxmlformats.org/officeDocument/2006/relationships/chart" Target="../charts/char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 Id="rIdGraph9" Type="http://schemas.openxmlformats.org/officeDocument/2006/relationships/chart" Target="../charts/char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 Id="rIdGraph10" Type="http://schemas.openxmlformats.org/officeDocument/2006/relationships/chart" Target="../charts/char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 Id="rIdGraph11" Type="http://schemas.openxmlformats.org/officeDocument/2006/relationships/chart" Target="../charts/char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 Id="rIdGraph12" Type="http://schemas.openxmlformats.org/officeDocument/2006/relationships/chart" Target="../charts/chart12.xml"/><Relationship Id="rIdGraph13" Type="http://schemas.openxmlformats.org/officeDocument/2006/relationships/chart" Target="../charts/char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F3B"/>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6E17C9E-C538-FAB0-9BAA-06FC9407B165}"/>
              </a:ext>
            </a:extLst>
          </p:cNvPr>
          <p:cNvSpPr txBox="1"/>
          <p:nvPr/>
        </p:nvSpPr>
        <p:spPr>
          <a:xfrm>
            <a:off x="609600" y="444500"/>
            <a:ext cx="10922000" cy="787400"/>
          </a:xfrm>
          <a:prstGeom prst="rect">
            <a:avLst/>
          </a:prstGeom>
          <a:noFill/>
        </p:spPr>
        <p:txBody>
          <a:bodyPr vert="horz" wrap="square" lIns="0" tIns="0" rIns="0" bIns="0" rtlCol="0">
            <a:noAutofit/>
          </a:bodyPr>
          <a:lstStyle/>
          <a:p>
            <a:pPr>
              <a:spcAft>
                <a:spcPts val="400"/>
              </a:spcAft>
            </a:pPr>
            <a:r>
              <a:rPr lang="es-ES" sz="2000">
                <a:solidFill>
                  <a:srgbClr val="C5DED5"/>
                </a:solidFill>
                <a:latin typeface="Arial" panose="020B0604020202020204" pitchFamily="34" charset="0"/>
              </a:rPr>
              <a:t>Ciencia de Datos
Proyecto integrador</a:t>
            </a:r>
            <a:endParaRPr lang="es-PY" sz="2000">
              <a:solidFill>
                <a:srgbClr val="C5DED5"/>
              </a:solidFill>
              <a:latin typeface="Arial" panose="020B0604020202020204" pitchFamily="34" charset="0"/>
            </a:endParaRPr>
          </a:p>
        </p:txBody>
      </p:sp>
      <p:sp>
        <p:nvSpPr>
          <p:cNvPr id="3" name="CuadroTexto 2">
            <a:extLst>
              <a:ext uri="{FF2B5EF4-FFF2-40B4-BE49-F238E27FC236}">
                <a16:creationId xmlns:a16="http://schemas.microsoft.com/office/drawing/2014/main" id="{34ED5E5F-D396-EBDC-E78B-90BAF69B57E3}"/>
              </a:ext>
            </a:extLst>
          </p:cNvPr>
          <p:cNvSpPr txBox="1"/>
          <p:nvPr/>
        </p:nvSpPr>
        <p:spPr>
          <a:xfrm>
            <a:off x="609600" y="1816100"/>
            <a:ext cx="10922000" cy="1841500"/>
          </a:xfrm>
          <a:prstGeom prst="rect">
            <a:avLst/>
          </a:prstGeom>
          <a:noFill/>
        </p:spPr>
        <p:txBody>
          <a:bodyPr vert="horz" wrap="square" lIns="0" tIns="0" rIns="0" bIns="0" rtlCol="0">
            <a:noAutofit/>
          </a:bodyPr>
          <a:lstStyle/>
          <a:p>
            <a:pPr>
              <a:spcAft>
                <a:spcPts val="400"/>
              </a:spcAft>
            </a:pPr>
            <a:r>
              <a:rPr lang="es-ES" sz="4200" b="1">
                <a:solidFill>
                  <a:srgbClr val="FFFFFF"/>
                </a:solidFill>
                <a:latin typeface="Arial" panose="020B0604020202020204" pitchFamily="34" charset="0"/>
              </a:rPr>
              <a:t>Gravedad de las víctimas
de tránsito en Paraguay</a:t>
            </a:r>
            <a:endParaRPr lang="es-PY" sz="4200" b="1">
              <a:solidFill>
                <a:srgbClr val="FFFFFF"/>
              </a:solidFill>
              <a:latin typeface="Arial" panose="020B0604020202020204" pitchFamily="34" charset="0"/>
            </a:endParaRPr>
          </a:p>
        </p:txBody>
      </p:sp>
      <p:sp>
        <p:nvSpPr>
          <p:cNvPr id="4" name="CuadroTexto 3">
            <a:extLst>
              <a:ext uri="{FF2B5EF4-FFF2-40B4-BE49-F238E27FC236}">
                <a16:creationId xmlns:a16="http://schemas.microsoft.com/office/drawing/2014/main" id="{2064C332-9521-3F5D-180F-D8C0824CB375}"/>
              </a:ext>
            </a:extLst>
          </p:cNvPr>
          <p:cNvSpPr txBox="1"/>
          <p:nvPr/>
        </p:nvSpPr>
        <p:spPr>
          <a:xfrm>
            <a:off x="635000" y="3873500"/>
            <a:ext cx="10922000" cy="863600"/>
          </a:xfrm>
          <a:prstGeom prst="rect">
            <a:avLst/>
          </a:prstGeom>
          <a:noFill/>
        </p:spPr>
        <p:txBody>
          <a:bodyPr vert="horz" wrap="square" lIns="0" tIns="0" rIns="0" bIns="0" rtlCol="0">
            <a:noAutofit/>
          </a:bodyPr>
          <a:lstStyle/>
          <a:p>
            <a:pPr>
              <a:spcAft>
                <a:spcPts val="400"/>
              </a:spcAft>
            </a:pPr>
            <a:r>
              <a:rPr lang="es-ES" sz="2500">
                <a:solidFill>
                  <a:srgbClr val="C5DED5"/>
                </a:solidFill>
                <a:latin typeface="Arial" panose="020B0604020202020204" pitchFamily="34" charset="0"/>
              </a:rPr>
              <a:t>Resultados de las Fases 1, 2 y 3
Datos oficiales de 2021</a:t>
            </a:r>
            <a:endParaRPr lang="es-PY" sz="2500">
              <a:solidFill>
                <a:srgbClr val="C5DED5"/>
              </a:solidFill>
              <a:latin typeface="Arial" panose="020B0604020202020204" pitchFamily="34" charset="0"/>
            </a:endParaRPr>
          </a:p>
        </p:txBody>
      </p:sp>
      <p:sp>
        <p:nvSpPr>
          <p:cNvPr id="5" name="CuadroTexto 4">
            <a:extLst>
              <a:ext uri="{FF2B5EF4-FFF2-40B4-BE49-F238E27FC236}">
                <a16:creationId xmlns:a16="http://schemas.microsoft.com/office/drawing/2014/main" id="{1EB21D4A-2E00-79C8-B736-536D44181CC5}"/>
              </a:ext>
            </a:extLst>
          </p:cNvPr>
          <p:cNvSpPr txBox="1"/>
          <p:nvPr/>
        </p:nvSpPr>
        <p:spPr>
          <a:xfrm>
            <a:off x="635000" y="5295900"/>
            <a:ext cx="8890000" cy="1054100"/>
          </a:xfrm>
          <a:prstGeom prst="rect">
            <a:avLst/>
          </a:prstGeom>
          <a:noFill/>
        </p:spPr>
        <p:txBody>
          <a:bodyPr vert="horz" wrap="square" lIns="0" tIns="0" rIns="0" bIns="0" rtlCol="0">
            <a:noAutofit/>
          </a:bodyPr>
          <a:lstStyle/>
          <a:p>
            <a:pPr>
              <a:spcAft>
                <a:spcPts val="400"/>
              </a:spcAft>
            </a:pPr>
            <a:r>
              <a:rPr lang="pt-BR" sz="2000">
                <a:solidFill>
                  <a:srgbClr val="FFFFFF"/>
                </a:solidFill>
                <a:latin typeface="Arial" panose="020B0604020202020204" pitchFamily="34" charset="0"/>
              </a:rPr>
              <a:t>Alan Alcaraz
Leandro Ferreira
Jorge Rios</a:t>
            </a:r>
            <a:endParaRPr lang="es-PY" sz="2000">
              <a:solidFill>
                <a:srgbClr val="FFFFFF"/>
              </a:solidFill>
              <a:latin typeface="Arial" panose="020B0604020202020204" pitchFamily="34" charset="0"/>
            </a:endParaRPr>
          </a:p>
        </p:txBody>
      </p:sp>
      <p:sp>
        <p:nvSpPr>
          <p:cNvPr id="6" name="CuadroTexto 5">
            <a:extLst>
              <a:ext uri="{FF2B5EF4-FFF2-40B4-BE49-F238E27FC236}">
                <a16:creationId xmlns:a16="http://schemas.microsoft.com/office/drawing/2014/main" id="{88C6F7F2-610D-51C3-99C3-6CC0BAA6C79D}"/>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C5DED5"/>
                </a:solidFill>
                <a:latin typeface="Arial" panose="020B0604020202020204" pitchFamily="34" charset="0"/>
              </a:rPr>
              <a:t>1</a:t>
            </a:r>
          </a:p>
        </p:txBody>
      </p:sp>
    </p:spTree>
    <p:extLst>
      <p:ext uri="{BB962C8B-B14F-4D97-AF65-F5344CB8AC3E}">
        <p14:creationId xmlns:p14="http://schemas.microsoft.com/office/powerpoint/2010/main" val="924331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B69A984-D4AB-C976-EEC6-DB667D8020E5}"/>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es-ES" sz="3200" b="1">
                <a:solidFill>
                  <a:srgbClr val="173F3B"/>
                </a:solidFill>
                <a:latin typeface="Arial" panose="020B0604020202020204" pitchFamily="34" charset="0"/>
              </a:rPr>
              <a:t>El problema y la pregunta del proyecto</a:t>
            </a:r>
            <a:endParaRPr lang="es-PY" sz="3200" b="1">
              <a:solidFill>
                <a:srgbClr val="173F3B"/>
              </a:solidFill>
              <a:latin typeface="Arial" panose="020B0604020202020204" pitchFamily="34" charset="0"/>
            </a:endParaRPr>
          </a:p>
        </p:txBody>
      </p:sp>
      <p:sp>
        <p:nvSpPr>
          <p:cNvPr id="3" name="CuadroTexto 2">
            <a:extLst>
              <a:ext uri="{FF2B5EF4-FFF2-40B4-BE49-F238E27FC236}">
                <a16:creationId xmlns:a16="http://schemas.microsoft.com/office/drawing/2014/main" id="{86105FD1-BCC0-477D-204B-1EF6FE2B61D5}"/>
              </a:ext>
            </a:extLst>
          </p:cNvPr>
          <p:cNvSpPr txBox="1"/>
          <p:nvPr/>
        </p:nvSpPr>
        <p:spPr>
          <a:xfrm>
            <a:off x="609600" y="1549400"/>
            <a:ext cx="5905500" cy="1651000"/>
          </a:xfrm>
          <a:prstGeom prst="rect">
            <a:avLst/>
          </a:prstGeom>
          <a:noFill/>
        </p:spPr>
        <p:txBody>
          <a:bodyPr vert="horz" wrap="square" lIns="0" tIns="0" rIns="0" bIns="0" rtlCol="0">
            <a:noAutofit/>
          </a:bodyPr>
          <a:lstStyle/>
          <a:p>
            <a:pPr>
              <a:spcAft>
                <a:spcPts val="400"/>
              </a:spcAft>
            </a:pPr>
            <a:r>
              <a:rPr lang="es-ES" sz="2600" b="1">
                <a:solidFill>
                  <a:srgbClr val="173F3B"/>
                </a:solidFill>
                <a:latin typeface="Arial" panose="020B0604020202020204" pitchFamily="34" charset="0"/>
              </a:rPr>
              <a:t>¿Cómo se relacionan sexo, edad,
territorio y uso de motocicleta
con la gravedad registrada?</a:t>
            </a:r>
            <a:endParaRPr lang="es-PY" sz="2600" b="1">
              <a:solidFill>
                <a:srgbClr val="173F3B"/>
              </a:solidFill>
              <a:latin typeface="Arial" panose="020B0604020202020204" pitchFamily="34" charset="0"/>
            </a:endParaRPr>
          </a:p>
        </p:txBody>
      </p:sp>
      <p:sp>
        <p:nvSpPr>
          <p:cNvPr id="4" name="CuadroTexto 3">
            <a:extLst>
              <a:ext uri="{FF2B5EF4-FFF2-40B4-BE49-F238E27FC236}">
                <a16:creationId xmlns:a16="http://schemas.microsoft.com/office/drawing/2014/main" id="{E610377E-5DC1-1D2B-4374-BB30DFA5D9BB}"/>
              </a:ext>
            </a:extLst>
          </p:cNvPr>
          <p:cNvSpPr txBox="1"/>
          <p:nvPr/>
        </p:nvSpPr>
        <p:spPr>
          <a:xfrm>
            <a:off x="609600" y="3924300"/>
            <a:ext cx="5651500" cy="1346200"/>
          </a:xfrm>
          <a:prstGeom prst="rect">
            <a:avLst/>
          </a:prstGeom>
          <a:noFill/>
        </p:spPr>
        <p:txBody>
          <a:bodyPr vert="horz" wrap="square" lIns="0" tIns="0" rIns="0" bIns="0" rtlCol="0">
            <a:noAutofit/>
          </a:bodyPr>
          <a:lstStyle/>
          <a:p>
            <a:pPr>
              <a:spcAft>
                <a:spcPts val="400"/>
              </a:spcAft>
            </a:pPr>
            <a:r>
              <a:rPr lang="es-ES" sz="2300">
                <a:solidFill>
                  <a:srgbClr val="173F3B"/>
                </a:solidFill>
                <a:latin typeface="Arial" panose="020B0604020202020204" pitchFamily="34" charset="0"/>
              </a:rPr>
              <a:t>Describimos los patrones.
Contrastamos asociaciones.
Evaluamos la clasificación.</a:t>
            </a:r>
            <a:endParaRPr lang="es-PY" sz="2300">
              <a:solidFill>
                <a:srgbClr val="173F3B"/>
              </a:solidFill>
              <a:latin typeface="Arial" panose="020B0604020202020204" pitchFamily="34" charset="0"/>
            </a:endParaRPr>
          </a:p>
        </p:txBody>
      </p:sp>
      <p:sp>
        <p:nvSpPr>
          <p:cNvPr id="5" name="CuadroTexto 4">
            <a:extLst>
              <a:ext uri="{FF2B5EF4-FFF2-40B4-BE49-F238E27FC236}">
                <a16:creationId xmlns:a16="http://schemas.microsoft.com/office/drawing/2014/main" id="{E0797802-8F0F-792E-5256-1802AF26F6C7}"/>
              </a:ext>
            </a:extLst>
          </p:cNvPr>
          <p:cNvSpPr txBox="1"/>
          <p:nvPr/>
        </p:nvSpPr>
        <p:spPr>
          <a:xfrm>
            <a:off x="6680200" y="5308600"/>
            <a:ext cx="4953000" cy="444500"/>
          </a:xfrm>
          <a:prstGeom prst="rect">
            <a:avLst/>
          </a:prstGeom>
          <a:noFill/>
        </p:spPr>
        <p:txBody>
          <a:bodyPr vert="horz" wrap="square" lIns="0" tIns="0" rIns="0" bIns="0" rtlCol="0">
            <a:noAutofit/>
          </a:bodyPr>
          <a:lstStyle/>
          <a:p>
            <a:pPr algn="ctr">
              <a:spcAft>
                <a:spcPts val="400"/>
              </a:spcAft>
            </a:pPr>
            <a:r>
              <a:rPr lang="es-ES" sz="2300" b="1">
                <a:solidFill>
                  <a:srgbClr val="173F3B"/>
                </a:solidFill>
                <a:latin typeface="Arial" panose="020B0604020202020204" pitchFamily="34" charset="0"/>
              </a:rPr>
              <a:t>980 fallecidos de 5.493 víctimas</a:t>
            </a:r>
            <a:endParaRPr lang="es-PY" sz="2300" b="1">
              <a:solidFill>
                <a:srgbClr val="173F3B"/>
              </a:solidFill>
              <a:latin typeface="Arial" panose="020B0604020202020204" pitchFamily="34" charset="0"/>
            </a:endParaRPr>
          </a:p>
        </p:txBody>
      </p:sp>
      <p:sp>
        <p:nvSpPr>
          <p:cNvPr id="6" name="CuadroTexto 5">
            <a:extLst>
              <a:ext uri="{FF2B5EF4-FFF2-40B4-BE49-F238E27FC236}">
                <a16:creationId xmlns:a16="http://schemas.microsoft.com/office/drawing/2014/main" id="{79C2EE03-CE49-C260-3867-11E80A0A6228}"/>
              </a:ext>
            </a:extLst>
          </p:cNvPr>
          <p:cNvSpPr txBox="1"/>
          <p:nvPr/>
        </p:nvSpPr>
        <p:spPr>
          <a:xfrm>
            <a:off x="6832600" y="5829300"/>
            <a:ext cx="4699000" cy="355600"/>
          </a:xfrm>
          <a:prstGeom prst="rect">
            <a:avLst/>
          </a:prstGeom>
          <a:noFill/>
        </p:spPr>
        <p:txBody>
          <a:bodyPr vert="horz" wrap="square" lIns="0" tIns="0" rIns="0" bIns="0" rtlCol="0">
            <a:noAutofit/>
          </a:bodyPr>
          <a:lstStyle/>
          <a:p>
            <a:pPr algn="ctr">
              <a:spcAft>
                <a:spcPts val="400"/>
              </a:spcAft>
            </a:pPr>
            <a:r>
              <a:rPr lang="es-PY" sz="2000">
                <a:solidFill>
                  <a:srgbClr val="173F3B"/>
                </a:solidFill>
                <a:latin typeface="Arial" panose="020B0604020202020204" pitchFamily="34" charset="0"/>
              </a:rPr>
              <a:t>17,84 % en esta fuente</a:t>
            </a:r>
          </a:p>
        </p:txBody>
      </p:sp>
      <p:graphicFrame>
        <p:nvGraphicFramePr>
          <p:cNvPr id="7" name="CHART_1"/>
          <p:cNvGraphicFramePr/>
          <p:nvPr/>
        </p:nvGraphicFramePr>
        <p:xfrm>
          <a:off x="6959600" y="1371600"/>
          <a:ext cx="4572000" cy="3733800"/>
        </p:xfrm>
        <a:graphic>
          <a:graphicData uri="http://schemas.openxmlformats.org/drawingml/2006/chart">
            <ns2:chart xmlns:ns2="http://schemas.openxmlformats.org/drawingml/2006/chart" r:id="rIdGraph1"/>
          </a:graphicData>
        </a:graphic>
      </p:graphicFrame>
      <p:sp>
        <p:nvSpPr>
          <p:cNvPr id="8" name="CuadroTexto 7">
            <a:extLst>
              <a:ext uri="{FF2B5EF4-FFF2-40B4-BE49-F238E27FC236}">
                <a16:creationId xmlns:a16="http://schemas.microsoft.com/office/drawing/2014/main" id="{90503F03-FEC3-EE41-6191-4917435D4485}"/>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ES" sz="1050">
                <a:solidFill>
                  <a:srgbClr val="5B716A"/>
                </a:solidFill>
                <a:latin typeface="Arial" panose="020B0604020202020204" pitchFamily="34" charset="0"/>
              </a:rPr>
              <a:t>Fuente: INE 2021, cuadro 12.2.1. Víctimas de la fuente nacional.</a:t>
            </a:r>
            <a:endParaRPr lang="es-PY" sz="1050">
              <a:solidFill>
                <a:srgbClr val="5B716A"/>
              </a:solidFill>
              <a:latin typeface="Arial" panose="020B0604020202020204" pitchFamily="34" charset="0"/>
            </a:endParaRPr>
          </a:p>
        </p:txBody>
      </p:sp>
      <p:sp>
        <p:nvSpPr>
          <p:cNvPr id="9" name="CuadroTexto 8">
            <a:extLst>
              <a:ext uri="{FF2B5EF4-FFF2-40B4-BE49-F238E27FC236}">
                <a16:creationId xmlns:a16="http://schemas.microsoft.com/office/drawing/2014/main" id="{52C5DE47-3856-D7FD-B610-F3CBED1B9463}"/>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5B716A"/>
                </a:solidFill>
                <a:latin typeface="Arial" panose="020B0604020202020204" pitchFamily="34" charset="0"/>
              </a:rPr>
              <a:t>2</a:t>
            </a:r>
          </a:p>
        </p:txBody>
      </p:sp>
    </p:spTree>
    <p:extLst>
      <p:ext uri="{BB962C8B-B14F-4D97-AF65-F5344CB8AC3E}">
        <p14:creationId xmlns:p14="http://schemas.microsoft.com/office/powerpoint/2010/main" val="367361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D9731AD-C58E-0A11-259D-5EAF4743E826}"/>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es-ES" sz="3200" b="1">
                <a:solidFill>
                  <a:srgbClr val="173F3B"/>
                </a:solidFill>
                <a:latin typeface="Arial" panose="020B0604020202020204" pitchFamily="34" charset="0"/>
              </a:rPr>
              <a:t>Datos y coberturas que mantuvimos separadas</a:t>
            </a:r>
            <a:endParaRPr lang="es-PY" sz="3200" b="1">
              <a:solidFill>
                <a:srgbClr val="173F3B"/>
              </a:solidFill>
              <a:latin typeface="Arial" panose="020B0604020202020204" pitchFamily="34" charset="0"/>
            </a:endParaRPr>
          </a:p>
        </p:txBody>
      </p:sp>
      <p:sp>
        <p:nvSpPr>
          <p:cNvPr id="3" name="CuadroTexto 2">
            <a:extLst>
              <a:ext uri="{FF2B5EF4-FFF2-40B4-BE49-F238E27FC236}">
                <a16:creationId xmlns:a16="http://schemas.microsoft.com/office/drawing/2014/main" id="{EF38D263-45E1-4B70-DDB8-443E4FE03BF7}"/>
              </a:ext>
            </a:extLst>
          </p:cNvPr>
          <p:cNvSpPr txBox="1"/>
          <p:nvPr/>
        </p:nvSpPr>
        <p:spPr>
          <a:xfrm>
            <a:off x="609600" y="1308100"/>
            <a:ext cx="10972800" cy="558800"/>
          </a:xfrm>
          <a:prstGeom prst="rect">
            <a:avLst/>
          </a:prstGeom>
          <a:noFill/>
        </p:spPr>
        <p:txBody>
          <a:bodyPr vert="horz" wrap="square" lIns="0" tIns="0" rIns="0" bIns="0" rtlCol="0">
            <a:noAutofit/>
          </a:bodyPr>
          <a:lstStyle/>
          <a:p>
            <a:pPr>
              <a:spcAft>
                <a:spcPts val="400"/>
              </a:spcAft>
            </a:pPr>
            <a:r>
              <a:rPr lang="es-ES" sz="2200">
                <a:solidFill>
                  <a:srgbClr val="173F3B"/>
                </a:solidFill>
                <a:latin typeface="Arial" panose="020B0604020202020204" pitchFamily="34" charset="0"/>
              </a:rPr>
              <a:t>11 tablas oficiales del INE y una revisión complementaria de DINATRAN</a:t>
            </a:r>
            <a:endParaRPr lang="es-PY" sz="2200">
              <a:solidFill>
                <a:srgbClr val="173F3B"/>
              </a:solidFill>
              <a:latin typeface="Arial" panose="020B0604020202020204" pitchFamily="34" charset="0"/>
            </a:endParaRPr>
          </a:p>
        </p:txBody>
      </p:sp>
      <p:sp>
        <p:nvSpPr>
          <p:cNvPr id="4" name="CuadroTexto 3">
            <a:extLst>
              <a:ext uri="{FF2B5EF4-FFF2-40B4-BE49-F238E27FC236}">
                <a16:creationId xmlns:a16="http://schemas.microsoft.com/office/drawing/2014/main" id="{DC280D14-419A-70B4-C3F8-C0E9C04C0DFE}"/>
              </a:ext>
            </a:extLst>
          </p:cNvPr>
          <p:cNvSpPr txBox="1"/>
          <p:nvPr/>
        </p:nvSpPr>
        <p:spPr>
          <a:xfrm>
            <a:off x="609600" y="5664200"/>
            <a:ext cx="10972800" cy="711200"/>
          </a:xfrm>
          <a:prstGeom prst="rect">
            <a:avLst/>
          </a:prstGeom>
          <a:noFill/>
        </p:spPr>
        <p:txBody>
          <a:bodyPr vert="horz" wrap="square" lIns="0" tIns="0" rIns="0" bIns="0" rtlCol="0">
            <a:noAutofit/>
          </a:bodyPr>
          <a:lstStyle/>
          <a:p>
            <a:pPr>
              <a:spcAft>
                <a:spcPts val="400"/>
              </a:spcAft>
            </a:pPr>
            <a:r>
              <a:rPr lang="es-ES" sz="2200" b="1">
                <a:solidFill>
                  <a:srgbClr val="173F3B"/>
                </a:solidFill>
                <a:latin typeface="Arial" panose="020B0604020202020204" pitchFamily="34" charset="0"/>
              </a:rPr>
              <a:t>Víctimas y siniestros son unidades distintas.
Estas coberturas no se suman ni se unen por fila.</a:t>
            </a:r>
            <a:endParaRPr lang="es-PY" sz="2200" b="1">
              <a:solidFill>
                <a:srgbClr val="173F3B"/>
              </a:solidFill>
              <a:latin typeface="Arial" panose="020B0604020202020204" pitchFamily="34" charset="0"/>
            </a:endParaRPr>
          </a:p>
        </p:txBody>
      </p:sp>
      <p:graphicFrame>
        <p:nvGraphicFramePr>
          <p:cNvPr id="5" name="Tabla 4">
            <a:extLst>
              <a:ext uri="{FF2B5EF4-FFF2-40B4-BE49-F238E27FC236}">
                <a16:creationId xmlns:a16="http://schemas.microsoft.com/office/drawing/2014/main" id="{333AFC20-1C8D-61FD-E112-0557D45DF2DA}"/>
              </a:ext>
            </a:extLst>
          </p:cNvPr>
          <p:cNvGraphicFramePr>
            <a:graphicFrameLocks noGrp="1"/>
          </p:cNvGraphicFramePr>
          <p:nvPr>
            <p:extLst>
              <p:ext uri="{D42A27DB-BD31-4B8C-83A1-F6EECF244321}">
                <p14:modId xmlns:p14="http://schemas.microsoft.com/office/powerpoint/2010/main" val="3667778969"/>
              </p:ext>
            </p:extLst>
          </p:nvPr>
        </p:nvGraphicFramePr>
        <p:xfrm>
          <a:off x="609600" y="2057400"/>
          <a:ext cx="10972800" cy="33274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1019539581"/>
                    </a:ext>
                  </a:extLst>
                </a:gridCol>
                <a:gridCol w="2984500">
                  <a:extLst>
                    <a:ext uri="{9D8B030D-6E8A-4147-A177-3AD203B41FA5}">
                      <a16:colId xmlns:a16="http://schemas.microsoft.com/office/drawing/2014/main" val="505859357"/>
                    </a:ext>
                  </a:extLst>
                </a:gridCol>
                <a:gridCol w="5067300">
                  <a:extLst>
                    <a:ext uri="{9D8B030D-6E8A-4147-A177-3AD203B41FA5}">
                      <a16:colId xmlns:a16="http://schemas.microsoft.com/office/drawing/2014/main" val="3382523606"/>
                    </a:ext>
                  </a:extLst>
                </a:gridCol>
              </a:tblGrid>
              <a:tr h="665480">
                <a:tc>
                  <a:txBody>
                    <a:bodyPr/>
                    <a:lstStyle/>
                    <a:p>
                      <a:pPr algn="l">
                        <a:spcAft>
                          <a:spcPts val="0"/>
                        </a:spcAft>
                      </a:pPr>
                      <a:r>
                        <a:rPr lang="es-PY" sz="2000" b="1">
                          <a:solidFill>
                            <a:srgbClr val="FFFFFF"/>
                          </a:solidFill>
                          <a:latin typeface="Arial" panose="020B0604020202020204" pitchFamily="34" charset="0"/>
                        </a:rPr>
                        <a:t>Cobertura</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173F3B"/>
                    </a:solidFill>
                  </a:tcPr>
                </a:tc>
                <a:tc>
                  <a:txBody>
                    <a:bodyPr/>
                    <a:lstStyle/>
                    <a:p>
                      <a:pPr algn="ctr">
                        <a:spcAft>
                          <a:spcPts val="0"/>
                        </a:spcAft>
                      </a:pPr>
                      <a:r>
                        <a:rPr lang="es-PY" sz="2000" b="1">
                          <a:solidFill>
                            <a:srgbClr val="FFFFFF"/>
                          </a:solidFill>
                          <a:latin typeface="Arial" panose="020B0604020202020204" pitchFamily="34" charset="0"/>
                        </a:rPr>
                        <a:t>Cantidad</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173F3B"/>
                    </a:solidFill>
                  </a:tcPr>
                </a:tc>
                <a:tc>
                  <a:txBody>
                    <a:bodyPr/>
                    <a:lstStyle/>
                    <a:p>
                      <a:pPr algn="ctr">
                        <a:spcAft>
                          <a:spcPts val="0"/>
                        </a:spcAft>
                      </a:pPr>
                      <a:r>
                        <a:rPr lang="es-PY" sz="2000" b="1">
                          <a:solidFill>
                            <a:srgbClr val="FFFFFF"/>
                          </a:solidFill>
                          <a:latin typeface="Arial" panose="020B0604020202020204" pitchFamily="34" charset="0"/>
                        </a:rPr>
                        <a:t>Información principal</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173F3B"/>
                    </a:solidFill>
                  </a:tcPr>
                </a:tc>
                <a:extLst>
                  <a:ext uri="{0D108BD9-81ED-4DB2-BD59-A6C34878D82A}">
                    <a16:rowId xmlns:a16="http://schemas.microsoft.com/office/drawing/2014/main" val="2912574633"/>
                  </a:ext>
                </a:extLst>
              </a:tr>
              <a:tr h="665480">
                <a:tc>
                  <a:txBody>
                    <a:bodyPr/>
                    <a:lstStyle/>
                    <a:p>
                      <a:pPr algn="l">
                        <a:spcAft>
                          <a:spcPts val="0"/>
                        </a:spcAft>
                      </a:pPr>
                      <a:r>
                        <a:rPr lang="es-PY" sz="2000" b="0">
                          <a:solidFill>
                            <a:srgbClr val="173F3B"/>
                          </a:solidFill>
                          <a:latin typeface="Arial" panose="020B0604020202020204" pitchFamily="34" charset="0"/>
                        </a:rPr>
                        <a:t>Nacional</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2000" b="0">
                          <a:solidFill>
                            <a:srgbClr val="173F3B"/>
                          </a:solidFill>
                          <a:latin typeface="Arial" panose="020B0604020202020204" pitchFamily="34" charset="0"/>
                        </a:rPr>
                        <a:t>5.493 víctimas</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2000" b="0">
                          <a:solidFill>
                            <a:srgbClr val="173F3B"/>
                          </a:solidFill>
                          <a:latin typeface="Arial" panose="020B0604020202020204" pitchFamily="34" charset="0"/>
                        </a:rPr>
                        <a:t>Sexo, edad y gravedad</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extLst>
                  <a:ext uri="{0D108BD9-81ED-4DB2-BD59-A6C34878D82A}">
                    <a16:rowId xmlns:a16="http://schemas.microsoft.com/office/drawing/2014/main" val="2805887896"/>
                  </a:ext>
                </a:extLst>
              </a:tr>
              <a:tr h="665480">
                <a:tc>
                  <a:txBody>
                    <a:bodyPr/>
                    <a:lstStyle/>
                    <a:p>
                      <a:pPr algn="l">
                        <a:spcAft>
                          <a:spcPts val="0"/>
                        </a:spcAft>
                      </a:pPr>
                      <a:r>
                        <a:rPr lang="es-PY" sz="2000" b="0">
                          <a:solidFill>
                            <a:srgbClr val="173F3B"/>
                          </a:solidFill>
                          <a:latin typeface="Arial" panose="020B0604020202020204" pitchFamily="34" charset="0"/>
                        </a:rPr>
                        <a:t>Territorial</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2000" b="0">
                          <a:solidFill>
                            <a:srgbClr val="173F3B"/>
                          </a:solidFill>
                          <a:latin typeface="Arial" panose="020B0604020202020204" pitchFamily="34" charset="0"/>
                        </a:rPr>
                        <a:t>1.491 víctimas</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2000" b="0">
                          <a:solidFill>
                            <a:srgbClr val="173F3B"/>
                          </a:solidFill>
                          <a:latin typeface="Arial" panose="020B0604020202020204" pitchFamily="34" charset="0"/>
                        </a:rPr>
                        <a:t>Asunción, Central e Interior</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extLst>
                  <a:ext uri="{0D108BD9-81ED-4DB2-BD59-A6C34878D82A}">
                    <a16:rowId xmlns:a16="http://schemas.microsoft.com/office/drawing/2014/main" val="3078307065"/>
                  </a:ext>
                </a:extLst>
              </a:tr>
              <a:tr h="665480">
                <a:tc>
                  <a:txBody>
                    <a:bodyPr/>
                    <a:lstStyle/>
                    <a:p>
                      <a:pPr algn="l">
                        <a:spcAft>
                          <a:spcPts val="0"/>
                        </a:spcAft>
                      </a:pPr>
                      <a:r>
                        <a:rPr lang="es-PY" sz="2000" b="0">
                          <a:solidFill>
                            <a:srgbClr val="173F3B"/>
                          </a:solidFill>
                          <a:latin typeface="Arial" panose="020B0604020202020204" pitchFamily="34" charset="0"/>
                        </a:rPr>
                        <a:t>Vehicular</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2000" b="0">
                          <a:solidFill>
                            <a:srgbClr val="173F3B"/>
                          </a:solidFill>
                          <a:latin typeface="Arial" panose="020B0604020202020204" pitchFamily="34" charset="0"/>
                        </a:rPr>
                        <a:t>1.324 víctimas</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ES" sz="2000" b="0">
                          <a:solidFill>
                            <a:srgbClr val="173F3B"/>
                          </a:solidFill>
                          <a:latin typeface="Arial" panose="020B0604020202020204" pitchFamily="34" charset="0"/>
                        </a:rPr>
                        <a:t>Roles de usuarios y gravedad</a:t>
                      </a:r>
                      <a:endParaRPr lang="es-PY" sz="2000" b="0">
                        <a:solidFill>
                          <a:srgbClr val="173F3B"/>
                        </a:solidFill>
                        <a:latin typeface="Arial" panose="020B0604020202020204" pitchFamily="34" charset="0"/>
                      </a:endParaRP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extLst>
                  <a:ext uri="{0D108BD9-81ED-4DB2-BD59-A6C34878D82A}">
                    <a16:rowId xmlns:a16="http://schemas.microsoft.com/office/drawing/2014/main" val="3015591439"/>
                  </a:ext>
                </a:extLst>
              </a:tr>
              <a:tr h="665480">
                <a:tc>
                  <a:txBody>
                    <a:bodyPr/>
                    <a:lstStyle/>
                    <a:p>
                      <a:pPr algn="l">
                        <a:spcAft>
                          <a:spcPts val="0"/>
                        </a:spcAft>
                      </a:pPr>
                      <a:r>
                        <a:rPr lang="es-PY" sz="2000" b="0">
                          <a:solidFill>
                            <a:srgbClr val="173F3B"/>
                          </a:solidFill>
                          <a:latin typeface="Arial" panose="020B0604020202020204" pitchFamily="34" charset="0"/>
                        </a:rPr>
                        <a:t>Siniestros</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2000" b="0">
                          <a:solidFill>
                            <a:srgbClr val="173F3B"/>
                          </a:solidFill>
                          <a:latin typeface="Arial" panose="020B0604020202020204" pitchFamily="34" charset="0"/>
                        </a:rPr>
                        <a:t>1.942 hechos</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ES" sz="2000" b="0">
                          <a:solidFill>
                            <a:srgbClr val="173F3B"/>
                          </a:solidFill>
                          <a:latin typeface="Arial" panose="020B0604020202020204" pitchFamily="34" charset="0"/>
                        </a:rPr>
                        <a:t>Meses y rutas, entre otras variables</a:t>
                      </a:r>
                      <a:endParaRPr lang="es-PY" sz="2000" b="0">
                        <a:solidFill>
                          <a:srgbClr val="173F3B"/>
                        </a:solidFill>
                        <a:latin typeface="Arial" panose="020B0604020202020204" pitchFamily="34" charset="0"/>
                      </a:endParaRP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extLst>
                  <a:ext uri="{0D108BD9-81ED-4DB2-BD59-A6C34878D82A}">
                    <a16:rowId xmlns:a16="http://schemas.microsoft.com/office/drawing/2014/main" val="3753049086"/>
                  </a:ext>
                </a:extLst>
              </a:tr>
            </a:tbl>
          </a:graphicData>
        </a:graphic>
      </p:graphicFrame>
      <p:sp>
        <p:nvSpPr>
          <p:cNvPr id="6" name="CuadroTexto 5">
            <a:extLst>
              <a:ext uri="{FF2B5EF4-FFF2-40B4-BE49-F238E27FC236}">
                <a16:creationId xmlns:a16="http://schemas.microsoft.com/office/drawing/2014/main" id="{00982DFF-1F01-B4E1-7063-92AB4EB5EB66}"/>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ES" sz="1050">
                <a:solidFill>
                  <a:srgbClr val="5B716A"/>
                </a:solidFill>
                <a:latin typeface="Arial" panose="020B0604020202020204" pitchFamily="34" charset="0"/>
              </a:rPr>
              <a:t>Fuentes: INE 2021, cuadros 12.2.1, 12.2.2, 12.2.5, 12.2.6 y 12.2.10. DINATRAN 2021.</a:t>
            </a:r>
            <a:endParaRPr lang="es-PY" sz="1050">
              <a:solidFill>
                <a:srgbClr val="5B716A"/>
              </a:solidFill>
              <a:latin typeface="Arial" panose="020B0604020202020204" pitchFamily="34" charset="0"/>
            </a:endParaRPr>
          </a:p>
        </p:txBody>
      </p:sp>
      <p:sp>
        <p:nvSpPr>
          <p:cNvPr id="7" name="CuadroTexto 6">
            <a:extLst>
              <a:ext uri="{FF2B5EF4-FFF2-40B4-BE49-F238E27FC236}">
                <a16:creationId xmlns:a16="http://schemas.microsoft.com/office/drawing/2014/main" id="{5863B441-63C1-3A01-CDDD-DFF72C984940}"/>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5B716A"/>
                </a:solidFill>
                <a:latin typeface="Arial" panose="020B0604020202020204" pitchFamily="34" charset="0"/>
              </a:rPr>
              <a:t>3</a:t>
            </a:r>
          </a:p>
        </p:txBody>
      </p:sp>
    </p:spTree>
    <p:extLst>
      <p:ext uri="{BB962C8B-B14F-4D97-AF65-F5344CB8AC3E}">
        <p14:creationId xmlns:p14="http://schemas.microsoft.com/office/powerpoint/2010/main" val="1930771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08F538F-33B8-307B-54D1-E72B7230DF87}"/>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es-ES" sz="3200" b="1">
                <a:solidFill>
                  <a:srgbClr val="173F3B"/>
                </a:solidFill>
                <a:latin typeface="Arial" panose="020B0604020202020204" pitchFamily="34" charset="0"/>
              </a:rPr>
              <a:t>Preparación de datos y correcciones</a:t>
            </a:r>
            <a:endParaRPr lang="es-PY" sz="3200" b="1">
              <a:solidFill>
                <a:srgbClr val="173F3B"/>
              </a:solidFill>
              <a:latin typeface="Arial" panose="020B0604020202020204" pitchFamily="34" charset="0"/>
            </a:endParaRPr>
          </a:p>
        </p:txBody>
      </p:sp>
      <p:sp>
        <p:nvSpPr>
          <p:cNvPr id="3" name="CuadroTexto 2">
            <a:extLst>
              <a:ext uri="{FF2B5EF4-FFF2-40B4-BE49-F238E27FC236}">
                <a16:creationId xmlns:a16="http://schemas.microsoft.com/office/drawing/2014/main" id="{714A53C3-8028-28F8-BB00-9AFB5F139E04}"/>
              </a:ext>
            </a:extLst>
          </p:cNvPr>
          <p:cNvSpPr txBox="1"/>
          <p:nvPr/>
        </p:nvSpPr>
        <p:spPr>
          <a:xfrm>
            <a:off x="609600" y="1574800"/>
            <a:ext cx="6197600" cy="2717800"/>
          </a:xfrm>
          <a:prstGeom prst="rect">
            <a:avLst/>
          </a:prstGeom>
          <a:noFill/>
        </p:spPr>
        <p:txBody>
          <a:bodyPr vert="horz" wrap="square" lIns="0" tIns="0" rIns="0" bIns="0" rtlCol="0">
            <a:noAutofit/>
          </a:bodyPr>
          <a:lstStyle/>
          <a:p>
            <a:pPr>
              <a:spcAft>
                <a:spcPts val="400"/>
              </a:spcAft>
            </a:pPr>
            <a:r>
              <a:rPr lang="es-ES" sz="2400">
                <a:solidFill>
                  <a:srgbClr val="173F3B"/>
                </a:solidFill>
                <a:latin typeface="Arial" panose="020B0604020202020204" pitchFamily="34" charset="0"/>
              </a:rPr>
              <a:t>1. Normalizamos formatos y categorías.
2. Comprobamos sumas y duplicados.
3. Expandimos las frecuencias de
    sexo, edad y gravedad.</a:t>
            </a:r>
            <a:endParaRPr lang="es-PY" sz="2400">
              <a:solidFill>
                <a:srgbClr val="173F3B"/>
              </a:solidFill>
              <a:latin typeface="Arial" panose="020B0604020202020204" pitchFamily="34" charset="0"/>
            </a:endParaRPr>
          </a:p>
        </p:txBody>
      </p:sp>
      <p:sp>
        <p:nvSpPr>
          <p:cNvPr id="4" name="CuadroTexto 3">
            <a:extLst>
              <a:ext uri="{FF2B5EF4-FFF2-40B4-BE49-F238E27FC236}">
                <a16:creationId xmlns:a16="http://schemas.microsoft.com/office/drawing/2014/main" id="{86A6E4BD-662D-06CE-D4C4-EF81CEEAF6C9}"/>
              </a:ext>
            </a:extLst>
          </p:cNvPr>
          <p:cNvSpPr txBox="1"/>
          <p:nvPr/>
        </p:nvSpPr>
        <p:spPr>
          <a:xfrm>
            <a:off x="7048500" y="4965700"/>
            <a:ext cx="4445000" cy="457200"/>
          </a:xfrm>
          <a:prstGeom prst="rect">
            <a:avLst/>
          </a:prstGeom>
          <a:noFill/>
        </p:spPr>
        <p:txBody>
          <a:bodyPr vert="horz" wrap="square" lIns="0" tIns="0" rIns="0" bIns="0" rtlCol="0">
            <a:noAutofit/>
          </a:bodyPr>
          <a:lstStyle/>
          <a:p>
            <a:pPr algn="ctr">
              <a:spcAft>
                <a:spcPts val="400"/>
              </a:spcAft>
            </a:pPr>
            <a:r>
              <a:rPr lang="es-PY" sz="2400" b="1">
                <a:solidFill>
                  <a:srgbClr val="173F3B"/>
                </a:solidFill>
                <a:latin typeface="Arial" panose="020B0604020202020204" pitchFamily="34" charset="0"/>
              </a:rPr>
              <a:t>353 edades ignoradas</a:t>
            </a:r>
          </a:p>
        </p:txBody>
      </p:sp>
      <p:sp>
        <p:nvSpPr>
          <p:cNvPr id="5" name="CuadroTexto 4">
            <a:extLst>
              <a:ext uri="{FF2B5EF4-FFF2-40B4-BE49-F238E27FC236}">
                <a16:creationId xmlns:a16="http://schemas.microsoft.com/office/drawing/2014/main" id="{47EE708E-6BBF-C4F1-BCF2-AE8585AD2EDA}"/>
              </a:ext>
            </a:extLst>
          </p:cNvPr>
          <p:cNvSpPr txBox="1"/>
          <p:nvPr/>
        </p:nvSpPr>
        <p:spPr>
          <a:xfrm>
            <a:off x="6680200" y="5486400"/>
            <a:ext cx="4953000" cy="698500"/>
          </a:xfrm>
          <a:prstGeom prst="rect">
            <a:avLst/>
          </a:prstGeom>
          <a:noFill/>
        </p:spPr>
        <p:txBody>
          <a:bodyPr vert="horz" wrap="square" lIns="0" tIns="0" rIns="0" bIns="0" rtlCol="0">
            <a:noAutofit/>
          </a:bodyPr>
          <a:lstStyle/>
          <a:p>
            <a:pPr algn="ctr">
              <a:spcAft>
                <a:spcPts val="400"/>
              </a:spcAft>
            </a:pPr>
            <a:r>
              <a:rPr lang="es-ES" sz="1900">
                <a:solidFill>
                  <a:srgbClr val="173F3B"/>
                </a:solidFill>
                <a:latin typeface="Arial" panose="020B0604020202020204" pitchFamily="34" charset="0"/>
              </a:rPr>
              <a:t>Se conservan en el modelo.
Se excluyen de los contrastes de edad.</a:t>
            </a:r>
            <a:endParaRPr lang="es-PY" sz="1900">
              <a:solidFill>
                <a:srgbClr val="173F3B"/>
              </a:solidFill>
              <a:latin typeface="Arial" panose="020B0604020202020204" pitchFamily="34" charset="0"/>
            </a:endParaRPr>
          </a:p>
        </p:txBody>
      </p:sp>
      <p:sp>
        <p:nvSpPr>
          <p:cNvPr id="6" name="CuadroTexto 5">
            <a:extLst>
              <a:ext uri="{FF2B5EF4-FFF2-40B4-BE49-F238E27FC236}">
                <a16:creationId xmlns:a16="http://schemas.microsoft.com/office/drawing/2014/main" id="{4FBB7A30-FE2B-4432-6150-0E535BC9B149}"/>
              </a:ext>
            </a:extLst>
          </p:cNvPr>
          <p:cNvSpPr txBox="1"/>
          <p:nvPr/>
        </p:nvSpPr>
        <p:spPr>
          <a:xfrm>
            <a:off x="609600" y="4635500"/>
            <a:ext cx="6070600" cy="1155700"/>
          </a:xfrm>
          <a:prstGeom prst="rect">
            <a:avLst/>
          </a:prstGeom>
          <a:noFill/>
        </p:spPr>
        <p:txBody>
          <a:bodyPr vert="horz" wrap="square" lIns="0" tIns="0" rIns="0" bIns="0" rtlCol="0">
            <a:noAutofit/>
          </a:bodyPr>
          <a:lstStyle/>
          <a:p>
            <a:pPr>
              <a:spcAft>
                <a:spcPts val="400"/>
              </a:spcAft>
            </a:pPr>
            <a:r>
              <a:rPr lang="es-ES" sz="2900" b="1">
                <a:solidFill>
                  <a:srgbClr val="173F3B"/>
                </a:solidFill>
                <a:latin typeface="Arial" panose="020B0604020202020204" pitchFamily="34" charset="0"/>
              </a:rPr>
              <a:t>5.493 filas expandidas, pero solo 16 perfiles de sexo y edad</a:t>
            </a:r>
            <a:endParaRPr lang="es-PY" sz="2900" b="1">
              <a:solidFill>
                <a:srgbClr val="173F3B"/>
              </a:solidFill>
              <a:latin typeface="Arial" panose="020B0604020202020204" pitchFamily="34" charset="0"/>
            </a:endParaRPr>
          </a:p>
        </p:txBody>
      </p:sp>
      <p:graphicFrame>
        <p:nvGraphicFramePr>
          <p:cNvPr id="7" name="CHART_2"/>
          <p:cNvGraphicFramePr/>
          <p:nvPr/>
        </p:nvGraphicFramePr>
        <p:xfrm>
          <a:off x="7289800" y="1473200"/>
          <a:ext cx="3937000" cy="3251200"/>
        </p:xfrm>
        <a:graphic>
          <a:graphicData uri="http://schemas.openxmlformats.org/drawingml/2006/chart">
            <ns2:chart xmlns:ns2="http://schemas.openxmlformats.org/drawingml/2006/chart" r:id="rIdGraph2"/>
          </a:graphicData>
        </a:graphic>
      </p:graphicFrame>
      <p:sp>
        <p:nvSpPr>
          <p:cNvPr id="8" name="CuadroTexto 7">
            <a:extLst>
              <a:ext uri="{FF2B5EF4-FFF2-40B4-BE49-F238E27FC236}">
                <a16:creationId xmlns:a16="http://schemas.microsoft.com/office/drawing/2014/main" id="{B3151D6A-570B-6662-C075-3A6D385E44F1}"/>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ES" sz="1050">
                <a:solidFill>
                  <a:srgbClr val="5B716A"/>
                </a:solidFill>
                <a:latin typeface="Arial" panose="020B0604020202020204" pitchFamily="34" charset="0"/>
              </a:rPr>
              <a:t>Fuente: bitácora de Fase 1 y correcciones ejecutadas de Fase 3.</a:t>
            </a:r>
            <a:endParaRPr lang="es-PY" sz="1050">
              <a:solidFill>
                <a:srgbClr val="5B716A"/>
              </a:solidFill>
              <a:latin typeface="Arial" panose="020B0604020202020204" pitchFamily="34" charset="0"/>
            </a:endParaRPr>
          </a:p>
        </p:txBody>
      </p:sp>
      <p:sp>
        <p:nvSpPr>
          <p:cNvPr id="9" name="CuadroTexto 8">
            <a:extLst>
              <a:ext uri="{FF2B5EF4-FFF2-40B4-BE49-F238E27FC236}">
                <a16:creationId xmlns:a16="http://schemas.microsoft.com/office/drawing/2014/main" id="{589F56DB-45C4-7A86-2A09-1792850D9D18}"/>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5B716A"/>
                </a:solidFill>
                <a:latin typeface="Arial" panose="020B0604020202020204" pitchFamily="34" charset="0"/>
              </a:rPr>
              <a:t>4</a:t>
            </a:r>
          </a:p>
        </p:txBody>
      </p:sp>
    </p:spTree>
    <p:extLst>
      <p:ext uri="{BB962C8B-B14F-4D97-AF65-F5344CB8AC3E}">
        <p14:creationId xmlns:p14="http://schemas.microsoft.com/office/powerpoint/2010/main" val="3648663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C4EE4C3-1BDA-1F7E-4326-984AFA8E422F}"/>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es-ES" sz="3200" b="1">
                <a:solidFill>
                  <a:srgbClr val="173F3B"/>
                </a:solidFill>
                <a:latin typeface="Arial" panose="020B0604020202020204" pitchFamily="34" charset="0"/>
              </a:rPr>
              <a:t>Fase 1: cómo se distribuyen los siniestros</a:t>
            </a:r>
            <a:endParaRPr lang="es-PY" sz="3200" b="1">
              <a:solidFill>
                <a:srgbClr val="173F3B"/>
              </a:solidFill>
              <a:latin typeface="Arial" panose="020B0604020202020204" pitchFamily="34" charset="0"/>
            </a:endParaRPr>
          </a:p>
        </p:txBody>
      </p:sp>
      <p:sp>
        <p:nvSpPr>
          <p:cNvPr id="3" name="CuadroTexto 2">
            <a:extLst>
              <a:ext uri="{FF2B5EF4-FFF2-40B4-BE49-F238E27FC236}">
                <a16:creationId xmlns:a16="http://schemas.microsoft.com/office/drawing/2014/main" id="{8387E2FC-5156-C744-805A-15BCCC799B93}"/>
              </a:ext>
            </a:extLst>
          </p:cNvPr>
          <p:cNvSpPr txBox="1"/>
          <p:nvPr/>
        </p:nvSpPr>
        <p:spPr>
          <a:xfrm>
            <a:off x="609600" y="1308100"/>
            <a:ext cx="6794500" cy="381000"/>
          </a:xfrm>
          <a:prstGeom prst="rect">
            <a:avLst/>
          </a:prstGeom>
          <a:noFill/>
        </p:spPr>
        <p:txBody>
          <a:bodyPr vert="horz" wrap="square" lIns="0" tIns="0" rIns="0" bIns="0" rtlCol="0">
            <a:noAutofit/>
          </a:bodyPr>
          <a:lstStyle/>
          <a:p>
            <a:pPr>
              <a:spcAft>
                <a:spcPts val="400"/>
              </a:spcAft>
            </a:pPr>
            <a:r>
              <a:rPr lang="es-PY" sz="2200" b="1">
                <a:solidFill>
                  <a:srgbClr val="173F3B"/>
                </a:solidFill>
                <a:latin typeface="Arial" panose="020B0604020202020204" pitchFamily="34" charset="0"/>
              </a:rPr>
              <a:t>Siniestros por mes</a:t>
            </a:r>
          </a:p>
        </p:txBody>
      </p:sp>
      <p:sp>
        <p:nvSpPr>
          <p:cNvPr id="4" name="CuadroTexto 3">
            <a:extLst>
              <a:ext uri="{FF2B5EF4-FFF2-40B4-BE49-F238E27FC236}">
                <a16:creationId xmlns:a16="http://schemas.microsoft.com/office/drawing/2014/main" id="{BC658675-E37A-CA58-D3A3-9BA336C7AD81}"/>
              </a:ext>
            </a:extLst>
          </p:cNvPr>
          <p:cNvSpPr txBox="1"/>
          <p:nvPr/>
        </p:nvSpPr>
        <p:spPr>
          <a:xfrm>
            <a:off x="7874000" y="1308100"/>
            <a:ext cx="3746500" cy="685800"/>
          </a:xfrm>
          <a:prstGeom prst="rect">
            <a:avLst/>
          </a:prstGeom>
          <a:noFill/>
        </p:spPr>
        <p:txBody>
          <a:bodyPr vert="horz" wrap="square" lIns="0" tIns="0" rIns="0" bIns="0" rtlCol="0">
            <a:noAutofit/>
          </a:bodyPr>
          <a:lstStyle/>
          <a:p>
            <a:pPr>
              <a:spcAft>
                <a:spcPts val="400"/>
              </a:spcAft>
            </a:pPr>
            <a:r>
              <a:rPr lang="es-ES" sz="2200" b="1">
                <a:solidFill>
                  <a:srgbClr val="173F3B"/>
                </a:solidFill>
                <a:latin typeface="Arial" panose="020B0604020202020204" pitchFamily="34" charset="0"/>
              </a:rPr>
              <a:t>Tres rutas con más registros</a:t>
            </a:r>
            <a:endParaRPr lang="es-PY" sz="2200" b="1">
              <a:solidFill>
                <a:srgbClr val="173F3B"/>
              </a:solidFill>
              <a:latin typeface="Arial" panose="020B0604020202020204" pitchFamily="34" charset="0"/>
            </a:endParaRPr>
          </a:p>
        </p:txBody>
      </p:sp>
      <p:sp>
        <p:nvSpPr>
          <p:cNvPr id="5" name="CuadroTexto 4">
            <a:extLst>
              <a:ext uri="{FF2B5EF4-FFF2-40B4-BE49-F238E27FC236}">
                <a16:creationId xmlns:a16="http://schemas.microsoft.com/office/drawing/2014/main" id="{C5F5668E-9717-C906-F0A2-8F358362EAA5}"/>
              </a:ext>
            </a:extLst>
          </p:cNvPr>
          <p:cNvSpPr txBox="1"/>
          <p:nvPr/>
        </p:nvSpPr>
        <p:spPr>
          <a:xfrm>
            <a:off x="609600" y="5727700"/>
            <a:ext cx="10972800" cy="431800"/>
          </a:xfrm>
          <a:prstGeom prst="rect">
            <a:avLst/>
          </a:prstGeom>
          <a:noFill/>
        </p:spPr>
        <p:txBody>
          <a:bodyPr vert="horz" wrap="square" lIns="0" tIns="0" rIns="0" bIns="0" rtlCol="0">
            <a:noAutofit/>
          </a:bodyPr>
          <a:lstStyle/>
          <a:p>
            <a:pPr>
              <a:spcAft>
                <a:spcPts val="400"/>
              </a:spcAft>
            </a:pPr>
            <a:r>
              <a:rPr lang="es-ES" sz="2300" b="1">
                <a:solidFill>
                  <a:srgbClr val="173F3B"/>
                </a:solidFill>
                <a:latin typeface="Arial" panose="020B0604020202020204" pitchFamily="34" charset="0"/>
              </a:rPr>
              <a:t>1.942 siniestros en 2021. Octubre: 201. Marzo: 124.</a:t>
            </a:r>
            <a:endParaRPr lang="es-PY" sz="2300" b="1">
              <a:solidFill>
                <a:srgbClr val="173F3B"/>
              </a:solidFill>
              <a:latin typeface="Arial" panose="020B0604020202020204" pitchFamily="34" charset="0"/>
            </a:endParaRPr>
          </a:p>
        </p:txBody>
      </p:sp>
      <p:graphicFrame>
        <p:nvGraphicFramePr>
          <p:cNvPr id="6" name="CHART_3"/>
          <p:cNvGraphicFramePr/>
          <p:nvPr/>
        </p:nvGraphicFramePr>
        <p:xfrm>
          <a:off x="508000" y="1866900"/>
          <a:ext cx="7048500" cy="3708400"/>
        </p:xfrm>
        <a:graphic>
          <a:graphicData uri="http://schemas.openxmlformats.org/drawingml/2006/chart">
            <ns2:chart xmlns:ns2="http://schemas.openxmlformats.org/drawingml/2006/chart" r:id="rIdGraph3"/>
          </a:graphicData>
        </a:graphic>
      </p:graphicFrame>
      <p:graphicFrame>
        <p:nvGraphicFramePr>
          <p:cNvPr id="7" name="CHART_4"/>
          <p:cNvGraphicFramePr/>
          <p:nvPr/>
        </p:nvGraphicFramePr>
        <p:xfrm>
          <a:off x="7734300" y="2209800"/>
          <a:ext cx="3873500" cy="3302000"/>
        </p:xfrm>
        <a:graphic>
          <a:graphicData uri="http://schemas.openxmlformats.org/drawingml/2006/chart">
            <ns2:chart xmlns:ns2="http://schemas.openxmlformats.org/drawingml/2006/chart" r:id="rIdGraph4"/>
          </a:graphicData>
        </a:graphic>
      </p:graphicFrame>
      <p:sp>
        <p:nvSpPr>
          <p:cNvPr id="8" name="CuadroTexto 7">
            <a:extLst>
              <a:ext uri="{FF2B5EF4-FFF2-40B4-BE49-F238E27FC236}">
                <a16:creationId xmlns:a16="http://schemas.microsoft.com/office/drawing/2014/main" id="{F038CF39-3F1A-0B0C-6561-62B9EC8EB115}"/>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ES" sz="1050">
                <a:solidFill>
                  <a:srgbClr val="5B716A"/>
                </a:solidFill>
                <a:latin typeface="Arial" panose="020B0604020202020204" pitchFamily="34" charset="0"/>
              </a:rPr>
              <a:t>Fuentes: INE 2021, cuadros 12.2.2 y 12.2.9. Central e Interior. Son conteos, no riesgo por exposición.</a:t>
            </a:r>
            <a:endParaRPr lang="es-PY" sz="1050">
              <a:solidFill>
                <a:srgbClr val="5B716A"/>
              </a:solidFill>
              <a:latin typeface="Arial" panose="020B0604020202020204" pitchFamily="34" charset="0"/>
            </a:endParaRPr>
          </a:p>
        </p:txBody>
      </p:sp>
      <p:sp>
        <p:nvSpPr>
          <p:cNvPr id="9" name="CuadroTexto 8">
            <a:extLst>
              <a:ext uri="{FF2B5EF4-FFF2-40B4-BE49-F238E27FC236}">
                <a16:creationId xmlns:a16="http://schemas.microsoft.com/office/drawing/2014/main" id="{C36E54BB-CA58-A8E7-7A24-8E1D88061E08}"/>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5B716A"/>
                </a:solidFill>
                <a:latin typeface="Arial" panose="020B0604020202020204" pitchFamily="34" charset="0"/>
              </a:rPr>
              <a:t>5</a:t>
            </a:r>
          </a:p>
        </p:txBody>
      </p:sp>
    </p:spTree>
    <p:extLst>
      <p:ext uri="{BB962C8B-B14F-4D97-AF65-F5344CB8AC3E}">
        <p14:creationId xmlns:p14="http://schemas.microsoft.com/office/powerpoint/2010/main" val="1653186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63658FF-AFF7-547D-DBC1-8B7A3D778F37}"/>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es-ES" sz="3200" b="1">
                <a:solidFill>
                  <a:srgbClr val="173F3B"/>
                </a:solidFill>
                <a:latin typeface="Arial" panose="020B0604020202020204" pitchFamily="34" charset="0"/>
              </a:rPr>
              <a:t>Fase 1: diferencias por sexo y edad</a:t>
            </a:r>
            <a:endParaRPr lang="es-PY" sz="3200" b="1">
              <a:solidFill>
                <a:srgbClr val="173F3B"/>
              </a:solidFill>
              <a:latin typeface="Arial" panose="020B0604020202020204" pitchFamily="34" charset="0"/>
            </a:endParaRPr>
          </a:p>
        </p:txBody>
      </p:sp>
      <p:sp>
        <p:nvSpPr>
          <p:cNvPr id="3" name="CuadroTexto 2">
            <a:extLst>
              <a:ext uri="{FF2B5EF4-FFF2-40B4-BE49-F238E27FC236}">
                <a16:creationId xmlns:a16="http://schemas.microsoft.com/office/drawing/2014/main" id="{E50F2D06-648C-7CF0-1D58-B32B4D830B74}"/>
              </a:ext>
            </a:extLst>
          </p:cNvPr>
          <p:cNvSpPr txBox="1"/>
          <p:nvPr/>
        </p:nvSpPr>
        <p:spPr>
          <a:xfrm>
            <a:off x="609600" y="1333500"/>
            <a:ext cx="4318000" cy="368300"/>
          </a:xfrm>
          <a:prstGeom prst="rect">
            <a:avLst/>
          </a:prstGeom>
          <a:noFill/>
        </p:spPr>
        <p:txBody>
          <a:bodyPr vert="horz" wrap="square" lIns="0" tIns="0" rIns="0" bIns="0" rtlCol="0">
            <a:noAutofit/>
          </a:bodyPr>
          <a:lstStyle/>
          <a:p>
            <a:pPr>
              <a:spcAft>
                <a:spcPts val="400"/>
              </a:spcAft>
            </a:pPr>
            <a:r>
              <a:rPr lang="es-PY" sz="2200" b="1">
                <a:solidFill>
                  <a:srgbClr val="173F3B"/>
                </a:solidFill>
                <a:latin typeface="Arial" panose="020B0604020202020204" pitchFamily="34" charset="0"/>
              </a:rPr>
              <a:t>Por sexo</a:t>
            </a:r>
          </a:p>
        </p:txBody>
      </p:sp>
      <p:sp>
        <p:nvSpPr>
          <p:cNvPr id="4" name="CuadroTexto 3">
            <a:extLst>
              <a:ext uri="{FF2B5EF4-FFF2-40B4-BE49-F238E27FC236}">
                <a16:creationId xmlns:a16="http://schemas.microsoft.com/office/drawing/2014/main" id="{3A55AC40-5842-2C66-7FC8-AE7BA0F3768D}"/>
              </a:ext>
            </a:extLst>
          </p:cNvPr>
          <p:cNvSpPr txBox="1"/>
          <p:nvPr/>
        </p:nvSpPr>
        <p:spPr>
          <a:xfrm>
            <a:off x="5588000" y="1333500"/>
            <a:ext cx="5969000" cy="381000"/>
          </a:xfrm>
          <a:prstGeom prst="rect">
            <a:avLst/>
          </a:prstGeom>
          <a:noFill/>
        </p:spPr>
        <p:txBody>
          <a:bodyPr vert="horz" wrap="square" lIns="0" tIns="0" rIns="0" bIns="0" rtlCol="0">
            <a:noAutofit/>
          </a:bodyPr>
          <a:lstStyle/>
          <a:p>
            <a:pPr>
              <a:spcAft>
                <a:spcPts val="400"/>
              </a:spcAft>
            </a:pPr>
            <a:r>
              <a:rPr lang="es-ES" sz="2200" b="1">
                <a:solidFill>
                  <a:srgbClr val="173F3B"/>
                </a:solidFill>
                <a:latin typeface="Arial" panose="020B0604020202020204" pitchFamily="34" charset="0"/>
              </a:rPr>
              <a:t>Por grupo de edad conocido</a:t>
            </a:r>
            <a:endParaRPr lang="es-PY" sz="2200" b="1">
              <a:solidFill>
                <a:srgbClr val="173F3B"/>
              </a:solidFill>
              <a:latin typeface="Arial" panose="020B0604020202020204" pitchFamily="34" charset="0"/>
            </a:endParaRPr>
          </a:p>
        </p:txBody>
      </p:sp>
      <p:sp>
        <p:nvSpPr>
          <p:cNvPr id="5" name="CuadroTexto 4">
            <a:extLst>
              <a:ext uri="{FF2B5EF4-FFF2-40B4-BE49-F238E27FC236}">
                <a16:creationId xmlns:a16="http://schemas.microsoft.com/office/drawing/2014/main" id="{B54A0929-0DC4-3B37-951B-A1C2C1FE8D34}"/>
              </a:ext>
            </a:extLst>
          </p:cNvPr>
          <p:cNvSpPr txBox="1"/>
          <p:nvPr/>
        </p:nvSpPr>
        <p:spPr>
          <a:xfrm>
            <a:off x="609600" y="5930900"/>
            <a:ext cx="10972800" cy="457200"/>
          </a:xfrm>
          <a:prstGeom prst="rect">
            <a:avLst/>
          </a:prstGeom>
          <a:noFill/>
        </p:spPr>
        <p:txBody>
          <a:bodyPr vert="horz" wrap="square" lIns="0" tIns="0" rIns="0" bIns="0" rtlCol="0">
            <a:noAutofit/>
          </a:bodyPr>
          <a:lstStyle/>
          <a:p>
            <a:pPr>
              <a:spcAft>
                <a:spcPts val="400"/>
              </a:spcAft>
            </a:pPr>
            <a:r>
              <a:rPr lang="es-ES" sz="2100" b="1">
                <a:solidFill>
                  <a:srgbClr val="173F3B"/>
                </a:solidFill>
                <a:latin typeface="Arial" panose="020B0604020202020204" pitchFamily="34" charset="0"/>
              </a:rPr>
              <a:t>Comparar proporciones evita confundir cantidad de víctimas con gravedad.</a:t>
            </a:r>
            <a:endParaRPr lang="es-PY" sz="2100" b="1">
              <a:solidFill>
                <a:srgbClr val="173F3B"/>
              </a:solidFill>
              <a:latin typeface="Arial" panose="020B0604020202020204" pitchFamily="34" charset="0"/>
            </a:endParaRPr>
          </a:p>
        </p:txBody>
      </p:sp>
      <p:graphicFrame>
        <p:nvGraphicFramePr>
          <p:cNvPr id="6" name="CHART_5"/>
          <p:cNvGraphicFramePr/>
          <p:nvPr/>
        </p:nvGraphicFramePr>
        <p:xfrm>
          <a:off x="419100" y="2032000"/>
          <a:ext cx="4737100" cy="3429000"/>
        </p:xfrm>
        <a:graphic>
          <a:graphicData uri="http://schemas.openxmlformats.org/drawingml/2006/chart">
            <ns2:chart xmlns:ns2="http://schemas.openxmlformats.org/drawingml/2006/chart" r:id="rIdGraph5"/>
          </a:graphicData>
        </a:graphic>
      </p:graphicFrame>
      <p:graphicFrame>
        <p:nvGraphicFramePr>
          <p:cNvPr id="7" name="CHART_6"/>
          <p:cNvGraphicFramePr/>
          <p:nvPr/>
        </p:nvGraphicFramePr>
        <p:xfrm>
          <a:off x="5499100" y="1879600"/>
          <a:ext cx="6134100" cy="3810000"/>
        </p:xfrm>
        <a:graphic>
          <a:graphicData uri="http://schemas.openxmlformats.org/drawingml/2006/chart">
            <ns2:chart xmlns:ns2="http://schemas.openxmlformats.org/drawingml/2006/chart" r:id="rIdGraph6"/>
          </a:graphicData>
        </a:graphic>
      </p:graphicFrame>
      <p:sp>
        <p:nvSpPr>
          <p:cNvPr id="8" name="CuadroTexto 7">
            <a:extLst>
              <a:ext uri="{FF2B5EF4-FFF2-40B4-BE49-F238E27FC236}">
                <a16:creationId xmlns:a16="http://schemas.microsoft.com/office/drawing/2014/main" id="{3878F556-25E1-1D9D-224D-9030783011C5}"/>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ES" sz="1050">
                <a:solidFill>
                  <a:srgbClr val="5B716A"/>
                </a:solidFill>
                <a:latin typeface="Arial" panose="020B0604020202020204" pitchFamily="34" charset="0"/>
              </a:rPr>
              <a:t>Fuente: INE 2021, cuadro 12.2.1. Porcentaje de fallecidos entre víctimas de cada grupo.</a:t>
            </a:r>
            <a:endParaRPr lang="es-PY" sz="1050">
              <a:solidFill>
                <a:srgbClr val="5B716A"/>
              </a:solidFill>
              <a:latin typeface="Arial" panose="020B0604020202020204" pitchFamily="34" charset="0"/>
            </a:endParaRPr>
          </a:p>
        </p:txBody>
      </p:sp>
      <p:sp>
        <p:nvSpPr>
          <p:cNvPr id="9" name="CuadroTexto 8">
            <a:extLst>
              <a:ext uri="{FF2B5EF4-FFF2-40B4-BE49-F238E27FC236}">
                <a16:creationId xmlns:a16="http://schemas.microsoft.com/office/drawing/2014/main" id="{50D7AC93-3E91-4110-095E-7FCDEEDC8A39}"/>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5B716A"/>
                </a:solidFill>
                <a:latin typeface="Arial" panose="020B0604020202020204" pitchFamily="34" charset="0"/>
              </a:rPr>
              <a:t>6</a:t>
            </a:r>
          </a:p>
        </p:txBody>
      </p:sp>
    </p:spTree>
    <p:extLst>
      <p:ext uri="{BB962C8B-B14F-4D97-AF65-F5344CB8AC3E}">
        <p14:creationId xmlns:p14="http://schemas.microsoft.com/office/powerpoint/2010/main" val="3663508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2893D75-0ED4-784B-E79D-43A7A4FAA1DA}"/>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pt-BR" sz="3200" b="1">
                <a:solidFill>
                  <a:srgbClr val="173F3B"/>
                </a:solidFill>
                <a:latin typeface="Arial" panose="020B0604020202020204" pitchFamily="34" charset="0"/>
              </a:rPr>
              <a:t>Fase 1: diferencias entre zonas</a:t>
            </a:r>
            <a:endParaRPr lang="es-PY" sz="3200" b="1">
              <a:solidFill>
                <a:srgbClr val="173F3B"/>
              </a:solidFill>
              <a:latin typeface="Arial" panose="020B0604020202020204" pitchFamily="34" charset="0"/>
            </a:endParaRPr>
          </a:p>
        </p:txBody>
      </p:sp>
      <p:sp>
        <p:nvSpPr>
          <p:cNvPr id="3" name="CuadroTexto 2">
            <a:extLst>
              <a:ext uri="{FF2B5EF4-FFF2-40B4-BE49-F238E27FC236}">
                <a16:creationId xmlns:a16="http://schemas.microsoft.com/office/drawing/2014/main" id="{A9FBB3A6-AA00-DB60-E16B-F09FE6E89304}"/>
              </a:ext>
            </a:extLst>
          </p:cNvPr>
          <p:cNvSpPr txBox="1"/>
          <p:nvPr/>
        </p:nvSpPr>
        <p:spPr>
          <a:xfrm>
            <a:off x="609600" y="1333500"/>
            <a:ext cx="10972800" cy="444500"/>
          </a:xfrm>
          <a:prstGeom prst="rect">
            <a:avLst/>
          </a:prstGeom>
          <a:noFill/>
        </p:spPr>
        <p:txBody>
          <a:bodyPr vert="horz" wrap="square" lIns="0" tIns="0" rIns="0" bIns="0" rtlCol="0">
            <a:noAutofit/>
          </a:bodyPr>
          <a:lstStyle/>
          <a:p>
            <a:pPr>
              <a:spcAft>
                <a:spcPts val="400"/>
              </a:spcAft>
            </a:pPr>
            <a:r>
              <a:rPr lang="es-PY" sz="2200">
                <a:solidFill>
                  <a:srgbClr val="173F3B"/>
                </a:solidFill>
                <a:latin typeface="Arial" panose="020B0604020202020204" pitchFamily="34" charset="0"/>
              </a:rPr>
              <a:t>Fallecidos entre víctimas registradas de cada zona</a:t>
            </a:r>
          </a:p>
        </p:txBody>
      </p:sp>
      <p:sp>
        <p:nvSpPr>
          <p:cNvPr id="4" name="CuadroTexto 3">
            <a:extLst>
              <a:ext uri="{FF2B5EF4-FFF2-40B4-BE49-F238E27FC236}">
                <a16:creationId xmlns:a16="http://schemas.microsoft.com/office/drawing/2014/main" id="{7CB19EFB-FD35-DE77-E9EA-E0D28E957370}"/>
              </a:ext>
            </a:extLst>
          </p:cNvPr>
          <p:cNvSpPr txBox="1"/>
          <p:nvPr/>
        </p:nvSpPr>
        <p:spPr>
          <a:xfrm>
            <a:off x="8064500" y="2451100"/>
            <a:ext cx="3606800" cy="673100"/>
          </a:xfrm>
          <a:prstGeom prst="rect">
            <a:avLst/>
          </a:prstGeom>
          <a:noFill/>
        </p:spPr>
        <p:txBody>
          <a:bodyPr vert="horz" wrap="square" lIns="0" tIns="0" rIns="0" bIns="0" rtlCol="0">
            <a:noAutofit/>
          </a:bodyPr>
          <a:lstStyle/>
          <a:p>
            <a:pPr>
              <a:spcAft>
                <a:spcPts val="400"/>
              </a:spcAft>
            </a:pPr>
            <a:r>
              <a:rPr lang="es-PY" sz="3500" b="1">
                <a:solidFill>
                  <a:srgbClr val="BA6A3A"/>
                </a:solidFill>
                <a:latin typeface="Arial" panose="020B0604020202020204" pitchFamily="34" charset="0"/>
              </a:rPr>
              <a:t>5,26 puntos</a:t>
            </a:r>
          </a:p>
        </p:txBody>
      </p:sp>
      <p:sp>
        <p:nvSpPr>
          <p:cNvPr id="5" name="CuadroTexto 4">
            <a:extLst>
              <a:ext uri="{FF2B5EF4-FFF2-40B4-BE49-F238E27FC236}">
                <a16:creationId xmlns:a16="http://schemas.microsoft.com/office/drawing/2014/main" id="{C97EB830-1154-5FE0-F49C-FD41B4EDE899}"/>
              </a:ext>
            </a:extLst>
          </p:cNvPr>
          <p:cNvSpPr txBox="1"/>
          <p:nvPr/>
        </p:nvSpPr>
        <p:spPr>
          <a:xfrm>
            <a:off x="8064500" y="3200400"/>
            <a:ext cx="3606800" cy="977900"/>
          </a:xfrm>
          <a:prstGeom prst="rect">
            <a:avLst/>
          </a:prstGeom>
          <a:noFill/>
        </p:spPr>
        <p:txBody>
          <a:bodyPr vert="horz" wrap="square" lIns="0" tIns="0" rIns="0" bIns="0" rtlCol="0">
            <a:noAutofit/>
          </a:bodyPr>
          <a:lstStyle/>
          <a:p>
            <a:pPr>
              <a:spcAft>
                <a:spcPts val="400"/>
              </a:spcAft>
            </a:pPr>
            <a:r>
              <a:rPr lang="es-ES" sz="2300">
                <a:solidFill>
                  <a:srgbClr val="173F3B"/>
                </a:solidFill>
                <a:latin typeface="Arial" panose="020B0604020202020204" pitchFamily="34" charset="0"/>
              </a:rPr>
              <a:t>de diferencia entre Interior
y Metropolitana</a:t>
            </a:r>
            <a:endParaRPr lang="es-PY" sz="2300">
              <a:solidFill>
                <a:srgbClr val="173F3B"/>
              </a:solidFill>
              <a:latin typeface="Arial" panose="020B0604020202020204" pitchFamily="34" charset="0"/>
            </a:endParaRPr>
          </a:p>
        </p:txBody>
      </p:sp>
      <p:sp>
        <p:nvSpPr>
          <p:cNvPr id="6" name="CuadroTexto 5">
            <a:extLst>
              <a:ext uri="{FF2B5EF4-FFF2-40B4-BE49-F238E27FC236}">
                <a16:creationId xmlns:a16="http://schemas.microsoft.com/office/drawing/2014/main" id="{E4227731-203C-A752-A6F9-15B84E94B198}"/>
              </a:ext>
            </a:extLst>
          </p:cNvPr>
          <p:cNvSpPr txBox="1"/>
          <p:nvPr/>
        </p:nvSpPr>
        <p:spPr>
          <a:xfrm>
            <a:off x="8064500" y="4533900"/>
            <a:ext cx="3606800" cy="1270000"/>
          </a:xfrm>
          <a:prstGeom prst="rect">
            <a:avLst/>
          </a:prstGeom>
          <a:noFill/>
        </p:spPr>
        <p:txBody>
          <a:bodyPr vert="horz" wrap="square" lIns="0" tIns="0" rIns="0" bIns="0" rtlCol="0">
            <a:noAutofit/>
          </a:bodyPr>
          <a:lstStyle/>
          <a:p>
            <a:pPr>
              <a:spcAft>
                <a:spcPts val="400"/>
              </a:spcAft>
            </a:pPr>
            <a:r>
              <a:rPr lang="es-ES" sz="2100">
                <a:solidFill>
                  <a:srgbClr val="173F3B"/>
                </a:solidFill>
                <a:latin typeface="Arial" panose="020B0604020202020204" pitchFamily="34" charset="0"/>
              </a:rPr>
              <a:t>Metropolitana =
Asunción + Central
108 / 643 = 16,80 %</a:t>
            </a:r>
            <a:endParaRPr lang="es-PY" sz="2100">
              <a:solidFill>
                <a:srgbClr val="173F3B"/>
              </a:solidFill>
              <a:latin typeface="Arial" panose="020B0604020202020204" pitchFamily="34" charset="0"/>
            </a:endParaRPr>
          </a:p>
        </p:txBody>
      </p:sp>
      <p:sp>
        <p:nvSpPr>
          <p:cNvPr id="7" name="CuadroTexto 6">
            <a:extLst>
              <a:ext uri="{FF2B5EF4-FFF2-40B4-BE49-F238E27FC236}">
                <a16:creationId xmlns:a16="http://schemas.microsoft.com/office/drawing/2014/main" id="{0D769D73-B1CC-C9F9-C9C1-9B2467F93405}"/>
              </a:ext>
            </a:extLst>
          </p:cNvPr>
          <p:cNvSpPr txBox="1"/>
          <p:nvPr/>
        </p:nvSpPr>
        <p:spPr>
          <a:xfrm>
            <a:off x="609600" y="6045200"/>
            <a:ext cx="10972800" cy="368300"/>
          </a:xfrm>
          <a:prstGeom prst="rect">
            <a:avLst/>
          </a:prstGeom>
          <a:noFill/>
        </p:spPr>
        <p:txBody>
          <a:bodyPr vert="horz" wrap="square" lIns="0" tIns="0" rIns="0" bIns="0" rtlCol="0">
            <a:noAutofit/>
          </a:bodyPr>
          <a:lstStyle/>
          <a:p>
            <a:pPr>
              <a:spcAft>
                <a:spcPts val="400"/>
              </a:spcAft>
            </a:pPr>
            <a:r>
              <a:rPr lang="es-ES" b="1">
                <a:solidFill>
                  <a:srgbClr val="173F3B"/>
                </a:solidFill>
                <a:latin typeface="Arial" panose="020B0604020202020204" pitchFamily="34" charset="0"/>
              </a:rPr>
              <a:t>Comprobación posterior: el GLM territorial empeoró a la base en 2 de 3 cortes.</a:t>
            </a:r>
            <a:endParaRPr lang="es-PY" b="1">
              <a:solidFill>
                <a:srgbClr val="173F3B"/>
              </a:solidFill>
              <a:latin typeface="Arial" panose="020B0604020202020204" pitchFamily="34" charset="0"/>
            </a:endParaRPr>
          </a:p>
        </p:txBody>
      </p:sp>
      <p:graphicFrame>
        <p:nvGraphicFramePr>
          <p:cNvPr id="8" name="CHART_7"/>
          <p:cNvGraphicFramePr/>
          <p:nvPr/>
        </p:nvGraphicFramePr>
        <p:xfrm>
          <a:off x="469900" y="1943100"/>
          <a:ext cx="7213600" cy="3886200"/>
        </p:xfrm>
        <a:graphic>
          <a:graphicData uri="http://schemas.openxmlformats.org/drawingml/2006/chart">
            <ns2:chart xmlns:ns2="http://schemas.openxmlformats.org/drawingml/2006/chart" r:id="rIdGraph7"/>
          </a:graphicData>
        </a:graphic>
      </p:graphicFrame>
      <p:sp>
        <p:nvSpPr>
          <p:cNvPr id="9" name="CuadroTexto 8">
            <a:extLst>
              <a:ext uri="{FF2B5EF4-FFF2-40B4-BE49-F238E27FC236}">
                <a16:creationId xmlns:a16="http://schemas.microsoft.com/office/drawing/2014/main" id="{DA48E137-CD82-5691-B00F-CD6089928173}"/>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ES" sz="1050">
                <a:solidFill>
                  <a:srgbClr val="5B716A"/>
                </a:solidFill>
                <a:latin typeface="Arial" panose="020B0604020202020204" pitchFamily="34" charset="0"/>
              </a:rPr>
              <a:t>Fuente: INE 2021, cuadro 12.2.6. N = 1.491 víctimas. Cobertura diferente de la fuente nacional.</a:t>
            </a:r>
            <a:endParaRPr lang="es-PY" sz="1050">
              <a:solidFill>
                <a:srgbClr val="5B716A"/>
              </a:solidFill>
              <a:latin typeface="Arial" panose="020B0604020202020204" pitchFamily="34" charset="0"/>
            </a:endParaRPr>
          </a:p>
        </p:txBody>
      </p:sp>
      <p:sp>
        <p:nvSpPr>
          <p:cNvPr id="10" name="CuadroTexto 9">
            <a:extLst>
              <a:ext uri="{FF2B5EF4-FFF2-40B4-BE49-F238E27FC236}">
                <a16:creationId xmlns:a16="http://schemas.microsoft.com/office/drawing/2014/main" id="{1E30A3C7-8F1B-F3F9-21D8-5CC9189B29F4}"/>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5B716A"/>
                </a:solidFill>
                <a:latin typeface="Arial" panose="020B0604020202020204" pitchFamily="34" charset="0"/>
              </a:rPr>
              <a:t>7</a:t>
            </a:r>
          </a:p>
        </p:txBody>
      </p:sp>
    </p:spTree>
    <p:extLst>
      <p:ext uri="{BB962C8B-B14F-4D97-AF65-F5344CB8AC3E}">
        <p14:creationId xmlns:p14="http://schemas.microsoft.com/office/powerpoint/2010/main" val="450496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8D8229E-0419-977E-36DA-A654CCBC4D04}"/>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es-ES" sz="3200" b="1">
                <a:solidFill>
                  <a:srgbClr val="173F3B"/>
                </a:solidFill>
                <a:latin typeface="Arial" panose="020B0604020202020204" pitchFamily="34" charset="0"/>
              </a:rPr>
              <a:t>Fase 1: usuarios de motocicleta y demás usuarios</a:t>
            </a:r>
            <a:endParaRPr lang="es-PY" sz="3200" b="1">
              <a:solidFill>
                <a:srgbClr val="173F3B"/>
              </a:solidFill>
              <a:latin typeface="Arial" panose="020B0604020202020204" pitchFamily="34" charset="0"/>
            </a:endParaRPr>
          </a:p>
        </p:txBody>
      </p:sp>
      <p:sp>
        <p:nvSpPr>
          <p:cNvPr id="3" name="CuadroTexto 2">
            <a:extLst>
              <a:ext uri="{FF2B5EF4-FFF2-40B4-BE49-F238E27FC236}">
                <a16:creationId xmlns:a16="http://schemas.microsoft.com/office/drawing/2014/main" id="{4AEBBF18-AA17-DEFE-14E0-55B5A0904B5C}"/>
              </a:ext>
            </a:extLst>
          </p:cNvPr>
          <p:cNvSpPr txBox="1"/>
          <p:nvPr/>
        </p:nvSpPr>
        <p:spPr>
          <a:xfrm>
            <a:off x="609600" y="1308100"/>
            <a:ext cx="10972800" cy="482600"/>
          </a:xfrm>
          <a:prstGeom prst="rect">
            <a:avLst/>
          </a:prstGeom>
          <a:noFill/>
        </p:spPr>
        <p:txBody>
          <a:bodyPr vert="horz" wrap="square" lIns="0" tIns="0" rIns="0" bIns="0" rtlCol="0">
            <a:noAutofit/>
          </a:bodyPr>
          <a:lstStyle/>
          <a:p>
            <a:pPr>
              <a:spcAft>
                <a:spcPts val="400"/>
              </a:spcAft>
            </a:pPr>
            <a:r>
              <a:rPr lang="pt-BR" sz="2200" b="1">
                <a:solidFill>
                  <a:srgbClr val="173F3B"/>
                </a:solidFill>
                <a:latin typeface="Arial" panose="020B0604020202020204" pitchFamily="34" charset="0"/>
              </a:rPr>
              <a:t>Grupo original: 539 = 534 de motocicleta + 5 de motocarro</a:t>
            </a:r>
            <a:endParaRPr lang="es-PY" sz="2200" b="1">
              <a:solidFill>
                <a:srgbClr val="173F3B"/>
              </a:solidFill>
              <a:latin typeface="Arial" panose="020B0604020202020204" pitchFamily="34" charset="0"/>
            </a:endParaRPr>
          </a:p>
        </p:txBody>
      </p:sp>
      <p:sp>
        <p:nvSpPr>
          <p:cNvPr id="4" name="CuadroTexto 3">
            <a:extLst>
              <a:ext uri="{FF2B5EF4-FFF2-40B4-BE49-F238E27FC236}">
                <a16:creationId xmlns:a16="http://schemas.microsoft.com/office/drawing/2014/main" id="{B1DB36A7-0504-F0E4-97B3-144F7B45EA32}"/>
              </a:ext>
            </a:extLst>
          </p:cNvPr>
          <p:cNvSpPr txBox="1"/>
          <p:nvPr/>
        </p:nvSpPr>
        <p:spPr>
          <a:xfrm>
            <a:off x="7937500" y="2311400"/>
            <a:ext cx="3708400" cy="787400"/>
          </a:xfrm>
          <a:prstGeom prst="rect">
            <a:avLst/>
          </a:prstGeom>
          <a:noFill/>
        </p:spPr>
        <p:txBody>
          <a:bodyPr vert="horz" wrap="square" lIns="0" tIns="0" rIns="0" bIns="0" rtlCol="0">
            <a:noAutofit/>
          </a:bodyPr>
          <a:lstStyle/>
          <a:p>
            <a:pPr>
              <a:spcAft>
                <a:spcPts val="400"/>
              </a:spcAft>
            </a:pPr>
            <a:r>
              <a:rPr lang="es-PY" sz="4000" b="1">
                <a:solidFill>
                  <a:srgbClr val="BA6A3A"/>
                </a:solidFill>
                <a:latin typeface="Arial" panose="020B0604020202020204" pitchFamily="34" charset="0"/>
              </a:rPr>
              <a:t>RR = 1,95</a:t>
            </a:r>
          </a:p>
        </p:txBody>
      </p:sp>
      <p:sp>
        <p:nvSpPr>
          <p:cNvPr id="5" name="CuadroTexto 4">
            <a:extLst>
              <a:ext uri="{FF2B5EF4-FFF2-40B4-BE49-F238E27FC236}">
                <a16:creationId xmlns:a16="http://schemas.microsoft.com/office/drawing/2014/main" id="{67313D4D-7984-309A-28DC-800F37CD3B65}"/>
              </a:ext>
            </a:extLst>
          </p:cNvPr>
          <p:cNvSpPr txBox="1"/>
          <p:nvPr/>
        </p:nvSpPr>
        <p:spPr>
          <a:xfrm>
            <a:off x="7937500" y="3238500"/>
            <a:ext cx="3708400" cy="444500"/>
          </a:xfrm>
          <a:prstGeom prst="rect">
            <a:avLst/>
          </a:prstGeom>
          <a:noFill/>
        </p:spPr>
        <p:txBody>
          <a:bodyPr vert="horz" wrap="square" lIns="0" tIns="0" rIns="0" bIns="0" rtlCol="0">
            <a:noAutofit/>
          </a:bodyPr>
          <a:lstStyle/>
          <a:p>
            <a:pPr>
              <a:spcAft>
                <a:spcPts val="400"/>
              </a:spcAft>
            </a:pPr>
            <a:r>
              <a:rPr lang="en-US" sz="2200">
                <a:solidFill>
                  <a:srgbClr val="173F3B"/>
                </a:solidFill>
                <a:latin typeface="Arial" panose="020B0604020202020204" pitchFamily="34" charset="0"/>
              </a:rPr>
              <a:t>IC 95 %: 1,57 a 2,42</a:t>
            </a:r>
            <a:endParaRPr lang="es-PY" sz="2200">
              <a:solidFill>
                <a:srgbClr val="173F3B"/>
              </a:solidFill>
              <a:latin typeface="Arial" panose="020B0604020202020204" pitchFamily="34" charset="0"/>
            </a:endParaRPr>
          </a:p>
        </p:txBody>
      </p:sp>
      <p:sp>
        <p:nvSpPr>
          <p:cNvPr id="6" name="CuadroTexto 5">
            <a:extLst>
              <a:ext uri="{FF2B5EF4-FFF2-40B4-BE49-F238E27FC236}">
                <a16:creationId xmlns:a16="http://schemas.microsoft.com/office/drawing/2014/main" id="{73712AEF-12BF-C3A3-2ACD-EB2A8B1D4C0A}"/>
              </a:ext>
            </a:extLst>
          </p:cNvPr>
          <p:cNvSpPr txBox="1"/>
          <p:nvPr/>
        </p:nvSpPr>
        <p:spPr>
          <a:xfrm>
            <a:off x="7937500" y="4191000"/>
            <a:ext cx="3708400" cy="1143000"/>
          </a:xfrm>
          <a:prstGeom prst="rect">
            <a:avLst/>
          </a:prstGeom>
          <a:noFill/>
        </p:spPr>
        <p:txBody>
          <a:bodyPr vert="horz" wrap="square" lIns="0" tIns="0" rIns="0" bIns="0" rtlCol="0">
            <a:noAutofit/>
          </a:bodyPr>
          <a:lstStyle/>
          <a:p>
            <a:pPr>
              <a:spcAft>
                <a:spcPts val="400"/>
              </a:spcAft>
            </a:pPr>
            <a:r>
              <a:rPr lang="es-PY" sz="2300">
                <a:solidFill>
                  <a:srgbClr val="173F3B"/>
                </a:solidFill>
                <a:latin typeface="Arial" panose="020B0604020202020204" pitchFamily="34" charset="0"/>
              </a:rPr>
              <a:t>Comparación precisa:
excluye 5 de motocarro.
N = 1.319</a:t>
            </a:r>
          </a:p>
        </p:txBody>
      </p:sp>
      <p:sp>
        <p:nvSpPr>
          <p:cNvPr id="7" name="CuadroTexto 6">
            <a:extLst>
              <a:ext uri="{FF2B5EF4-FFF2-40B4-BE49-F238E27FC236}">
                <a16:creationId xmlns:a16="http://schemas.microsoft.com/office/drawing/2014/main" id="{8EE71848-0B1B-0BB4-06AF-5D0701089D3E}"/>
              </a:ext>
            </a:extLst>
          </p:cNvPr>
          <p:cNvSpPr txBox="1"/>
          <p:nvPr/>
        </p:nvSpPr>
        <p:spPr>
          <a:xfrm>
            <a:off x="609600" y="5918200"/>
            <a:ext cx="10972800" cy="508000"/>
          </a:xfrm>
          <a:prstGeom prst="rect">
            <a:avLst/>
          </a:prstGeom>
          <a:noFill/>
        </p:spPr>
        <p:txBody>
          <a:bodyPr vert="horz" wrap="square" lIns="0" tIns="0" rIns="0" bIns="0" rtlCol="0">
            <a:noAutofit/>
          </a:bodyPr>
          <a:lstStyle/>
          <a:p>
            <a:pPr>
              <a:spcAft>
                <a:spcPts val="400"/>
              </a:spcAft>
            </a:pPr>
            <a:r>
              <a:rPr lang="es-ES" sz="1900" b="1">
                <a:solidFill>
                  <a:srgbClr val="173F3B"/>
                </a:solidFill>
                <a:latin typeface="Arial" panose="020B0604020202020204" pitchFamily="34" charset="0"/>
              </a:rPr>
              <a:t>El resto incluye peatones y ciclistas. No significa “ocupantes de otros vehículos”.</a:t>
            </a:r>
            <a:endParaRPr lang="es-PY" sz="1900" b="1">
              <a:solidFill>
                <a:srgbClr val="173F3B"/>
              </a:solidFill>
              <a:latin typeface="Arial" panose="020B0604020202020204" pitchFamily="34" charset="0"/>
            </a:endParaRPr>
          </a:p>
        </p:txBody>
      </p:sp>
      <p:graphicFrame>
        <p:nvGraphicFramePr>
          <p:cNvPr id="8" name="CHART_8"/>
          <p:cNvGraphicFramePr/>
          <p:nvPr/>
        </p:nvGraphicFramePr>
        <p:xfrm>
          <a:off x="444500" y="2146300"/>
          <a:ext cx="7048500" cy="3454400"/>
        </p:xfrm>
        <a:graphic>
          <a:graphicData uri="http://schemas.openxmlformats.org/drawingml/2006/chart">
            <ns2:chart xmlns:ns2="http://schemas.openxmlformats.org/drawingml/2006/chart" r:id="rIdGraph8"/>
          </a:graphicData>
        </a:graphic>
      </p:graphicFrame>
      <p:sp>
        <p:nvSpPr>
          <p:cNvPr id="9" name="CuadroTexto 8">
            <a:extLst>
              <a:ext uri="{FF2B5EF4-FFF2-40B4-BE49-F238E27FC236}">
                <a16:creationId xmlns:a16="http://schemas.microsoft.com/office/drawing/2014/main" id="{72F63C89-2B65-E856-2112-9FE740FB8B69}"/>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ES" sz="1050">
                <a:solidFill>
                  <a:srgbClr val="5B716A"/>
                </a:solidFill>
                <a:latin typeface="Arial" panose="020B0604020202020204" pitchFamily="34" charset="0"/>
              </a:rPr>
              <a:t>Fuentes: INE 12.2.5/12.2.10 y DINATRAN 2021, pp.130, 132, 133, 135 y 136.</a:t>
            </a:r>
            <a:endParaRPr lang="es-PY" sz="1050">
              <a:solidFill>
                <a:srgbClr val="5B716A"/>
              </a:solidFill>
              <a:latin typeface="Arial" panose="020B0604020202020204" pitchFamily="34" charset="0"/>
            </a:endParaRPr>
          </a:p>
        </p:txBody>
      </p:sp>
      <p:sp>
        <p:nvSpPr>
          <p:cNvPr id="10" name="CuadroTexto 9">
            <a:extLst>
              <a:ext uri="{FF2B5EF4-FFF2-40B4-BE49-F238E27FC236}">
                <a16:creationId xmlns:a16="http://schemas.microsoft.com/office/drawing/2014/main" id="{D9E8B3F3-0361-E7B8-1A1D-E41399156005}"/>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5B716A"/>
                </a:solidFill>
                <a:latin typeface="Arial" panose="020B0604020202020204" pitchFamily="34" charset="0"/>
              </a:rPr>
              <a:t>8</a:t>
            </a:r>
          </a:p>
        </p:txBody>
      </p:sp>
    </p:spTree>
    <p:extLst>
      <p:ext uri="{BB962C8B-B14F-4D97-AF65-F5344CB8AC3E}">
        <p14:creationId xmlns:p14="http://schemas.microsoft.com/office/powerpoint/2010/main" val="2748665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67A3236-B1B0-009E-6B0B-D48AD6F3BD6F}"/>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es-ES" sz="3200" b="1">
                <a:solidFill>
                  <a:srgbClr val="173F3B"/>
                </a:solidFill>
                <a:latin typeface="Arial" panose="020B0604020202020204" pitchFamily="34" charset="0"/>
              </a:rPr>
              <a:t>Fase 2: qué asociaciones sostienen las pruebas</a:t>
            </a:r>
            <a:endParaRPr lang="es-PY" sz="3200" b="1">
              <a:solidFill>
                <a:srgbClr val="173F3B"/>
              </a:solidFill>
              <a:latin typeface="Arial" panose="020B0604020202020204" pitchFamily="34" charset="0"/>
            </a:endParaRPr>
          </a:p>
        </p:txBody>
      </p:sp>
      <p:sp>
        <p:nvSpPr>
          <p:cNvPr id="3" name="CuadroTexto 2">
            <a:extLst>
              <a:ext uri="{FF2B5EF4-FFF2-40B4-BE49-F238E27FC236}">
                <a16:creationId xmlns:a16="http://schemas.microsoft.com/office/drawing/2014/main" id="{E13CEE5F-26C2-9EDB-D37A-B9C0D2B401BA}"/>
              </a:ext>
            </a:extLst>
          </p:cNvPr>
          <p:cNvSpPr txBox="1"/>
          <p:nvPr/>
        </p:nvSpPr>
        <p:spPr>
          <a:xfrm>
            <a:off x="609600" y="5422900"/>
            <a:ext cx="10972800" cy="457200"/>
          </a:xfrm>
          <a:prstGeom prst="rect">
            <a:avLst/>
          </a:prstGeom>
          <a:noFill/>
        </p:spPr>
        <p:txBody>
          <a:bodyPr vert="horz" wrap="square" lIns="0" tIns="0" rIns="0" bIns="0" rtlCol="0">
            <a:noAutofit/>
          </a:bodyPr>
          <a:lstStyle/>
          <a:p>
            <a:pPr>
              <a:spcAft>
                <a:spcPts val="400"/>
              </a:spcAft>
            </a:pPr>
            <a:r>
              <a:rPr lang="es-PY" sz="2000" b="1">
                <a:solidFill>
                  <a:srgbClr val="173F3B"/>
                </a:solidFill>
                <a:latin typeface="Arial" panose="020B0604020202020204" pitchFamily="34" charset="0"/>
              </a:rPr>
              <a:t>Seis comparaciones: H1–H4, adultos mayores y H3 sin motocarro.</a:t>
            </a:r>
          </a:p>
        </p:txBody>
      </p:sp>
      <p:sp>
        <p:nvSpPr>
          <p:cNvPr id="4" name="CuadroTexto 3">
            <a:extLst>
              <a:ext uri="{FF2B5EF4-FFF2-40B4-BE49-F238E27FC236}">
                <a16:creationId xmlns:a16="http://schemas.microsoft.com/office/drawing/2014/main" id="{94806827-9487-6DCF-9154-AC8342F12725}"/>
              </a:ext>
            </a:extLst>
          </p:cNvPr>
          <p:cNvSpPr txBox="1"/>
          <p:nvPr/>
        </p:nvSpPr>
        <p:spPr>
          <a:xfrm>
            <a:off x="609600" y="5994400"/>
            <a:ext cx="10972800" cy="406400"/>
          </a:xfrm>
          <a:prstGeom prst="rect">
            <a:avLst/>
          </a:prstGeom>
          <a:noFill/>
        </p:spPr>
        <p:txBody>
          <a:bodyPr vert="horz" wrap="square" lIns="0" tIns="0" rIns="0" bIns="0" rtlCol="0">
            <a:noAutofit/>
          </a:bodyPr>
          <a:lstStyle/>
          <a:p>
            <a:pPr>
              <a:spcAft>
                <a:spcPts val="400"/>
              </a:spcAft>
            </a:pPr>
            <a:r>
              <a:rPr lang="es-ES">
                <a:solidFill>
                  <a:srgbClr val="173F3B"/>
                </a:solidFill>
                <a:latin typeface="Arial" panose="020B0604020202020204" pitchFamily="34" charset="0"/>
              </a:rPr>
              <a:t>Las pruebas suponen independencia. Los datos no permiten verificarla por siniestro.</a:t>
            </a:r>
            <a:endParaRPr lang="es-PY">
              <a:solidFill>
                <a:srgbClr val="173F3B"/>
              </a:solidFill>
              <a:latin typeface="Arial" panose="020B0604020202020204" pitchFamily="34" charset="0"/>
            </a:endParaRPr>
          </a:p>
        </p:txBody>
      </p:sp>
      <p:graphicFrame>
        <p:nvGraphicFramePr>
          <p:cNvPr id="5" name="Tabla 4">
            <a:extLst>
              <a:ext uri="{FF2B5EF4-FFF2-40B4-BE49-F238E27FC236}">
                <a16:creationId xmlns:a16="http://schemas.microsoft.com/office/drawing/2014/main" id="{9F065602-2E1B-55AF-BED4-4E4C62AF1663}"/>
              </a:ext>
            </a:extLst>
          </p:cNvPr>
          <p:cNvGraphicFramePr>
            <a:graphicFrameLocks noGrp="1"/>
          </p:cNvGraphicFramePr>
          <p:nvPr>
            <p:extLst>
              <p:ext uri="{D42A27DB-BD31-4B8C-83A1-F6EECF244321}">
                <p14:modId xmlns:p14="http://schemas.microsoft.com/office/powerpoint/2010/main" val="2397244268"/>
              </p:ext>
            </p:extLst>
          </p:nvPr>
        </p:nvGraphicFramePr>
        <p:xfrm>
          <a:off x="609600" y="1473200"/>
          <a:ext cx="10972800" cy="36195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393692888"/>
                    </a:ext>
                  </a:extLst>
                </a:gridCol>
                <a:gridCol w="2159000">
                  <a:extLst>
                    <a:ext uri="{9D8B030D-6E8A-4147-A177-3AD203B41FA5}">
                      <a16:colId xmlns:a16="http://schemas.microsoft.com/office/drawing/2014/main" val="3499247924"/>
                    </a:ext>
                  </a:extLst>
                </a:gridCol>
                <a:gridCol w="1841500">
                  <a:extLst>
                    <a:ext uri="{9D8B030D-6E8A-4147-A177-3AD203B41FA5}">
                      <a16:colId xmlns:a16="http://schemas.microsoft.com/office/drawing/2014/main" val="1773057652"/>
                    </a:ext>
                  </a:extLst>
                </a:gridCol>
                <a:gridCol w="3797300">
                  <a:extLst>
                    <a:ext uri="{9D8B030D-6E8A-4147-A177-3AD203B41FA5}">
                      <a16:colId xmlns:a16="http://schemas.microsoft.com/office/drawing/2014/main" val="700856985"/>
                    </a:ext>
                  </a:extLst>
                </a:gridCol>
              </a:tblGrid>
              <a:tr h="723900">
                <a:tc>
                  <a:txBody>
                    <a:bodyPr/>
                    <a:lstStyle/>
                    <a:p>
                      <a:pPr algn="l">
                        <a:spcAft>
                          <a:spcPts val="0"/>
                        </a:spcAft>
                      </a:pPr>
                      <a:r>
                        <a:rPr lang="es-PY" sz="1900" b="1">
                          <a:solidFill>
                            <a:srgbClr val="FFFFFF"/>
                          </a:solidFill>
                          <a:latin typeface="Arial" panose="020B0604020202020204" pitchFamily="34" charset="0"/>
                        </a:rPr>
                        <a:t>Factor y prueba</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173F3B"/>
                    </a:solidFill>
                  </a:tcPr>
                </a:tc>
                <a:tc>
                  <a:txBody>
                    <a:bodyPr/>
                    <a:lstStyle/>
                    <a:p>
                      <a:pPr algn="ctr">
                        <a:spcAft>
                          <a:spcPts val="0"/>
                        </a:spcAft>
                      </a:pPr>
                      <a:r>
                        <a:rPr lang="es-PY" sz="1900" b="1">
                          <a:solidFill>
                            <a:srgbClr val="FFFFFF"/>
                          </a:solidFill>
                          <a:latin typeface="Arial" panose="020B0604020202020204" pitchFamily="34" charset="0"/>
                        </a:rPr>
                        <a:t>Medida</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173F3B"/>
                    </a:solidFill>
                  </a:tcPr>
                </a:tc>
                <a:tc>
                  <a:txBody>
                    <a:bodyPr/>
                    <a:lstStyle/>
                    <a:p>
                      <a:pPr algn="ctr">
                        <a:spcAft>
                          <a:spcPts val="0"/>
                        </a:spcAft>
                      </a:pPr>
                      <a:r>
                        <a:rPr lang="es-PY" sz="1900" b="1">
                          <a:solidFill>
                            <a:srgbClr val="FFFFFF"/>
                          </a:solidFill>
                          <a:latin typeface="Arial" panose="020B0604020202020204" pitchFamily="34" charset="0"/>
                        </a:rPr>
                        <a:t>p ajustado</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173F3B"/>
                    </a:solidFill>
                  </a:tcPr>
                </a:tc>
                <a:tc>
                  <a:txBody>
                    <a:bodyPr/>
                    <a:lstStyle/>
                    <a:p>
                      <a:pPr algn="ctr">
                        <a:spcAft>
                          <a:spcPts val="0"/>
                        </a:spcAft>
                      </a:pPr>
                      <a:r>
                        <a:rPr lang="es-PY" sz="1900" b="1">
                          <a:solidFill>
                            <a:srgbClr val="FFFFFF"/>
                          </a:solidFill>
                          <a:latin typeface="Arial" panose="020B0604020202020204" pitchFamily="34" charset="0"/>
                        </a:rPr>
                        <a:t>Interpretación</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173F3B"/>
                    </a:solidFill>
                  </a:tcPr>
                </a:tc>
                <a:extLst>
                  <a:ext uri="{0D108BD9-81ED-4DB2-BD59-A6C34878D82A}">
                    <a16:rowId xmlns:a16="http://schemas.microsoft.com/office/drawing/2014/main" val="1895762158"/>
                  </a:ext>
                </a:extLst>
              </a:tr>
              <a:tr h="723900">
                <a:tc>
                  <a:txBody>
                    <a:bodyPr/>
                    <a:lstStyle/>
                    <a:p>
                      <a:pPr algn="l">
                        <a:spcAft>
                          <a:spcPts val="0"/>
                        </a:spcAft>
                      </a:pPr>
                      <a:r>
                        <a:rPr lang="es-PY" sz="1900" b="0">
                          <a:solidFill>
                            <a:srgbClr val="173F3B"/>
                          </a:solidFill>
                          <a:latin typeface="Arial" panose="020B0604020202020204" pitchFamily="34" charset="0"/>
                        </a:rPr>
                        <a:t>H1 · Territorio
Chi-cuadrado</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900" b="0">
                          <a:solidFill>
                            <a:srgbClr val="173F3B"/>
                          </a:solidFill>
                          <a:latin typeface="Arial" panose="020B0604020202020204" pitchFamily="34" charset="0"/>
                        </a:rPr>
                        <a:t>OR 1,40</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900" b="0">
                          <a:solidFill>
                            <a:srgbClr val="173F3B"/>
                          </a:solidFill>
                          <a:latin typeface="Arial" panose="020B0604020202020204" pitchFamily="34" charset="0"/>
                        </a:rPr>
                        <a:t>0,0698</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900" b="0">
                          <a:solidFill>
                            <a:srgbClr val="173F3B"/>
                          </a:solidFill>
                          <a:latin typeface="Arial" panose="020B0604020202020204" pitchFamily="34" charset="0"/>
                        </a:rPr>
                        <a:t>No alcanza el umbral</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extLst>
                  <a:ext uri="{0D108BD9-81ED-4DB2-BD59-A6C34878D82A}">
                    <a16:rowId xmlns:a16="http://schemas.microsoft.com/office/drawing/2014/main" val="3773621997"/>
                  </a:ext>
                </a:extLst>
              </a:tr>
              <a:tr h="723900">
                <a:tc>
                  <a:txBody>
                    <a:bodyPr/>
                    <a:lstStyle/>
                    <a:p>
                      <a:pPr algn="l">
                        <a:spcAft>
                          <a:spcPts val="0"/>
                        </a:spcAft>
                      </a:pPr>
                      <a:r>
                        <a:rPr lang="es-PY" sz="1900" b="0">
                          <a:solidFill>
                            <a:srgbClr val="173F3B"/>
                          </a:solidFill>
                          <a:latin typeface="Arial" panose="020B0604020202020204" pitchFamily="34" charset="0"/>
                        </a:rPr>
                        <a:t>H2 · Sexo
Chi-cuadrado</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900" b="0">
                          <a:solidFill>
                            <a:srgbClr val="173F3B"/>
                          </a:solidFill>
                          <a:latin typeface="Arial" panose="020B0604020202020204" pitchFamily="34" charset="0"/>
                        </a:rPr>
                        <a:t>OR 2,04</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900" b="0">
                          <a:solidFill>
                            <a:srgbClr val="173F3B"/>
                          </a:solidFill>
                          <a:latin typeface="Arial" panose="020B0604020202020204" pitchFamily="34" charset="0"/>
                        </a:rPr>
                        <a:t>&lt; 0,001</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900" b="0">
                          <a:solidFill>
                            <a:srgbClr val="173F3B"/>
                          </a:solidFill>
                          <a:latin typeface="Arial" panose="020B0604020202020204" pitchFamily="34" charset="0"/>
                        </a:rPr>
                        <a:t>Asociación pequeña</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extLst>
                  <a:ext uri="{0D108BD9-81ED-4DB2-BD59-A6C34878D82A}">
                    <a16:rowId xmlns:a16="http://schemas.microsoft.com/office/drawing/2014/main" val="1304134458"/>
                  </a:ext>
                </a:extLst>
              </a:tr>
              <a:tr h="723900">
                <a:tc>
                  <a:txBody>
                    <a:bodyPr/>
                    <a:lstStyle/>
                    <a:p>
                      <a:pPr algn="l">
                        <a:spcAft>
                          <a:spcPts val="0"/>
                        </a:spcAft>
                      </a:pPr>
                      <a:r>
                        <a:rPr lang="pt-BR" sz="1900" b="0">
                          <a:solidFill>
                            <a:srgbClr val="173F3B"/>
                          </a:solidFill>
                          <a:latin typeface="Arial" panose="020B0604020202020204" pitchFamily="34" charset="0"/>
                        </a:rPr>
                        <a:t>H3 · Motocicleta
Fisher, sin motocarro</a:t>
                      </a:r>
                      <a:endParaRPr lang="es-PY" sz="1900" b="0">
                        <a:solidFill>
                          <a:srgbClr val="173F3B"/>
                        </a:solidFill>
                        <a:latin typeface="Arial" panose="020B0604020202020204" pitchFamily="34" charset="0"/>
                      </a:endParaRP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900" b="0">
                          <a:solidFill>
                            <a:srgbClr val="173F3B"/>
                          </a:solidFill>
                          <a:latin typeface="Arial" panose="020B0604020202020204" pitchFamily="34" charset="0"/>
                        </a:rPr>
                        <a:t>RR 1,95</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900" b="0">
                          <a:solidFill>
                            <a:srgbClr val="173F3B"/>
                          </a:solidFill>
                          <a:latin typeface="Arial" panose="020B0604020202020204" pitchFamily="34" charset="0"/>
                        </a:rPr>
                        <a:t>&lt; 0,001</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900" b="0">
                          <a:solidFill>
                            <a:srgbClr val="173F3B"/>
                          </a:solidFill>
                          <a:latin typeface="Arial" panose="020B0604020202020204" pitchFamily="34" charset="0"/>
                        </a:rPr>
                        <a:t>Mayor fracción fatal</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extLst>
                  <a:ext uri="{0D108BD9-81ED-4DB2-BD59-A6C34878D82A}">
                    <a16:rowId xmlns:a16="http://schemas.microsoft.com/office/drawing/2014/main" val="1800517875"/>
                  </a:ext>
                </a:extLst>
              </a:tr>
              <a:tr h="723900">
                <a:tc>
                  <a:txBody>
                    <a:bodyPr/>
                    <a:lstStyle/>
                    <a:p>
                      <a:pPr algn="l">
                        <a:spcAft>
                          <a:spcPts val="0"/>
                        </a:spcAft>
                      </a:pPr>
                      <a:r>
                        <a:rPr lang="es-PY" sz="1900" b="0">
                          <a:solidFill>
                            <a:srgbClr val="173F3B"/>
                          </a:solidFill>
                          <a:latin typeface="Arial" panose="020B0604020202020204" pitchFamily="34" charset="0"/>
                        </a:rPr>
                        <a:t>H4 · Edad
Mann–Whitney</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900" b="0">
                          <a:solidFill>
                            <a:srgbClr val="173F3B"/>
                          </a:solidFill>
                          <a:latin typeface="Arial" panose="020B0604020202020204" pitchFamily="34" charset="0"/>
                        </a:rPr>
                        <a:t>r biserial 0,185</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900" b="0">
                          <a:solidFill>
                            <a:srgbClr val="173F3B"/>
                          </a:solidFill>
                          <a:latin typeface="Arial" panose="020B0604020202020204" pitchFamily="34" charset="0"/>
                        </a:rPr>
                        <a:t>&lt; 0,001</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900" b="0">
                          <a:solidFill>
                            <a:srgbClr val="173F3B"/>
                          </a:solidFill>
                          <a:latin typeface="Arial" panose="020B0604020202020204" pitchFamily="34" charset="0"/>
                        </a:rPr>
                        <a:t>Rangos de edad mayores</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extLst>
                  <a:ext uri="{0D108BD9-81ED-4DB2-BD59-A6C34878D82A}">
                    <a16:rowId xmlns:a16="http://schemas.microsoft.com/office/drawing/2014/main" val="3058772630"/>
                  </a:ext>
                </a:extLst>
              </a:tr>
            </a:tbl>
          </a:graphicData>
        </a:graphic>
      </p:graphicFrame>
      <p:sp>
        <p:nvSpPr>
          <p:cNvPr id="6" name="CuadroTexto 5">
            <a:extLst>
              <a:ext uri="{FF2B5EF4-FFF2-40B4-BE49-F238E27FC236}">
                <a16:creationId xmlns:a16="http://schemas.microsoft.com/office/drawing/2014/main" id="{6078D7AB-C36A-A0EF-9154-FD3894CEE389}"/>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PY" sz="1050">
                <a:solidFill>
                  <a:srgbClr val="5B716A"/>
                </a:solidFill>
                <a:latin typeface="Arial" panose="020B0604020202020204" pitchFamily="34" charset="0"/>
              </a:rPr>
              <a:t>Fuente: contrastes actuales del notebook. Bonferroni conjunto de seis comparaciones. </a:t>
            </a:r>
            <a:r>
              <a:rPr lang="el-GR" sz="1050">
                <a:solidFill>
                  <a:srgbClr val="5B716A"/>
                </a:solidFill>
                <a:latin typeface="Arial" panose="020B0604020202020204" pitchFamily="34" charset="0"/>
              </a:rPr>
              <a:t>α = 0,05.</a:t>
            </a:r>
            <a:endParaRPr lang="es-PY" sz="1050">
              <a:solidFill>
                <a:srgbClr val="5B716A"/>
              </a:solidFill>
              <a:latin typeface="Arial" panose="020B0604020202020204" pitchFamily="34" charset="0"/>
            </a:endParaRPr>
          </a:p>
        </p:txBody>
      </p:sp>
      <p:sp>
        <p:nvSpPr>
          <p:cNvPr id="7" name="CuadroTexto 6">
            <a:extLst>
              <a:ext uri="{FF2B5EF4-FFF2-40B4-BE49-F238E27FC236}">
                <a16:creationId xmlns:a16="http://schemas.microsoft.com/office/drawing/2014/main" id="{35A71C97-8FCD-4286-4AE9-4C029E879166}"/>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5B716A"/>
                </a:solidFill>
                <a:latin typeface="Arial" panose="020B0604020202020204" pitchFamily="34" charset="0"/>
              </a:rPr>
              <a:t>9</a:t>
            </a:r>
          </a:p>
        </p:txBody>
      </p:sp>
    </p:spTree>
    <p:extLst>
      <p:ext uri="{BB962C8B-B14F-4D97-AF65-F5344CB8AC3E}">
        <p14:creationId xmlns:p14="http://schemas.microsoft.com/office/powerpoint/2010/main" val="3444520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0D352E7-7535-A68F-0E86-E2FC494EC29A}"/>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es-ES" sz="3200" b="1">
                <a:solidFill>
                  <a:srgbClr val="173F3B"/>
                </a:solidFill>
                <a:latin typeface="Arial" panose="020B0604020202020204" pitchFamily="34" charset="0"/>
              </a:rPr>
              <a:t>Fase 2: edad conocida y adultos mayores</a:t>
            </a:r>
            <a:endParaRPr lang="es-PY" sz="3200" b="1">
              <a:solidFill>
                <a:srgbClr val="173F3B"/>
              </a:solidFill>
              <a:latin typeface="Arial" panose="020B0604020202020204" pitchFamily="34" charset="0"/>
            </a:endParaRPr>
          </a:p>
        </p:txBody>
      </p:sp>
      <p:sp>
        <p:nvSpPr>
          <p:cNvPr id="3" name="CuadroTexto 2">
            <a:extLst>
              <a:ext uri="{FF2B5EF4-FFF2-40B4-BE49-F238E27FC236}">
                <a16:creationId xmlns:a16="http://schemas.microsoft.com/office/drawing/2014/main" id="{AB8B03B2-F5E0-229A-B639-178929A96562}"/>
              </a:ext>
            </a:extLst>
          </p:cNvPr>
          <p:cNvSpPr txBox="1"/>
          <p:nvPr/>
        </p:nvSpPr>
        <p:spPr>
          <a:xfrm>
            <a:off x="7874000" y="1714500"/>
            <a:ext cx="3810000" cy="711200"/>
          </a:xfrm>
          <a:prstGeom prst="rect">
            <a:avLst/>
          </a:prstGeom>
          <a:noFill/>
        </p:spPr>
        <p:txBody>
          <a:bodyPr vert="horz" wrap="square" lIns="0" tIns="0" rIns="0" bIns="0" rtlCol="0">
            <a:noAutofit/>
          </a:bodyPr>
          <a:lstStyle/>
          <a:p>
            <a:pPr>
              <a:spcAft>
                <a:spcPts val="400"/>
              </a:spcAft>
            </a:pPr>
            <a:r>
              <a:rPr lang="es-PY" sz="4000" b="1">
                <a:solidFill>
                  <a:srgbClr val="BA6A3A"/>
                </a:solidFill>
                <a:latin typeface="Arial" panose="020B0604020202020204" pitchFamily="34" charset="0"/>
              </a:rPr>
              <a:t>RR = 2,05</a:t>
            </a:r>
          </a:p>
        </p:txBody>
      </p:sp>
      <p:sp>
        <p:nvSpPr>
          <p:cNvPr id="4" name="CuadroTexto 3">
            <a:extLst>
              <a:ext uri="{FF2B5EF4-FFF2-40B4-BE49-F238E27FC236}">
                <a16:creationId xmlns:a16="http://schemas.microsoft.com/office/drawing/2014/main" id="{C6DD9D1F-5A7B-9EC5-1433-67E9E0D08270}"/>
              </a:ext>
            </a:extLst>
          </p:cNvPr>
          <p:cNvSpPr txBox="1"/>
          <p:nvPr/>
        </p:nvSpPr>
        <p:spPr>
          <a:xfrm>
            <a:off x="7874000" y="2578100"/>
            <a:ext cx="3810000" cy="469900"/>
          </a:xfrm>
          <a:prstGeom prst="rect">
            <a:avLst/>
          </a:prstGeom>
          <a:noFill/>
        </p:spPr>
        <p:txBody>
          <a:bodyPr vert="horz" wrap="square" lIns="0" tIns="0" rIns="0" bIns="0" rtlCol="0">
            <a:noAutofit/>
          </a:bodyPr>
          <a:lstStyle/>
          <a:p>
            <a:pPr>
              <a:spcAft>
                <a:spcPts val="400"/>
              </a:spcAft>
            </a:pPr>
            <a:r>
              <a:rPr lang="en-US" sz="2200">
                <a:solidFill>
                  <a:srgbClr val="173F3B"/>
                </a:solidFill>
                <a:latin typeface="Arial" panose="020B0604020202020204" pitchFamily="34" charset="0"/>
              </a:rPr>
              <a:t>IC 95 %: 1,73 a 2,42</a:t>
            </a:r>
            <a:endParaRPr lang="es-PY" sz="2200">
              <a:solidFill>
                <a:srgbClr val="173F3B"/>
              </a:solidFill>
              <a:latin typeface="Arial" panose="020B0604020202020204" pitchFamily="34" charset="0"/>
            </a:endParaRPr>
          </a:p>
        </p:txBody>
      </p:sp>
      <p:sp>
        <p:nvSpPr>
          <p:cNvPr id="5" name="CuadroTexto 4">
            <a:extLst>
              <a:ext uri="{FF2B5EF4-FFF2-40B4-BE49-F238E27FC236}">
                <a16:creationId xmlns:a16="http://schemas.microsoft.com/office/drawing/2014/main" id="{A0314A60-2600-20A3-9DC1-E1D872B99BD7}"/>
              </a:ext>
            </a:extLst>
          </p:cNvPr>
          <p:cNvSpPr txBox="1"/>
          <p:nvPr/>
        </p:nvSpPr>
        <p:spPr>
          <a:xfrm>
            <a:off x="7874000" y="3695700"/>
            <a:ext cx="3810000" cy="1257300"/>
          </a:xfrm>
          <a:prstGeom prst="rect">
            <a:avLst/>
          </a:prstGeom>
          <a:noFill/>
        </p:spPr>
        <p:txBody>
          <a:bodyPr vert="horz" wrap="square" lIns="0" tIns="0" rIns="0" bIns="0" rtlCol="0">
            <a:noAutofit/>
          </a:bodyPr>
          <a:lstStyle/>
          <a:p>
            <a:pPr>
              <a:spcAft>
                <a:spcPts val="400"/>
              </a:spcAft>
            </a:pPr>
            <a:r>
              <a:rPr lang="es-ES" sz="2300">
                <a:solidFill>
                  <a:srgbClr val="173F3B"/>
                </a:solidFill>
                <a:latin typeface="Arial" panose="020B0604020202020204" pitchFamily="34" charset="0"/>
              </a:rPr>
              <a:t>Mann–Whitney compara
el orden de los grupos.
r biserial = 0,185</a:t>
            </a:r>
            <a:endParaRPr lang="es-PY" sz="2300">
              <a:solidFill>
                <a:srgbClr val="173F3B"/>
              </a:solidFill>
              <a:latin typeface="Arial" panose="020B0604020202020204" pitchFamily="34" charset="0"/>
            </a:endParaRPr>
          </a:p>
        </p:txBody>
      </p:sp>
      <p:sp>
        <p:nvSpPr>
          <p:cNvPr id="6" name="CuadroTexto 5">
            <a:extLst>
              <a:ext uri="{FF2B5EF4-FFF2-40B4-BE49-F238E27FC236}">
                <a16:creationId xmlns:a16="http://schemas.microsoft.com/office/drawing/2014/main" id="{C3B0A736-34A4-7D6B-019A-A582F5AB1469}"/>
              </a:ext>
            </a:extLst>
          </p:cNvPr>
          <p:cNvSpPr txBox="1"/>
          <p:nvPr/>
        </p:nvSpPr>
        <p:spPr>
          <a:xfrm>
            <a:off x="609600" y="5727700"/>
            <a:ext cx="10972800" cy="609600"/>
          </a:xfrm>
          <a:prstGeom prst="rect">
            <a:avLst/>
          </a:prstGeom>
          <a:noFill/>
        </p:spPr>
        <p:txBody>
          <a:bodyPr vert="horz" wrap="square" lIns="0" tIns="0" rIns="0" bIns="0" rtlCol="0">
            <a:noAutofit/>
          </a:bodyPr>
          <a:lstStyle/>
          <a:p>
            <a:pPr>
              <a:spcAft>
                <a:spcPts val="400"/>
              </a:spcAft>
            </a:pPr>
            <a:r>
              <a:rPr lang="es-ES" sz="2300" b="1">
                <a:solidFill>
                  <a:srgbClr val="173F3B"/>
                </a:solidFill>
                <a:latin typeface="Arial" panose="020B0604020202020204" pitchFamily="34" charset="0"/>
              </a:rPr>
              <a:t>“Ignorado” queda fuera del orden de edad. No se codifica como −1.</a:t>
            </a:r>
            <a:endParaRPr lang="es-PY" sz="2300" b="1">
              <a:solidFill>
                <a:srgbClr val="173F3B"/>
              </a:solidFill>
              <a:latin typeface="Arial" panose="020B0604020202020204" pitchFamily="34" charset="0"/>
            </a:endParaRPr>
          </a:p>
        </p:txBody>
      </p:sp>
      <p:graphicFrame>
        <p:nvGraphicFramePr>
          <p:cNvPr id="7" name="CHART_9"/>
          <p:cNvGraphicFramePr/>
          <p:nvPr/>
        </p:nvGraphicFramePr>
        <p:xfrm>
          <a:off x="444500" y="1727200"/>
          <a:ext cx="6985000" cy="3606800"/>
        </p:xfrm>
        <a:graphic>
          <a:graphicData uri="http://schemas.openxmlformats.org/drawingml/2006/chart">
            <ns2:chart xmlns:ns2="http://schemas.openxmlformats.org/drawingml/2006/chart" r:id="rIdGraph9"/>
          </a:graphicData>
        </a:graphic>
      </p:graphicFrame>
      <p:sp>
        <p:nvSpPr>
          <p:cNvPr id="8" name="CuadroTexto 7">
            <a:extLst>
              <a:ext uri="{FF2B5EF4-FFF2-40B4-BE49-F238E27FC236}">
                <a16:creationId xmlns:a16="http://schemas.microsoft.com/office/drawing/2014/main" id="{59A7E70F-D7F0-07AA-70C5-D6BB3F491BB7}"/>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ES" sz="1050">
                <a:solidFill>
                  <a:srgbClr val="5B716A"/>
                </a:solidFill>
                <a:latin typeface="Arial" panose="020B0604020202020204" pitchFamily="34" charset="0"/>
              </a:rPr>
              <a:t>Fuente: INE 12.2.1 y H4 corregida. 5.140 edades conocidas; 353 ignoradas fuera de estos contrastes.</a:t>
            </a:r>
            <a:endParaRPr lang="es-PY" sz="1050">
              <a:solidFill>
                <a:srgbClr val="5B716A"/>
              </a:solidFill>
              <a:latin typeface="Arial" panose="020B0604020202020204" pitchFamily="34" charset="0"/>
            </a:endParaRPr>
          </a:p>
        </p:txBody>
      </p:sp>
      <p:sp>
        <p:nvSpPr>
          <p:cNvPr id="9" name="CuadroTexto 8">
            <a:extLst>
              <a:ext uri="{FF2B5EF4-FFF2-40B4-BE49-F238E27FC236}">
                <a16:creationId xmlns:a16="http://schemas.microsoft.com/office/drawing/2014/main" id="{A070135A-3DD0-8DAA-CAD3-DAC669CDEC01}"/>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5B716A"/>
                </a:solidFill>
                <a:latin typeface="Arial" panose="020B0604020202020204" pitchFamily="34" charset="0"/>
              </a:rPr>
              <a:t>10</a:t>
            </a:r>
          </a:p>
        </p:txBody>
      </p:sp>
    </p:spTree>
    <p:extLst>
      <p:ext uri="{BB962C8B-B14F-4D97-AF65-F5344CB8AC3E}">
        <p14:creationId xmlns:p14="http://schemas.microsoft.com/office/powerpoint/2010/main" val="589491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AC2C35D-144B-8FBB-56AF-2A1141D8139C}"/>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es-ES" sz="3200" b="1">
                <a:solidFill>
                  <a:srgbClr val="173F3B"/>
                </a:solidFill>
                <a:latin typeface="Arial" panose="020B0604020202020204" pitchFamily="34" charset="0"/>
              </a:rPr>
              <a:t>Fase 3: diseño del Modelo A</a:t>
            </a:r>
            <a:endParaRPr lang="es-PY" sz="3200" b="1">
              <a:solidFill>
                <a:srgbClr val="173F3B"/>
              </a:solidFill>
              <a:latin typeface="Arial" panose="020B0604020202020204" pitchFamily="34" charset="0"/>
            </a:endParaRPr>
          </a:p>
        </p:txBody>
      </p:sp>
      <p:sp>
        <p:nvSpPr>
          <p:cNvPr id="3" name="CuadroTexto 2">
            <a:extLst>
              <a:ext uri="{FF2B5EF4-FFF2-40B4-BE49-F238E27FC236}">
                <a16:creationId xmlns:a16="http://schemas.microsoft.com/office/drawing/2014/main" id="{2D92925B-8D87-6BDA-F400-6CA0C2FAAA4A}"/>
              </a:ext>
            </a:extLst>
          </p:cNvPr>
          <p:cNvSpPr txBox="1"/>
          <p:nvPr/>
        </p:nvSpPr>
        <p:spPr>
          <a:xfrm>
            <a:off x="609600" y="1320800"/>
            <a:ext cx="6159500" cy="431800"/>
          </a:xfrm>
          <a:prstGeom prst="rect">
            <a:avLst/>
          </a:prstGeom>
          <a:noFill/>
        </p:spPr>
        <p:txBody>
          <a:bodyPr vert="horz" wrap="square" lIns="0" tIns="0" rIns="0" bIns="0" rtlCol="0">
            <a:noAutofit/>
          </a:bodyPr>
          <a:lstStyle/>
          <a:p>
            <a:pPr>
              <a:spcAft>
                <a:spcPts val="400"/>
              </a:spcAft>
            </a:pPr>
            <a:r>
              <a:rPr lang="es-ES" sz="2300" b="1">
                <a:solidFill>
                  <a:srgbClr val="173F3B"/>
                </a:solidFill>
                <a:latin typeface="Arial" panose="020B0604020202020204" pitchFamily="34" charset="0"/>
              </a:rPr>
              <a:t>80 % entrenamiento y 20 % prueba</a:t>
            </a:r>
            <a:endParaRPr lang="es-PY" sz="2300" b="1">
              <a:solidFill>
                <a:srgbClr val="173F3B"/>
              </a:solidFill>
              <a:latin typeface="Arial" panose="020B0604020202020204" pitchFamily="34" charset="0"/>
            </a:endParaRPr>
          </a:p>
        </p:txBody>
      </p:sp>
      <p:sp>
        <p:nvSpPr>
          <p:cNvPr id="4" name="CuadroTexto 3">
            <a:extLst>
              <a:ext uri="{FF2B5EF4-FFF2-40B4-BE49-F238E27FC236}">
                <a16:creationId xmlns:a16="http://schemas.microsoft.com/office/drawing/2014/main" id="{952E0760-C2BD-7F8B-28C5-3D4410F719F3}"/>
              </a:ext>
            </a:extLst>
          </p:cNvPr>
          <p:cNvSpPr txBox="1"/>
          <p:nvPr/>
        </p:nvSpPr>
        <p:spPr>
          <a:xfrm>
            <a:off x="609600" y="3886200"/>
            <a:ext cx="6159500" cy="1524000"/>
          </a:xfrm>
          <a:prstGeom prst="rect">
            <a:avLst/>
          </a:prstGeom>
          <a:noFill/>
        </p:spPr>
        <p:txBody>
          <a:bodyPr vert="horz" wrap="square" lIns="0" tIns="0" rIns="0" bIns="0" rtlCol="0">
            <a:noAutofit/>
          </a:bodyPr>
          <a:lstStyle/>
          <a:p>
            <a:pPr>
              <a:spcAft>
                <a:spcPts val="400"/>
              </a:spcAft>
            </a:pPr>
            <a:r>
              <a:rPr lang="es-ES" sz="2400">
                <a:solidFill>
                  <a:srgbClr val="173F3B"/>
                </a:solidFill>
                <a:latin typeface="Arial" panose="020B0604020202020204" pitchFamily="34" charset="0"/>
              </a:rPr>
              <a:t>5 pliegues dentro de entrenamiento.
Semilla 42. Selección por F1 macro.
Referencia: Dummy, siempre Herido.</a:t>
            </a:r>
            <a:endParaRPr lang="es-PY" sz="2400">
              <a:solidFill>
                <a:srgbClr val="173F3B"/>
              </a:solidFill>
              <a:latin typeface="Arial" panose="020B0604020202020204" pitchFamily="34" charset="0"/>
            </a:endParaRPr>
          </a:p>
        </p:txBody>
      </p:sp>
      <p:sp>
        <p:nvSpPr>
          <p:cNvPr id="5" name="CuadroTexto 4">
            <a:extLst>
              <a:ext uri="{FF2B5EF4-FFF2-40B4-BE49-F238E27FC236}">
                <a16:creationId xmlns:a16="http://schemas.microsoft.com/office/drawing/2014/main" id="{DDCDED76-9709-F8E6-BCFB-FAA4F849E926}"/>
              </a:ext>
            </a:extLst>
          </p:cNvPr>
          <p:cNvSpPr txBox="1"/>
          <p:nvPr/>
        </p:nvSpPr>
        <p:spPr>
          <a:xfrm>
            <a:off x="609600" y="5676900"/>
            <a:ext cx="6159500" cy="698500"/>
          </a:xfrm>
          <a:prstGeom prst="rect">
            <a:avLst/>
          </a:prstGeom>
          <a:noFill/>
        </p:spPr>
        <p:txBody>
          <a:bodyPr vert="horz" wrap="square" lIns="0" tIns="0" rIns="0" bIns="0" rtlCol="0">
            <a:noAutofit/>
          </a:bodyPr>
          <a:lstStyle/>
          <a:p>
            <a:pPr>
              <a:spcAft>
                <a:spcPts val="400"/>
              </a:spcAft>
            </a:pPr>
            <a:r>
              <a:rPr lang="es-ES" sz="2000" b="1">
                <a:solidFill>
                  <a:srgbClr val="173F3B"/>
                </a:solidFill>
                <a:latin typeface="Arial" panose="020B0604020202020204" pitchFamily="34" charset="0"/>
              </a:rPr>
              <a:t>Prueba histórica ya inspeccionada.
No es validación externa.</a:t>
            </a:r>
            <a:endParaRPr lang="es-PY" sz="2000" b="1">
              <a:solidFill>
                <a:srgbClr val="173F3B"/>
              </a:solidFill>
              <a:latin typeface="Arial" panose="020B0604020202020204" pitchFamily="34" charset="0"/>
            </a:endParaRPr>
          </a:p>
        </p:txBody>
      </p:sp>
      <p:graphicFrame>
        <p:nvGraphicFramePr>
          <p:cNvPr id="6" name="Tabla 5">
            <a:extLst>
              <a:ext uri="{FF2B5EF4-FFF2-40B4-BE49-F238E27FC236}">
                <a16:creationId xmlns:a16="http://schemas.microsoft.com/office/drawing/2014/main" id="{7330DCEF-3406-9E9A-ACFC-058FB160E5E8}"/>
              </a:ext>
            </a:extLst>
          </p:cNvPr>
          <p:cNvGraphicFramePr>
            <a:graphicFrameLocks noGrp="1"/>
          </p:cNvGraphicFramePr>
          <p:nvPr>
            <p:extLst>
              <p:ext uri="{D42A27DB-BD31-4B8C-83A1-F6EECF244321}">
                <p14:modId xmlns:p14="http://schemas.microsoft.com/office/powerpoint/2010/main" val="625841202"/>
              </p:ext>
            </p:extLst>
          </p:nvPr>
        </p:nvGraphicFramePr>
        <p:xfrm>
          <a:off x="7200900" y="1549400"/>
          <a:ext cx="4419600" cy="42037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3710162115"/>
                    </a:ext>
                  </a:extLst>
                </a:gridCol>
                <a:gridCol w="2578100">
                  <a:extLst>
                    <a:ext uri="{9D8B030D-6E8A-4147-A177-3AD203B41FA5}">
                      <a16:colId xmlns:a16="http://schemas.microsoft.com/office/drawing/2014/main" val="4179436918"/>
                    </a:ext>
                  </a:extLst>
                </a:gridCol>
              </a:tblGrid>
              <a:tr h="840740">
                <a:tc>
                  <a:txBody>
                    <a:bodyPr/>
                    <a:lstStyle/>
                    <a:p>
                      <a:pPr algn="l">
                        <a:spcAft>
                          <a:spcPts val="0"/>
                        </a:spcAft>
                      </a:pPr>
                      <a:r>
                        <a:rPr lang="es-PY" sz="1800" b="1">
                          <a:solidFill>
                            <a:srgbClr val="FFFFFF"/>
                          </a:solidFill>
                          <a:latin typeface="Arial" panose="020B0604020202020204" pitchFamily="34" charset="0"/>
                        </a:rPr>
                        <a:t>Algoritmo</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173F3B"/>
                    </a:solidFill>
                  </a:tcPr>
                </a:tc>
                <a:tc>
                  <a:txBody>
                    <a:bodyPr/>
                    <a:lstStyle/>
                    <a:p>
                      <a:pPr algn="ctr">
                        <a:spcAft>
                          <a:spcPts val="0"/>
                        </a:spcAft>
                      </a:pPr>
                      <a:r>
                        <a:rPr lang="es-PY" sz="1800" b="1">
                          <a:solidFill>
                            <a:srgbClr val="FFFFFF"/>
                          </a:solidFill>
                          <a:latin typeface="Arial" panose="020B0604020202020204" pitchFamily="34" charset="0"/>
                        </a:rPr>
                        <a:t>Configuración elegida</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173F3B"/>
                    </a:solidFill>
                  </a:tcPr>
                </a:tc>
                <a:extLst>
                  <a:ext uri="{0D108BD9-81ED-4DB2-BD59-A6C34878D82A}">
                    <a16:rowId xmlns:a16="http://schemas.microsoft.com/office/drawing/2014/main" val="2665526007"/>
                  </a:ext>
                </a:extLst>
              </a:tr>
              <a:tr h="840740">
                <a:tc>
                  <a:txBody>
                    <a:bodyPr/>
                    <a:lstStyle/>
                    <a:p>
                      <a:pPr algn="l">
                        <a:spcAft>
                          <a:spcPts val="0"/>
                        </a:spcAft>
                      </a:pPr>
                      <a:r>
                        <a:rPr lang="es-PY" sz="1800" b="0">
                          <a:solidFill>
                            <a:srgbClr val="173F3B"/>
                          </a:solidFill>
                          <a:latin typeface="Arial" panose="020B0604020202020204" pitchFamily="34" charset="0"/>
                        </a:rPr>
                        <a:t>Logística</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800" b="0">
                          <a:solidFill>
                            <a:srgbClr val="173F3B"/>
                          </a:solidFill>
                          <a:latin typeface="Arial" panose="020B0604020202020204" pitchFamily="34" charset="0"/>
                        </a:rPr>
                        <a:t>C = 5</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extLst>
                  <a:ext uri="{0D108BD9-81ED-4DB2-BD59-A6C34878D82A}">
                    <a16:rowId xmlns:a16="http://schemas.microsoft.com/office/drawing/2014/main" val="1210571008"/>
                  </a:ext>
                </a:extLst>
              </a:tr>
              <a:tr h="840740">
                <a:tc>
                  <a:txBody>
                    <a:bodyPr/>
                    <a:lstStyle/>
                    <a:p>
                      <a:pPr algn="l">
                        <a:spcAft>
                          <a:spcPts val="0"/>
                        </a:spcAft>
                      </a:pPr>
                      <a:r>
                        <a:rPr lang="es-PY" sz="1800" b="0">
                          <a:solidFill>
                            <a:srgbClr val="173F3B"/>
                          </a:solidFill>
                          <a:latin typeface="Arial" panose="020B0604020202020204" pitchFamily="34" charset="0"/>
                        </a:rPr>
                        <a:t>Árbol</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ES" sz="1800" b="0">
                          <a:solidFill>
                            <a:srgbClr val="173F3B"/>
                          </a:solidFill>
                          <a:latin typeface="Arial" panose="020B0604020202020204" pitchFamily="34" charset="0"/>
                        </a:rPr>
                        <a:t>Profundidad 6
Hoja mínima 50</a:t>
                      </a:r>
                      <a:endParaRPr lang="es-PY" sz="1800" b="0">
                        <a:solidFill>
                          <a:srgbClr val="173F3B"/>
                        </a:solidFill>
                        <a:latin typeface="Arial" panose="020B0604020202020204" pitchFamily="34" charset="0"/>
                      </a:endParaRP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extLst>
                  <a:ext uri="{0D108BD9-81ED-4DB2-BD59-A6C34878D82A}">
                    <a16:rowId xmlns:a16="http://schemas.microsoft.com/office/drawing/2014/main" val="1785180821"/>
                  </a:ext>
                </a:extLst>
              </a:tr>
              <a:tr h="840740">
                <a:tc>
                  <a:txBody>
                    <a:bodyPr/>
                    <a:lstStyle/>
                    <a:p>
                      <a:pPr algn="l">
                        <a:spcAft>
                          <a:spcPts val="0"/>
                        </a:spcAft>
                      </a:pPr>
                      <a:r>
                        <a:rPr lang="es-PY" sz="1800" b="0">
                          <a:solidFill>
                            <a:srgbClr val="173F3B"/>
                          </a:solidFill>
                          <a:latin typeface="Arial" panose="020B0604020202020204" pitchFamily="34" charset="0"/>
                        </a:rPr>
                        <a:t>Random Forest</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1800" b="0">
                          <a:solidFill>
                            <a:srgbClr val="173F3B"/>
                          </a:solidFill>
                          <a:latin typeface="Arial" panose="020B0604020202020204" pitchFamily="34" charset="0"/>
                        </a:rPr>
                        <a:t>100 árboles
Profundidad 3
Hoja mínima 25</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extLst>
                  <a:ext uri="{0D108BD9-81ED-4DB2-BD59-A6C34878D82A}">
                    <a16:rowId xmlns:a16="http://schemas.microsoft.com/office/drawing/2014/main" val="2295510341"/>
                  </a:ext>
                </a:extLst>
              </a:tr>
              <a:tr h="840740">
                <a:tc>
                  <a:txBody>
                    <a:bodyPr/>
                    <a:lstStyle/>
                    <a:p>
                      <a:pPr algn="l">
                        <a:spcAft>
                          <a:spcPts val="0"/>
                        </a:spcAft>
                      </a:pPr>
                      <a:r>
                        <a:rPr lang="es-PY" sz="1800" b="0">
                          <a:solidFill>
                            <a:srgbClr val="173F3B"/>
                          </a:solidFill>
                          <a:latin typeface="Arial" panose="020B0604020202020204" pitchFamily="34" charset="0"/>
                        </a:rPr>
                        <a:t>Bayes categórico</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l-GR" sz="1800" b="0">
                          <a:solidFill>
                            <a:srgbClr val="173F3B"/>
                          </a:solidFill>
                          <a:latin typeface="Arial" panose="020B0604020202020204" pitchFamily="34" charset="0"/>
                        </a:rPr>
                        <a:t>α = 0,1</a:t>
                      </a:r>
                      <a:endParaRPr lang="es-PY" sz="1800" b="0">
                        <a:solidFill>
                          <a:srgbClr val="173F3B"/>
                        </a:solidFill>
                        <a:latin typeface="Arial" panose="020B0604020202020204" pitchFamily="34" charset="0"/>
                      </a:endParaRP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extLst>
                  <a:ext uri="{0D108BD9-81ED-4DB2-BD59-A6C34878D82A}">
                    <a16:rowId xmlns:a16="http://schemas.microsoft.com/office/drawing/2014/main" val="1765739299"/>
                  </a:ext>
                </a:extLst>
              </a:tr>
            </a:tbl>
          </a:graphicData>
        </a:graphic>
      </p:graphicFrame>
      <p:graphicFrame>
        <p:nvGraphicFramePr>
          <p:cNvPr id="7" name="CHART_10"/>
          <p:cNvGraphicFramePr/>
          <p:nvPr/>
        </p:nvGraphicFramePr>
        <p:xfrm>
          <a:off x="508000" y="1917700"/>
          <a:ext cx="6223000" cy="1651000"/>
        </p:xfrm>
        <a:graphic>
          <a:graphicData uri="http://schemas.openxmlformats.org/drawingml/2006/chart">
            <ns2:chart xmlns:ns2="http://schemas.openxmlformats.org/drawingml/2006/chart" r:id="rIdGraph10"/>
          </a:graphicData>
        </a:graphic>
      </p:graphicFrame>
      <p:sp>
        <p:nvSpPr>
          <p:cNvPr id="8" name="CuadroTexto 7">
            <a:extLst>
              <a:ext uri="{FF2B5EF4-FFF2-40B4-BE49-F238E27FC236}">
                <a16:creationId xmlns:a16="http://schemas.microsoft.com/office/drawing/2014/main" id="{6E32CAF8-3D37-4A27-F114-5C338DC946F4}"/>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ES" sz="1050">
                <a:solidFill>
                  <a:srgbClr val="5B716A"/>
                </a:solidFill>
                <a:latin typeface="Arial" panose="020B0604020202020204" pitchFamily="34" charset="0"/>
              </a:rPr>
              <a:t>Fuente: experimento original del notebook. Sexo y grupo de edad como únicos predictores.</a:t>
            </a:r>
            <a:endParaRPr lang="es-PY" sz="1050">
              <a:solidFill>
                <a:srgbClr val="5B716A"/>
              </a:solidFill>
              <a:latin typeface="Arial" panose="020B0604020202020204" pitchFamily="34" charset="0"/>
            </a:endParaRPr>
          </a:p>
        </p:txBody>
      </p:sp>
      <p:sp>
        <p:nvSpPr>
          <p:cNvPr id="9" name="CuadroTexto 8">
            <a:extLst>
              <a:ext uri="{FF2B5EF4-FFF2-40B4-BE49-F238E27FC236}">
                <a16:creationId xmlns:a16="http://schemas.microsoft.com/office/drawing/2014/main" id="{D6C8D57C-E848-57AB-75E0-80961FFD574C}"/>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5B716A"/>
                </a:solidFill>
                <a:latin typeface="Arial" panose="020B0604020202020204" pitchFamily="34" charset="0"/>
              </a:rPr>
              <a:t>11</a:t>
            </a:r>
          </a:p>
        </p:txBody>
      </p:sp>
    </p:spTree>
    <p:extLst>
      <p:ext uri="{BB962C8B-B14F-4D97-AF65-F5344CB8AC3E}">
        <p14:creationId xmlns:p14="http://schemas.microsoft.com/office/powerpoint/2010/main" val="2318401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C93D384-9BB5-D97F-2775-E4060193C9B6}"/>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es-ES" sz="3200" b="1">
                <a:solidFill>
                  <a:srgbClr val="173F3B"/>
                </a:solidFill>
                <a:latin typeface="Arial" panose="020B0604020202020204" pitchFamily="34" charset="0"/>
              </a:rPr>
              <a:t>El árbol gana según el criterio elegido</a:t>
            </a:r>
            <a:endParaRPr lang="es-PY" sz="3200" b="1">
              <a:solidFill>
                <a:srgbClr val="173F3B"/>
              </a:solidFill>
              <a:latin typeface="Arial" panose="020B0604020202020204" pitchFamily="34" charset="0"/>
            </a:endParaRPr>
          </a:p>
        </p:txBody>
      </p:sp>
      <p:sp>
        <p:nvSpPr>
          <p:cNvPr id="3" name="CuadroTexto 2">
            <a:extLst>
              <a:ext uri="{FF2B5EF4-FFF2-40B4-BE49-F238E27FC236}">
                <a16:creationId xmlns:a16="http://schemas.microsoft.com/office/drawing/2014/main" id="{355B6D9A-FD05-8F70-8102-43F1773DD8FF}"/>
              </a:ext>
            </a:extLst>
          </p:cNvPr>
          <p:cNvSpPr txBox="1"/>
          <p:nvPr/>
        </p:nvSpPr>
        <p:spPr>
          <a:xfrm>
            <a:off x="609600" y="1320800"/>
            <a:ext cx="7112000" cy="381000"/>
          </a:xfrm>
          <a:prstGeom prst="rect">
            <a:avLst/>
          </a:prstGeom>
          <a:noFill/>
        </p:spPr>
        <p:txBody>
          <a:bodyPr vert="horz" wrap="square" lIns="0" tIns="0" rIns="0" bIns="0" rtlCol="0">
            <a:noAutofit/>
          </a:bodyPr>
          <a:lstStyle/>
          <a:p>
            <a:pPr>
              <a:spcAft>
                <a:spcPts val="400"/>
              </a:spcAft>
            </a:pPr>
            <a:r>
              <a:rPr lang="es-ES" sz="2200" b="1">
                <a:solidFill>
                  <a:srgbClr val="173F3B"/>
                </a:solidFill>
                <a:latin typeface="Arial" panose="020B0604020202020204" pitchFamily="34" charset="0"/>
              </a:rPr>
              <a:t>F1 macro en validación cruzada</a:t>
            </a:r>
            <a:endParaRPr lang="es-PY" sz="2200" b="1">
              <a:solidFill>
                <a:srgbClr val="173F3B"/>
              </a:solidFill>
              <a:latin typeface="Arial" panose="020B0604020202020204" pitchFamily="34" charset="0"/>
            </a:endParaRPr>
          </a:p>
        </p:txBody>
      </p:sp>
      <p:sp>
        <p:nvSpPr>
          <p:cNvPr id="4" name="CuadroTexto 3">
            <a:extLst>
              <a:ext uri="{FF2B5EF4-FFF2-40B4-BE49-F238E27FC236}">
                <a16:creationId xmlns:a16="http://schemas.microsoft.com/office/drawing/2014/main" id="{23BCB128-DA47-C7BF-88C5-9B37C8A0D3FF}"/>
              </a:ext>
            </a:extLst>
          </p:cNvPr>
          <p:cNvSpPr txBox="1"/>
          <p:nvPr/>
        </p:nvSpPr>
        <p:spPr>
          <a:xfrm>
            <a:off x="8204200" y="1587500"/>
            <a:ext cx="3365500" cy="444500"/>
          </a:xfrm>
          <a:prstGeom prst="rect">
            <a:avLst/>
          </a:prstGeom>
          <a:noFill/>
        </p:spPr>
        <p:txBody>
          <a:bodyPr vert="horz" wrap="square" lIns="0" tIns="0" rIns="0" bIns="0" rtlCol="0">
            <a:noAutofit/>
          </a:bodyPr>
          <a:lstStyle/>
          <a:p>
            <a:pPr>
              <a:spcAft>
                <a:spcPts val="400"/>
              </a:spcAft>
            </a:pPr>
            <a:r>
              <a:rPr lang="es-PY" sz="2400" b="1">
                <a:solidFill>
                  <a:srgbClr val="173F3B"/>
                </a:solidFill>
                <a:latin typeface="Arial" panose="020B0604020202020204" pitchFamily="34" charset="0"/>
              </a:rPr>
              <a:t>En prueba</a:t>
            </a:r>
          </a:p>
        </p:txBody>
      </p:sp>
      <p:sp>
        <p:nvSpPr>
          <p:cNvPr id="5" name="CuadroTexto 4">
            <a:extLst>
              <a:ext uri="{FF2B5EF4-FFF2-40B4-BE49-F238E27FC236}">
                <a16:creationId xmlns:a16="http://schemas.microsoft.com/office/drawing/2014/main" id="{E35F5194-91FA-E8BA-0D8B-6F99C143EB0C}"/>
              </a:ext>
            </a:extLst>
          </p:cNvPr>
          <p:cNvSpPr txBox="1"/>
          <p:nvPr/>
        </p:nvSpPr>
        <p:spPr>
          <a:xfrm>
            <a:off x="8153400" y="2273300"/>
            <a:ext cx="3479800" cy="825500"/>
          </a:xfrm>
          <a:prstGeom prst="rect">
            <a:avLst/>
          </a:prstGeom>
          <a:noFill/>
        </p:spPr>
        <p:txBody>
          <a:bodyPr vert="horz" wrap="square" lIns="0" tIns="0" rIns="0" bIns="0" rtlCol="0">
            <a:noAutofit/>
          </a:bodyPr>
          <a:lstStyle/>
          <a:p>
            <a:pPr>
              <a:spcAft>
                <a:spcPts val="400"/>
              </a:spcAft>
            </a:pPr>
            <a:r>
              <a:rPr lang="es-PY" sz="4300" b="1">
                <a:solidFill>
                  <a:srgbClr val="BA6A3A"/>
                </a:solidFill>
                <a:latin typeface="Arial" panose="020B0604020202020204" pitchFamily="34" charset="0"/>
              </a:rPr>
              <a:t>0,5299</a:t>
            </a:r>
          </a:p>
        </p:txBody>
      </p:sp>
      <p:sp>
        <p:nvSpPr>
          <p:cNvPr id="6" name="CuadroTexto 5">
            <a:extLst>
              <a:ext uri="{FF2B5EF4-FFF2-40B4-BE49-F238E27FC236}">
                <a16:creationId xmlns:a16="http://schemas.microsoft.com/office/drawing/2014/main" id="{57C1E65E-8B04-52E3-4F3F-8C8C3AED5C8A}"/>
              </a:ext>
            </a:extLst>
          </p:cNvPr>
          <p:cNvSpPr txBox="1"/>
          <p:nvPr/>
        </p:nvSpPr>
        <p:spPr>
          <a:xfrm>
            <a:off x="8204200" y="3149600"/>
            <a:ext cx="3365500" cy="381000"/>
          </a:xfrm>
          <a:prstGeom prst="rect">
            <a:avLst/>
          </a:prstGeom>
          <a:noFill/>
        </p:spPr>
        <p:txBody>
          <a:bodyPr vert="horz" wrap="square" lIns="0" tIns="0" rIns="0" bIns="0" rtlCol="0">
            <a:noAutofit/>
          </a:bodyPr>
          <a:lstStyle/>
          <a:p>
            <a:pPr>
              <a:spcAft>
                <a:spcPts val="400"/>
              </a:spcAft>
            </a:pPr>
            <a:r>
              <a:rPr lang="es-PY" sz="2100">
                <a:solidFill>
                  <a:srgbClr val="173F3B"/>
                </a:solidFill>
                <a:latin typeface="Arial" panose="020B0604020202020204" pitchFamily="34" charset="0"/>
              </a:rPr>
              <a:t>F1 macro</a:t>
            </a:r>
          </a:p>
        </p:txBody>
      </p:sp>
      <p:sp>
        <p:nvSpPr>
          <p:cNvPr id="7" name="CuadroTexto 6">
            <a:extLst>
              <a:ext uri="{FF2B5EF4-FFF2-40B4-BE49-F238E27FC236}">
                <a16:creationId xmlns:a16="http://schemas.microsoft.com/office/drawing/2014/main" id="{1EC9FD46-B9DE-365C-629B-C9A8A04229B2}"/>
              </a:ext>
            </a:extLst>
          </p:cNvPr>
          <p:cNvSpPr txBox="1"/>
          <p:nvPr/>
        </p:nvSpPr>
        <p:spPr>
          <a:xfrm>
            <a:off x="8153400" y="3898900"/>
            <a:ext cx="3479800" cy="825500"/>
          </a:xfrm>
          <a:prstGeom prst="rect">
            <a:avLst/>
          </a:prstGeom>
          <a:noFill/>
        </p:spPr>
        <p:txBody>
          <a:bodyPr vert="horz" wrap="square" lIns="0" tIns="0" rIns="0" bIns="0" rtlCol="0">
            <a:noAutofit/>
          </a:bodyPr>
          <a:lstStyle/>
          <a:p>
            <a:pPr>
              <a:spcAft>
                <a:spcPts val="400"/>
              </a:spcAft>
            </a:pPr>
            <a:r>
              <a:rPr lang="es-PY" sz="4300" b="1">
                <a:solidFill>
                  <a:srgbClr val="173F3B"/>
                </a:solidFill>
                <a:latin typeface="Arial" panose="020B0604020202020204" pitchFamily="34" charset="0"/>
              </a:rPr>
              <a:t>0,5809</a:t>
            </a:r>
          </a:p>
        </p:txBody>
      </p:sp>
      <p:sp>
        <p:nvSpPr>
          <p:cNvPr id="8" name="CuadroTexto 7">
            <a:extLst>
              <a:ext uri="{FF2B5EF4-FFF2-40B4-BE49-F238E27FC236}">
                <a16:creationId xmlns:a16="http://schemas.microsoft.com/office/drawing/2014/main" id="{86D213CE-4936-482D-37ED-4529A0B4C1C7}"/>
              </a:ext>
            </a:extLst>
          </p:cNvPr>
          <p:cNvSpPr txBox="1"/>
          <p:nvPr/>
        </p:nvSpPr>
        <p:spPr>
          <a:xfrm>
            <a:off x="8204200" y="4787900"/>
            <a:ext cx="3416300" cy="787400"/>
          </a:xfrm>
          <a:prstGeom prst="rect">
            <a:avLst/>
          </a:prstGeom>
          <a:noFill/>
        </p:spPr>
        <p:txBody>
          <a:bodyPr vert="horz" wrap="square" lIns="0" tIns="0" rIns="0" bIns="0" rtlCol="0">
            <a:noAutofit/>
          </a:bodyPr>
          <a:lstStyle/>
          <a:p>
            <a:pPr>
              <a:spcAft>
                <a:spcPts val="400"/>
              </a:spcAft>
            </a:pPr>
            <a:r>
              <a:rPr lang="es-ES" sz="2000">
                <a:solidFill>
                  <a:srgbClr val="173F3B"/>
                </a:solidFill>
                <a:latin typeface="Arial" panose="020B0604020202020204" pitchFamily="34" charset="0"/>
              </a:rPr>
              <a:t>AUC: 0,5 indica
falta de discriminación</a:t>
            </a:r>
            <a:endParaRPr lang="es-PY" sz="2000">
              <a:solidFill>
                <a:srgbClr val="173F3B"/>
              </a:solidFill>
              <a:latin typeface="Arial" panose="020B0604020202020204" pitchFamily="34" charset="0"/>
            </a:endParaRPr>
          </a:p>
        </p:txBody>
      </p:sp>
      <p:sp>
        <p:nvSpPr>
          <p:cNvPr id="9" name="CuadroTexto 8">
            <a:extLst>
              <a:ext uri="{FF2B5EF4-FFF2-40B4-BE49-F238E27FC236}">
                <a16:creationId xmlns:a16="http://schemas.microsoft.com/office/drawing/2014/main" id="{00343352-47F0-1BF0-9A68-C76F7C748341}"/>
              </a:ext>
            </a:extLst>
          </p:cNvPr>
          <p:cNvSpPr txBox="1"/>
          <p:nvPr/>
        </p:nvSpPr>
        <p:spPr>
          <a:xfrm>
            <a:off x="609600" y="6032500"/>
            <a:ext cx="10972800" cy="406400"/>
          </a:xfrm>
          <a:prstGeom prst="rect">
            <a:avLst/>
          </a:prstGeom>
          <a:noFill/>
        </p:spPr>
        <p:txBody>
          <a:bodyPr vert="horz" wrap="square" lIns="0" tIns="0" rIns="0" bIns="0" rtlCol="0">
            <a:noAutofit/>
          </a:bodyPr>
          <a:lstStyle/>
          <a:p>
            <a:pPr>
              <a:spcAft>
                <a:spcPts val="400"/>
              </a:spcAft>
            </a:pPr>
            <a:r>
              <a:rPr lang="es-ES" sz="2100" b="1">
                <a:solidFill>
                  <a:srgbClr val="173F3B"/>
                </a:solidFill>
                <a:latin typeface="Arial" panose="020B0604020202020204" pitchFamily="34" charset="0"/>
              </a:rPr>
              <a:t>El F1 macro da el mismo peso a Herido y Fallecido.</a:t>
            </a:r>
            <a:endParaRPr lang="es-PY" sz="2100" b="1">
              <a:solidFill>
                <a:srgbClr val="173F3B"/>
              </a:solidFill>
              <a:latin typeface="Arial" panose="020B0604020202020204" pitchFamily="34" charset="0"/>
            </a:endParaRPr>
          </a:p>
        </p:txBody>
      </p:sp>
      <p:graphicFrame>
        <p:nvGraphicFramePr>
          <p:cNvPr id="10" name="CHART_11"/>
          <p:cNvGraphicFramePr/>
          <p:nvPr/>
        </p:nvGraphicFramePr>
        <p:xfrm>
          <a:off x="431800" y="1841500"/>
          <a:ext cx="7251700" cy="4013200"/>
        </p:xfrm>
        <a:graphic>
          <a:graphicData uri="http://schemas.openxmlformats.org/drawingml/2006/chart">
            <ns2:chart xmlns:ns2="http://schemas.openxmlformats.org/drawingml/2006/chart" r:id="rIdGraph11"/>
          </a:graphicData>
        </a:graphic>
      </p:graphicFrame>
      <p:sp>
        <p:nvSpPr>
          <p:cNvPr id="11" name="CuadroTexto 10">
            <a:extLst>
              <a:ext uri="{FF2B5EF4-FFF2-40B4-BE49-F238E27FC236}">
                <a16:creationId xmlns:a16="http://schemas.microsoft.com/office/drawing/2014/main" id="{64D66E7B-6EA8-9E84-5BB7-FF6AFF6DB6F0}"/>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ES" sz="1050">
                <a:solidFill>
                  <a:srgbClr val="5B716A"/>
                </a:solidFill>
                <a:latin typeface="Arial" panose="020B0604020202020204" pitchFamily="34" charset="0"/>
              </a:rPr>
              <a:t>Fuente: F1 macro CV del entrenamiento y métricas de la reserva histórica del notebook.</a:t>
            </a:r>
            <a:endParaRPr lang="es-PY" sz="1050">
              <a:solidFill>
                <a:srgbClr val="5B716A"/>
              </a:solidFill>
              <a:latin typeface="Arial" panose="020B0604020202020204" pitchFamily="34" charset="0"/>
            </a:endParaRPr>
          </a:p>
        </p:txBody>
      </p:sp>
      <p:sp>
        <p:nvSpPr>
          <p:cNvPr id="12" name="CuadroTexto 11">
            <a:extLst>
              <a:ext uri="{FF2B5EF4-FFF2-40B4-BE49-F238E27FC236}">
                <a16:creationId xmlns:a16="http://schemas.microsoft.com/office/drawing/2014/main" id="{C154EF37-6759-98C9-0504-A7507C670C67}"/>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5B716A"/>
                </a:solidFill>
                <a:latin typeface="Arial" panose="020B0604020202020204" pitchFamily="34" charset="0"/>
              </a:rPr>
              <a:t>12</a:t>
            </a:r>
          </a:p>
        </p:txBody>
      </p:sp>
    </p:spTree>
    <p:extLst>
      <p:ext uri="{BB962C8B-B14F-4D97-AF65-F5344CB8AC3E}">
        <p14:creationId xmlns:p14="http://schemas.microsoft.com/office/powerpoint/2010/main" val="476333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FEEEDAA-84DE-973D-C0D0-9E23F42025DC}"/>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es-ES" sz="3200" b="1">
                <a:solidFill>
                  <a:srgbClr val="173F3B"/>
                </a:solidFill>
                <a:latin typeface="Arial" panose="020B0604020202020204" pitchFamily="34" charset="0"/>
              </a:rPr>
              <a:t>El modelo omite a 107 de los 196 fallecidos</a:t>
            </a:r>
            <a:endParaRPr lang="es-PY" sz="3200" b="1">
              <a:solidFill>
                <a:srgbClr val="173F3B"/>
              </a:solidFill>
              <a:latin typeface="Arial" panose="020B0604020202020204" pitchFamily="34" charset="0"/>
            </a:endParaRPr>
          </a:p>
        </p:txBody>
      </p:sp>
      <p:sp>
        <p:nvSpPr>
          <p:cNvPr id="3" name="CuadroTexto 2">
            <a:extLst>
              <a:ext uri="{FF2B5EF4-FFF2-40B4-BE49-F238E27FC236}">
                <a16:creationId xmlns:a16="http://schemas.microsoft.com/office/drawing/2014/main" id="{3AE8C70B-2162-9484-A4F5-BA40D19E2632}"/>
              </a:ext>
            </a:extLst>
          </p:cNvPr>
          <p:cNvSpPr txBox="1"/>
          <p:nvPr/>
        </p:nvSpPr>
        <p:spPr>
          <a:xfrm>
            <a:off x="609600" y="1346200"/>
            <a:ext cx="6477000" cy="393700"/>
          </a:xfrm>
          <a:prstGeom prst="rect">
            <a:avLst/>
          </a:prstGeom>
          <a:noFill/>
        </p:spPr>
        <p:txBody>
          <a:bodyPr vert="horz" wrap="square" lIns="0" tIns="0" rIns="0" bIns="0" rtlCol="0">
            <a:noAutofit/>
          </a:bodyPr>
          <a:lstStyle/>
          <a:p>
            <a:pPr>
              <a:spcAft>
                <a:spcPts val="400"/>
              </a:spcAft>
            </a:pPr>
            <a:r>
              <a:rPr lang="es-PY" sz="2200" b="1">
                <a:solidFill>
                  <a:srgbClr val="173F3B"/>
                </a:solidFill>
                <a:latin typeface="Arial" panose="020B0604020202020204" pitchFamily="34" charset="0"/>
              </a:rPr>
              <a:t>Matriz de confusión</a:t>
            </a:r>
          </a:p>
        </p:txBody>
      </p:sp>
      <p:sp>
        <p:nvSpPr>
          <p:cNvPr id="4" name="CuadroTexto 3">
            <a:extLst>
              <a:ext uri="{FF2B5EF4-FFF2-40B4-BE49-F238E27FC236}">
                <a16:creationId xmlns:a16="http://schemas.microsoft.com/office/drawing/2014/main" id="{CF4C5F56-CD7B-FF65-6722-E9EC11004E1E}"/>
              </a:ext>
            </a:extLst>
          </p:cNvPr>
          <p:cNvSpPr txBox="1"/>
          <p:nvPr/>
        </p:nvSpPr>
        <p:spPr>
          <a:xfrm>
            <a:off x="7747000" y="1625600"/>
            <a:ext cx="3886200" cy="723900"/>
          </a:xfrm>
          <a:prstGeom prst="rect">
            <a:avLst/>
          </a:prstGeom>
          <a:noFill/>
        </p:spPr>
        <p:txBody>
          <a:bodyPr vert="horz" wrap="square" lIns="0" tIns="0" rIns="0" bIns="0" rtlCol="0">
            <a:noAutofit/>
          </a:bodyPr>
          <a:lstStyle/>
          <a:p>
            <a:pPr>
              <a:spcAft>
                <a:spcPts val="400"/>
              </a:spcAft>
            </a:pPr>
            <a:r>
              <a:rPr lang="es-PY" sz="3800" b="1">
                <a:solidFill>
                  <a:srgbClr val="BA6A3A"/>
                </a:solidFill>
                <a:latin typeface="Arial" panose="020B0604020202020204" pitchFamily="34" charset="0"/>
              </a:rPr>
              <a:t>89 de 196</a:t>
            </a:r>
          </a:p>
        </p:txBody>
      </p:sp>
      <p:sp>
        <p:nvSpPr>
          <p:cNvPr id="5" name="CuadroTexto 4">
            <a:extLst>
              <a:ext uri="{FF2B5EF4-FFF2-40B4-BE49-F238E27FC236}">
                <a16:creationId xmlns:a16="http://schemas.microsoft.com/office/drawing/2014/main" id="{400433BF-9C56-3647-E610-35A4D2CA6CFA}"/>
              </a:ext>
            </a:extLst>
          </p:cNvPr>
          <p:cNvSpPr txBox="1"/>
          <p:nvPr/>
        </p:nvSpPr>
        <p:spPr>
          <a:xfrm>
            <a:off x="7772400" y="2463800"/>
            <a:ext cx="3860800" cy="863600"/>
          </a:xfrm>
          <a:prstGeom prst="rect">
            <a:avLst/>
          </a:prstGeom>
          <a:noFill/>
        </p:spPr>
        <p:txBody>
          <a:bodyPr vert="horz" wrap="square" lIns="0" tIns="0" rIns="0" bIns="0" rtlCol="0">
            <a:noAutofit/>
          </a:bodyPr>
          <a:lstStyle/>
          <a:p>
            <a:pPr>
              <a:spcAft>
                <a:spcPts val="400"/>
              </a:spcAft>
            </a:pPr>
            <a:r>
              <a:rPr lang="es-PY" sz="2300">
                <a:solidFill>
                  <a:srgbClr val="173F3B"/>
                </a:solidFill>
                <a:latin typeface="Arial" panose="020B0604020202020204" pitchFamily="34" charset="0"/>
              </a:rPr>
              <a:t>fallecidos detectados
Recall: 45,41 %</a:t>
            </a:r>
          </a:p>
        </p:txBody>
      </p:sp>
      <p:sp>
        <p:nvSpPr>
          <p:cNvPr id="6" name="CuadroTexto 5">
            <a:extLst>
              <a:ext uri="{FF2B5EF4-FFF2-40B4-BE49-F238E27FC236}">
                <a16:creationId xmlns:a16="http://schemas.microsoft.com/office/drawing/2014/main" id="{C2983A55-0E8F-1C20-75EC-132EFB125694}"/>
              </a:ext>
            </a:extLst>
          </p:cNvPr>
          <p:cNvSpPr txBox="1"/>
          <p:nvPr/>
        </p:nvSpPr>
        <p:spPr>
          <a:xfrm>
            <a:off x="7772400" y="3721100"/>
            <a:ext cx="3860800" cy="927100"/>
          </a:xfrm>
          <a:prstGeom prst="rect">
            <a:avLst/>
          </a:prstGeom>
          <a:noFill/>
        </p:spPr>
        <p:txBody>
          <a:bodyPr vert="horz" wrap="square" lIns="0" tIns="0" rIns="0" bIns="0" rtlCol="0">
            <a:noAutofit/>
          </a:bodyPr>
          <a:lstStyle/>
          <a:p>
            <a:pPr>
              <a:spcAft>
                <a:spcPts val="400"/>
              </a:spcAft>
            </a:pPr>
            <a:r>
              <a:rPr lang="es-PY" sz="2300">
                <a:solidFill>
                  <a:srgbClr val="173F3B"/>
                </a:solidFill>
                <a:latin typeface="Arial" panose="020B0604020202020204" pitchFamily="34" charset="0"/>
              </a:rPr>
              <a:t>Precisión: 23,24 %
Exactitud: 63,51 %</a:t>
            </a:r>
          </a:p>
        </p:txBody>
      </p:sp>
      <p:sp>
        <p:nvSpPr>
          <p:cNvPr id="7" name="CuadroTexto 6">
            <a:extLst>
              <a:ext uri="{FF2B5EF4-FFF2-40B4-BE49-F238E27FC236}">
                <a16:creationId xmlns:a16="http://schemas.microsoft.com/office/drawing/2014/main" id="{6FA610D2-EA6A-90B9-4E15-EF1A53906A0D}"/>
              </a:ext>
            </a:extLst>
          </p:cNvPr>
          <p:cNvSpPr txBox="1"/>
          <p:nvPr/>
        </p:nvSpPr>
        <p:spPr>
          <a:xfrm>
            <a:off x="609600" y="5283200"/>
            <a:ext cx="10972800" cy="990600"/>
          </a:xfrm>
          <a:prstGeom prst="rect">
            <a:avLst/>
          </a:prstGeom>
          <a:noFill/>
        </p:spPr>
        <p:txBody>
          <a:bodyPr vert="horz" wrap="square" lIns="0" tIns="0" rIns="0" bIns="0" rtlCol="0">
            <a:noAutofit/>
          </a:bodyPr>
          <a:lstStyle/>
          <a:p>
            <a:pPr>
              <a:spcAft>
                <a:spcPts val="400"/>
              </a:spcAft>
            </a:pPr>
            <a:r>
              <a:rPr lang="es-ES" sz="2100" b="1">
                <a:solidFill>
                  <a:srgbClr val="173F3B"/>
                </a:solidFill>
                <a:latin typeface="Arial" panose="020B0604020202020204" pitchFamily="34" charset="0"/>
              </a:rPr>
              <a:t>Omisiones: 33 de 33 mujeres fallecidas y 81 de 81 menores de 30.
Comparten 15 casos: no se suman sin descontarlos.</a:t>
            </a:r>
            <a:endParaRPr lang="es-PY" sz="2100" b="1">
              <a:solidFill>
                <a:srgbClr val="173F3B"/>
              </a:solidFill>
              <a:latin typeface="Arial" panose="020B0604020202020204" pitchFamily="34" charset="0"/>
            </a:endParaRPr>
          </a:p>
        </p:txBody>
      </p:sp>
      <p:graphicFrame>
        <p:nvGraphicFramePr>
          <p:cNvPr id="8" name="Tabla 7">
            <a:extLst>
              <a:ext uri="{FF2B5EF4-FFF2-40B4-BE49-F238E27FC236}">
                <a16:creationId xmlns:a16="http://schemas.microsoft.com/office/drawing/2014/main" id="{C7B0977D-21C6-541C-8ADD-D2D85CFA64A3}"/>
              </a:ext>
            </a:extLst>
          </p:cNvPr>
          <p:cNvGraphicFramePr>
            <a:graphicFrameLocks noGrp="1"/>
          </p:cNvGraphicFramePr>
          <p:nvPr>
            <p:extLst>
              <p:ext uri="{D42A27DB-BD31-4B8C-83A1-F6EECF244321}">
                <p14:modId xmlns:p14="http://schemas.microsoft.com/office/powerpoint/2010/main" val="4271872069"/>
              </p:ext>
            </p:extLst>
          </p:nvPr>
        </p:nvGraphicFramePr>
        <p:xfrm>
          <a:off x="609600" y="1993900"/>
          <a:ext cx="6388100" cy="2794000"/>
        </p:xfrm>
        <a:graphic>
          <a:graphicData uri="http://schemas.openxmlformats.org/drawingml/2006/table">
            <a:tbl>
              <a:tblPr firstRow="1" bandRow="1">
                <a:tableStyleId>{5C22544A-7EE6-4342-B048-85BDC9FD1C3A}</a:tableStyleId>
              </a:tblPr>
              <a:tblGrid>
                <a:gridCol w="2476500">
                  <a:extLst>
                    <a:ext uri="{9D8B030D-6E8A-4147-A177-3AD203B41FA5}">
                      <a16:colId xmlns:a16="http://schemas.microsoft.com/office/drawing/2014/main" val="1642696069"/>
                    </a:ext>
                  </a:extLst>
                </a:gridCol>
                <a:gridCol w="1955800">
                  <a:extLst>
                    <a:ext uri="{9D8B030D-6E8A-4147-A177-3AD203B41FA5}">
                      <a16:colId xmlns:a16="http://schemas.microsoft.com/office/drawing/2014/main" val="3040387085"/>
                    </a:ext>
                  </a:extLst>
                </a:gridCol>
                <a:gridCol w="1955800">
                  <a:extLst>
                    <a:ext uri="{9D8B030D-6E8A-4147-A177-3AD203B41FA5}">
                      <a16:colId xmlns:a16="http://schemas.microsoft.com/office/drawing/2014/main" val="3526363025"/>
                    </a:ext>
                  </a:extLst>
                </a:gridCol>
              </a:tblGrid>
              <a:tr h="931333">
                <a:tc>
                  <a:txBody>
                    <a:bodyPr/>
                    <a:lstStyle/>
                    <a:p>
                      <a:pPr algn="l">
                        <a:spcAft>
                          <a:spcPts val="0"/>
                        </a:spcAft>
                      </a:pPr>
                      <a:r>
                        <a:rPr lang="es-PY" sz="2300" b="1">
                          <a:solidFill>
                            <a:srgbClr val="FFFFFF"/>
                          </a:solidFill>
                          <a:latin typeface="Arial" panose="020B0604020202020204" pitchFamily="34" charset="0"/>
                        </a:rPr>
                        <a:t>Desenlace real</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173F3B"/>
                    </a:solidFill>
                  </a:tcPr>
                </a:tc>
                <a:tc>
                  <a:txBody>
                    <a:bodyPr/>
                    <a:lstStyle/>
                    <a:p>
                      <a:pPr algn="ctr">
                        <a:spcAft>
                          <a:spcPts val="0"/>
                        </a:spcAft>
                      </a:pPr>
                      <a:r>
                        <a:rPr lang="es-PY" sz="2300" b="1">
                          <a:solidFill>
                            <a:srgbClr val="FFFFFF"/>
                          </a:solidFill>
                          <a:latin typeface="Arial" panose="020B0604020202020204" pitchFamily="34" charset="0"/>
                        </a:rPr>
                        <a:t>Predijo
Herido</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173F3B"/>
                    </a:solidFill>
                  </a:tcPr>
                </a:tc>
                <a:tc>
                  <a:txBody>
                    <a:bodyPr/>
                    <a:lstStyle/>
                    <a:p>
                      <a:pPr algn="ctr">
                        <a:spcAft>
                          <a:spcPts val="0"/>
                        </a:spcAft>
                      </a:pPr>
                      <a:r>
                        <a:rPr lang="es-PY" sz="2300" b="1">
                          <a:solidFill>
                            <a:srgbClr val="FFFFFF"/>
                          </a:solidFill>
                          <a:latin typeface="Arial" panose="020B0604020202020204" pitchFamily="34" charset="0"/>
                        </a:rPr>
                        <a:t>Predijo
Fallecido</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173F3B"/>
                    </a:solidFill>
                  </a:tcPr>
                </a:tc>
                <a:extLst>
                  <a:ext uri="{0D108BD9-81ED-4DB2-BD59-A6C34878D82A}">
                    <a16:rowId xmlns:a16="http://schemas.microsoft.com/office/drawing/2014/main" val="1733764568"/>
                  </a:ext>
                </a:extLst>
              </a:tr>
              <a:tr h="931333">
                <a:tc>
                  <a:txBody>
                    <a:bodyPr/>
                    <a:lstStyle/>
                    <a:p>
                      <a:pPr algn="l">
                        <a:spcAft>
                          <a:spcPts val="0"/>
                        </a:spcAft>
                      </a:pPr>
                      <a:r>
                        <a:rPr lang="es-PY" sz="2300" b="0">
                          <a:solidFill>
                            <a:srgbClr val="173F3B"/>
                          </a:solidFill>
                          <a:latin typeface="Arial" panose="020B0604020202020204" pitchFamily="34" charset="0"/>
                        </a:rPr>
                        <a:t>Herido</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2300" b="0">
                          <a:solidFill>
                            <a:srgbClr val="173F3B"/>
                          </a:solidFill>
                          <a:latin typeface="Arial" panose="020B0604020202020204" pitchFamily="34" charset="0"/>
                        </a:rPr>
                        <a:t>609</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2300" b="0">
                          <a:solidFill>
                            <a:srgbClr val="173F3B"/>
                          </a:solidFill>
                          <a:latin typeface="Arial" panose="020B0604020202020204" pitchFamily="34" charset="0"/>
                        </a:rPr>
                        <a:t>294</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extLst>
                  <a:ext uri="{0D108BD9-81ED-4DB2-BD59-A6C34878D82A}">
                    <a16:rowId xmlns:a16="http://schemas.microsoft.com/office/drawing/2014/main" val="1581878908"/>
                  </a:ext>
                </a:extLst>
              </a:tr>
              <a:tr h="931333">
                <a:tc>
                  <a:txBody>
                    <a:bodyPr/>
                    <a:lstStyle/>
                    <a:p>
                      <a:pPr algn="l">
                        <a:spcAft>
                          <a:spcPts val="0"/>
                        </a:spcAft>
                      </a:pPr>
                      <a:r>
                        <a:rPr lang="es-PY" sz="2300" b="0">
                          <a:solidFill>
                            <a:srgbClr val="173F3B"/>
                          </a:solidFill>
                          <a:latin typeface="Arial" panose="020B0604020202020204" pitchFamily="34" charset="0"/>
                        </a:rPr>
                        <a:t>Fallecido</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F7F7F2"/>
                    </a:solidFill>
                  </a:tcPr>
                </a:tc>
                <a:tc>
                  <a:txBody>
                    <a:bodyPr/>
                    <a:lstStyle/>
                    <a:p>
                      <a:pPr algn="ctr">
                        <a:spcAft>
                          <a:spcPts val="0"/>
                        </a:spcAft>
                      </a:pPr>
                      <a:r>
                        <a:rPr lang="es-PY" sz="2300" b="1">
                          <a:solidFill>
                            <a:srgbClr val="FFFFFF"/>
                          </a:solidFill>
                          <a:latin typeface="Arial" panose="020B0604020202020204" pitchFamily="34" charset="0"/>
                        </a:rPr>
                        <a:t>107</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BA6A3A"/>
                    </a:solidFill>
                  </a:tcPr>
                </a:tc>
                <a:tc>
                  <a:txBody>
                    <a:bodyPr/>
                    <a:lstStyle/>
                    <a:p>
                      <a:pPr algn="ctr">
                        <a:spcAft>
                          <a:spcPts val="0"/>
                        </a:spcAft>
                      </a:pPr>
                      <a:r>
                        <a:rPr lang="es-PY" sz="2300" b="1">
                          <a:solidFill>
                            <a:srgbClr val="FFFFFF"/>
                          </a:solidFill>
                          <a:latin typeface="Arial" panose="020B0604020202020204" pitchFamily="34" charset="0"/>
                        </a:rPr>
                        <a:t>89</a:t>
                      </a:r>
                    </a:p>
                  </a:txBody>
                  <a:tcPr marL="114300" marR="101600" marT="63500" marB="63500" anchor="ctr">
                    <a:lnL w="7620" cmpd="sng">
                      <a:solidFill>
                        <a:srgbClr val="D9E2DC"/>
                      </a:solidFill>
                    </a:lnL>
                    <a:lnR w="7620" cmpd="sng">
                      <a:solidFill>
                        <a:srgbClr val="D9E2DC"/>
                      </a:solidFill>
                    </a:lnR>
                    <a:lnT w="7620" cmpd="sng">
                      <a:solidFill>
                        <a:srgbClr val="D9E2DC"/>
                      </a:solidFill>
                    </a:lnT>
                    <a:lnB w="7620" cmpd="sng">
                      <a:solidFill>
                        <a:srgbClr val="D9E2DC"/>
                      </a:solidFill>
                    </a:lnB>
                    <a:solidFill>
                      <a:srgbClr val="287F79"/>
                    </a:solidFill>
                  </a:tcPr>
                </a:tc>
                <a:extLst>
                  <a:ext uri="{0D108BD9-81ED-4DB2-BD59-A6C34878D82A}">
                    <a16:rowId xmlns:a16="http://schemas.microsoft.com/office/drawing/2014/main" val="1533204573"/>
                  </a:ext>
                </a:extLst>
              </a:tr>
            </a:tbl>
          </a:graphicData>
        </a:graphic>
      </p:graphicFrame>
      <p:sp>
        <p:nvSpPr>
          <p:cNvPr id="9" name="CuadroTexto 8">
            <a:extLst>
              <a:ext uri="{FF2B5EF4-FFF2-40B4-BE49-F238E27FC236}">
                <a16:creationId xmlns:a16="http://schemas.microsoft.com/office/drawing/2014/main" id="{BC271692-9EF4-5D14-25F2-FEF7B0AB5E42}"/>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ES" sz="1050">
                <a:solidFill>
                  <a:srgbClr val="5B716A"/>
                </a:solidFill>
                <a:latin typeface="Arial" panose="020B0604020202020204" pitchFamily="34" charset="0"/>
              </a:rPr>
              <a:t>Fuente: predicciones de prueba del árbol. N = 1.099 filas, con 196 fallecidos.</a:t>
            </a:r>
            <a:endParaRPr lang="es-PY" sz="1050">
              <a:solidFill>
                <a:srgbClr val="5B716A"/>
              </a:solidFill>
              <a:latin typeface="Arial" panose="020B0604020202020204" pitchFamily="34" charset="0"/>
            </a:endParaRPr>
          </a:p>
        </p:txBody>
      </p:sp>
      <p:sp>
        <p:nvSpPr>
          <p:cNvPr id="10" name="CuadroTexto 9">
            <a:extLst>
              <a:ext uri="{FF2B5EF4-FFF2-40B4-BE49-F238E27FC236}">
                <a16:creationId xmlns:a16="http://schemas.microsoft.com/office/drawing/2014/main" id="{D0D3BD52-EEC8-073C-6624-4C6957164AB9}"/>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5B716A"/>
                </a:solidFill>
                <a:latin typeface="Arial" panose="020B0604020202020204" pitchFamily="34" charset="0"/>
              </a:rPr>
              <a:t>13</a:t>
            </a:r>
          </a:p>
        </p:txBody>
      </p:sp>
    </p:spTree>
    <p:extLst>
      <p:ext uri="{BB962C8B-B14F-4D97-AF65-F5344CB8AC3E}">
        <p14:creationId xmlns:p14="http://schemas.microsoft.com/office/powerpoint/2010/main" val="1618867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7A83F70-F38A-9EB6-386A-101D7C37A7F8}"/>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es-ES" sz="3200" b="1">
                <a:solidFill>
                  <a:srgbClr val="173F3B"/>
                </a:solidFill>
                <a:latin typeface="Arial" panose="020B0604020202020204" pitchFamily="34" charset="0"/>
              </a:rPr>
              <a:t>La generalización sigue siendo limitada</a:t>
            </a:r>
            <a:endParaRPr lang="es-PY" sz="3200" b="1">
              <a:solidFill>
                <a:srgbClr val="173F3B"/>
              </a:solidFill>
              <a:latin typeface="Arial" panose="020B0604020202020204" pitchFamily="34" charset="0"/>
            </a:endParaRPr>
          </a:p>
        </p:txBody>
      </p:sp>
      <p:sp>
        <p:nvSpPr>
          <p:cNvPr id="3" name="CuadroTexto 2">
            <a:extLst>
              <a:ext uri="{FF2B5EF4-FFF2-40B4-BE49-F238E27FC236}">
                <a16:creationId xmlns:a16="http://schemas.microsoft.com/office/drawing/2014/main" id="{4A980A20-834B-746C-5EFC-A839904FFE54}"/>
              </a:ext>
            </a:extLst>
          </p:cNvPr>
          <p:cNvSpPr txBox="1"/>
          <p:nvPr/>
        </p:nvSpPr>
        <p:spPr>
          <a:xfrm>
            <a:off x="609600" y="1320800"/>
            <a:ext cx="5778500" cy="381000"/>
          </a:xfrm>
          <a:prstGeom prst="rect">
            <a:avLst/>
          </a:prstGeom>
          <a:noFill/>
        </p:spPr>
        <p:txBody>
          <a:bodyPr vert="horz" wrap="square" lIns="0" tIns="0" rIns="0" bIns="0" rtlCol="0">
            <a:noAutofit/>
          </a:bodyPr>
          <a:lstStyle/>
          <a:p>
            <a:pPr>
              <a:spcAft>
                <a:spcPts val="400"/>
              </a:spcAft>
            </a:pPr>
            <a:r>
              <a:rPr lang="es-PY" sz="2200" b="1">
                <a:solidFill>
                  <a:srgbClr val="173F3B"/>
                </a:solidFill>
                <a:latin typeface="Arial" panose="020B0604020202020204" pitchFamily="34" charset="0"/>
              </a:rPr>
              <a:t>F1 macro según evaluación</a:t>
            </a:r>
          </a:p>
        </p:txBody>
      </p:sp>
      <p:sp>
        <p:nvSpPr>
          <p:cNvPr id="4" name="CuadroTexto 3">
            <a:extLst>
              <a:ext uri="{FF2B5EF4-FFF2-40B4-BE49-F238E27FC236}">
                <a16:creationId xmlns:a16="http://schemas.microsoft.com/office/drawing/2014/main" id="{F300F630-3CDD-7191-F732-16E2D3DE452F}"/>
              </a:ext>
            </a:extLst>
          </p:cNvPr>
          <p:cNvSpPr txBox="1"/>
          <p:nvPr/>
        </p:nvSpPr>
        <p:spPr>
          <a:xfrm>
            <a:off x="6731000" y="1320800"/>
            <a:ext cx="4902200" cy="723900"/>
          </a:xfrm>
          <a:prstGeom prst="rect">
            <a:avLst/>
          </a:prstGeom>
          <a:noFill/>
        </p:spPr>
        <p:txBody>
          <a:bodyPr vert="horz" wrap="square" lIns="0" tIns="0" rIns="0" bIns="0" rtlCol="0">
            <a:noAutofit/>
          </a:bodyPr>
          <a:lstStyle/>
          <a:p>
            <a:pPr>
              <a:spcAft>
                <a:spcPts val="400"/>
              </a:spcAft>
            </a:pPr>
            <a:r>
              <a:rPr lang="es-ES" sz="2100" b="1">
                <a:solidFill>
                  <a:srgbClr val="173F3B"/>
                </a:solidFill>
                <a:latin typeface="Arial" panose="020B0604020202020204" pitchFamily="34" charset="0"/>
              </a:rPr>
              <a:t>Caída de F1 al mezclar una variable</a:t>
            </a:r>
            <a:endParaRPr lang="es-PY" sz="2100" b="1">
              <a:solidFill>
                <a:srgbClr val="173F3B"/>
              </a:solidFill>
              <a:latin typeface="Arial" panose="020B0604020202020204" pitchFamily="34" charset="0"/>
            </a:endParaRPr>
          </a:p>
        </p:txBody>
      </p:sp>
      <p:sp>
        <p:nvSpPr>
          <p:cNvPr id="5" name="CuadroTexto 4">
            <a:extLst>
              <a:ext uri="{FF2B5EF4-FFF2-40B4-BE49-F238E27FC236}">
                <a16:creationId xmlns:a16="http://schemas.microsoft.com/office/drawing/2014/main" id="{6B23B230-9C7C-DA2B-AF88-890B22EF0EDA}"/>
              </a:ext>
            </a:extLst>
          </p:cNvPr>
          <p:cNvSpPr txBox="1"/>
          <p:nvPr/>
        </p:nvSpPr>
        <p:spPr>
          <a:xfrm>
            <a:off x="609600" y="5270500"/>
            <a:ext cx="10972800" cy="419100"/>
          </a:xfrm>
          <a:prstGeom prst="rect">
            <a:avLst/>
          </a:prstGeom>
          <a:noFill/>
        </p:spPr>
        <p:txBody>
          <a:bodyPr vert="horz" wrap="square" lIns="0" tIns="0" rIns="0" bIns="0" rtlCol="0">
            <a:noAutofit/>
          </a:bodyPr>
          <a:lstStyle/>
          <a:p>
            <a:pPr>
              <a:spcAft>
                <a:spcPts val="400"/>
              </a:spcAft>
            </a:pPr>
            <a:r>
              <a:rPr lang="es-ES" sz="1700">
                <a:solidFill>
                  <a:srgbClr val="173F3B"/>
                </a:solidFill>
                <a:latin typeface="Arial" panose="020B0604020202020204" pitchFamily="34" charset="0"/>
              </a:rPr>
              <a:t>La separación por perfiles es una sensibilidad dentro del entrenamiento.</a:t>
            </a:r>
            <a:endParaRPr lang="es-PY" sz="1700">
              <a:solidFill>
                <a:srgbClr val="173F3B"/>
              </a:solidFill>
              <a:latin typeface="Arial" panose="020B0604020202020204" pitchFamily="34" charset="0"/>
            </a:endParaRPr>
          </a:p>
        </p:txBody>
      </p:sp>
      <p:sp>
        <p:nvSpPr>
          <p:cNvPr id="6" name="CuadroTexto 5">
            <a:extLst>
              <a:ext uri="{FF2B5EF4-FFF2-40B4-BE49-F238E27FC236}">
                <a16:creationId xmlns:a16="http://schemas.microsoft.com/office/drawing/2014/main" id="{3B9110CE-BE3B-A181-E945-E8E7ED74BDC6}"/>
              </a:ext>
            </a:extLst>
          </p:cNvPr>
          <p:cNvSpPr txBox="1"/>
          <p:nvPr/>
        </p:nvSpPr>
        <p:spPr>
          <a:xfrm>
            <a:off x="609600" y="5803900"/>
            <a:ext cx="10972800" cy="571500"/>
          </a:xfrm>
          <a:prstGeom prst="rect">
            <a:avLst/>
          </a:prstGeom>
          <a:noFill/>
        </p:spPr>
        <p:txBody>
          <a:bodyPr vert="horz" wrap="square" lIns="0" tIns="0" rIns="0" bIns="0" rtlCol="0">
            <a:noAutofit/>
          </a:bodyPr>
          <a:lstStyle/>
          <a:p>
            <a:pPr>
              <a:spcAft>
                <a:spcPts val="400"/>
              </a:spcAft>
            </a:pPr>
            <a:r>
              <a:rPr lang="es-ES" sz="2100" b="1">
                <a:solidFill>
                  <a:srgbClr val="173F3B"/>
                </a:solidFill>
                <a:latin typeface="Arial" panose="020B0604020202020204" pitchFamily="34" charset="0"/>
              </a:rPr>
              <a:t>Puntaje medio: 0,4902. Fracción real: 0,1783. Falta calibración.</a:t>
            </a:r>
            <a:endParaRPr lang="es-PY" sz="2100" b="1">
              <a:solidFill>
                <a:srgbClr val="173F3B"/>
              </a:solidFill>
              <a:latin typeface="Arial" panose="020B0604020202020204" pitchFamily="34" charset="0"/>
            </a:endParaRPr>
          </a:p>
        </p:txBody>
      </p:sp>
      <p:graphicFrame>
        <p:nvGraphicFramePr>
          <p:cNvPr id="7" name="CHART_12"/>
          <p:cNvGraphicFramePr/>
          <p:nvPr/>
        </p:nvGraphicFramePr>
        <p:xfrm>
          <a:off x="381000" y="1854200"/>
          <a:ext cx="6096000" cy="3238500"/>
        </p:xfrm>
        <a:graphic>
          <a:graphicData uri="http://schemas.openxmlformats.org/drawingml/2006/chart">
            <ns2:chart xmlns:ns2="http://schemas.openxmlformats.org/drawingml/2006/chart" r:id="rIdGraph12"/>
          </a:graphicData>
        </a:graphic>
      </p:graphicFrame>
      <p:graphicFrame>
        <p:nvGraphicFramePr>
          <p:cNvPr id="8" name="CHART_13"/>
          <p:cNvGraphicFramePr/>
          <p:nvPr/>
        </p:nvGraphicFramePr>
        <p:xfrm>
          <a:off x="6743700" y="2197100"/>
          <a:ext cx="4813300" cy="2844800"/>
        </p:xfrm>
        <a:graphic>
          <a:graphicData uri="http://schemas.openxmlformats.org/drawingml/2006/chart">
            <ns2:chart xmlns:ns2="http://schemas.openxmlformats.org/drawingml/2006/chart" r:id="rIdGraph13"/>
          </a:graphicData>
        </a:graphic>
      </p:graphicFrame>
      <p:sp>
        <p:nvSpPr>
          <p:cNvPr id="9" name="CuadroTexto 8">
            <a:extLst>
              <a:ext uri="{FF2B5EF4-FFF2-40B4-BE49-F238E27FC236}">
                <a16:creationId xmlns:a16="http://schemas.microsoft.com/office/drawing/2014/main" id="{DB3C8E07-990D-4C2C-9E5C-0B9D4136EDDB}"/>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ES" sz="1050">
                <a:solidFill>
                  <a:srgbClr val="5B716A"/>
                </a:solidFill>
                <a:latin typeface="Arial" panose="020B0604020202020204" pitchFamily="34" charset="0"/>
              </a:rPr>
              <a:t>Fuente: brechas, sensibilidad por perfiles, permutación y calibración del notebook.</a:t>
            </a:r>
            <a:endParaRPr lang="es-PY" sz="1050">
              <a:solidFill>
                <a:srgbClr val="5B716A"/>
              </a:solidFill>
              <a:latin typeface="Arial" panose="020B0604020202020204" pitchFamily="34" charset="0"/>
            </a:endParaRPr>
          </a:p>
        </p:txBody>
      </p:sp>
      <p:sp>
        <p:nvSpPr>
          <p:cNvPr id="10" name="CuadroTexto 9">
            <a:extLst>
              <a:ext uri="{FF2B5EF4-FFF2-40B4-BE49-F238E27FC236}">
                <a16:creationId xmlns:a16="http://schemas.microsoft.com/office/drawing/2014/main" id="{EAB42380-2FF2-929D-AEC3-05B5A4AE25D1}"/>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5B716A"/>
                </a:solidFill>
                <a:latin typeface="Arial" panose="020B0604020202020204" pitchFamily="34" charset="0"/>
              </a:rPr>
              <a:t>14</a:t>
            </a:r>
          </a:p>
        </p:txBody>
      </p:sp>
    </p:spTree>
    <p:extLst>
      <p:ext uri="{BB962C8B-B14F-4D97-AF65-F5344CB8AC3E}">
        <p14:creationId xmlns:p14="http://schemas.microsoft.com/office/powerpoint/2010/main" val="652358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3F3B"/>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D0478EB-AA64-53E7-1AF7-AFD3B1DB2E55}"/>
              </a:ext>
            </a:extLst>
          </p:cNvPr>
          <p:cNvSpPr txBox="1"/>
          <p:nvPr/>
        </p:nvSpPr>
        <p:spPr>
          <a:xfrm>
            <a:off x="609600" y="444500"/>
            <a:ext cx="10972800" cy="787400"/>
          </a:xfrm>
          <a:prstGeom prst="rect">
            <a:avLst/>
          </a:prstGeom>
          <a:noFill/>
        </p:spPr>
        <p:txBody>
          <a:bodyPr vert="horz" wrap="square" lIns="0" tIns="0" rIns="0" bIns="0" rtlCol="0">
            <a:noAutofit/>
          </a:bodyPr>
          <a:lstStyle/>
          <a:p>
            <a:pPr>
              <a:spcAft>
                <a:spcPts val="400"/>
              </a:spcAft>
            </a:pPr>
            <a:r>
              <a:rPr lang="es-PY" sz="3200" b="1">
                <a:solidFill>
                  <a:srgbClr val="FFFFFF"/>
                </a:solidFill>
                <a:latin typeface="Arial" panose="020B0604020202020204" pitchFamily="34" charset="0"/>
              </a:rPr>
              <a:t>Conclusión y próximos pasos</a:t>
            </a:r>
          </a:p>
        </p:txBody>
      </p:sp>
      <p:sp>
        <p:nvSpPr>
          <p:cNvPr id="3" name="CuadroTexto 2">
            <a:extLst>
              <a:ext uri="{FF2B5EF4-FFF2-40B4-BE49-F238E27FC236}">
                <a16:creationId xmlns:a16="http://schemas.microsoft.com/office/drawing/2014/main" id="{3D669347-8F82-B5A0-7372-B8BB9F9ABB47}"/>
              </a:ext>
            </a:extLst>
          </p:cNvPr>
          <p:cNvSpPr txBox="1"/>
          <p:nvPr/>
        </p:nvSpPr>
        <p:spPr>
          <a:xfrm>
            <a:off x="609600" y="1384300"/>
            <a:ext cx="10972800" cy="1219200"/>
          </a:xfrm>
          <a:prstGeom prst="rect">
            <a:avLst/>
          </a:prstGeom>
          <a:noFill/>
        </p:spPr>
        <p:txBody>
          <a:bodyPr vert="horz" wrap="square" lIns="0" tIns="0" rIns="0" bIns="0" rtlCol="0">
            <a:noAutofit/>
          </a:bodyPr>
          <a:lstStyle/>
          <a:p>
            <a:pPr>
              <a:spcAft>
                <a:spcPts val="400"/>
              </a:spcAft>
            </a:pPr>
            <a:r>
              <a:rPr lang="es-PY" sz="3400" b="1">
                <a:solidFill>
                  <a:srgbClr val="FFFFFF"/>
                </a:solidFill>
                <a:latin typeface="Arial" panose="020B0604020202020204" pitchFamily="34" charset="0"/>
              </a:rPr>
              <a:t>Respondemos parcialmente
la pregunta original</a:t>
            </a:r>
          </a:p>
        </p:txBody>
      </p:sp>
      <p:sp>
        <p:nvSpPr>
          <p:cNvPr id="4" name="CuadroTexto 3">
            <a:extLst>
              <a:ext uri="{FF2B5EF4-FFF2-40B4-BE49-F238E27FC236}">
                <a16:creationId xmlns:a16="http://schemas.microsoft.com/office/drawing/2014/main" id="{AA05207D-133F-E820-2A4F-AC7D9AE8B14A}"/>
              </a:ext>
            </a:extLst>
          </p:cNvPr>
          <p:cNvSpPr txBox="1"/>
          <p:nvPr/>
        </p:nvSpPr>
        <p:spPr>
          <a:xfrm>
            <a:off x="609600" y="3111500"/>
            <a:ext cx="10972800" cy="838200"/>
          </a:xfrm>
          <a:prstGeom prst="rect">
            <a:avLst/>
          </a:prstGeom>
          <a:noFill/>
        </p:spPr>
        <p:txBody>
          <a:bodyPr vert="horz" wrap="square" lIns="0" tIns="0" rIns="0" bIns="0" rtlCol="0">
            <a:noAutofit/>
          </a:bodyPr>
          <a:lstStyle/>
          <a:p>
            <a:pPr>
              <a:spcAft>
                <a:spcPts val="400"/>
              </a:spcAft>
            </a:pPr>
            <a:r>
              <a:rPr lang="es-ES" sz="2400">
                <a:solidFill>
                  <a:srgbClr val="FFFFFF"/>
                </a:solidFill>
                <a:latin typeface="Arial" panose="020B0604020202020204" pitchFamily="34" charset="0"/>
              </a:rPr>
              <a:t>Hay asociaciones en el registro.
RR de motocicleta: 1,95. RR de 60 años o más: 2,05.</a:t>
            </a:r>
            <a:endParaRPr lang="es-PY" sz="2400">
              <a:solidFill>
                <a:srgbClr val="FFFFFF"/>
              </a:solidFill>
              <a:latin typeface="Arial" panose="020B0604020202020204" pitchFamily="34" charset="0"/>
            </a:endParaRPr>
          </a:p>
        </p:txBody>
      </p:sp>
      <p:sp>
        <p:nvSpPr>
          <p:cNvPr id="5" name="CuadroTexto 4">
            <a:extLst>
              <a:ext uri="{FF2B5EF4-FFF2-40B4-BE49-F238E27FC236}">
                <a16:creationId xmlns:a16="http://schemas.microsoft.com/office/drawing/2014/main" id="{8EB5F5AB-6A84-08E0-416B-FC0A74A0AF27}"/>
              </a:ext>
            </a:extLst>
          </p:cNvPr>
          <p:cNvSpPr txBox="1"/>
          <p:nvPr/>
        </p:nvSpPr>
        <p:spPr>
          <a:xfrm>
            <a:off x="609600" y="4203700"/>
            <a:ext cx="10972800" cy="838200"/>
          </a:xfrm>
          <a:prstGeom prst="rect">
            <a:avLst/>
          </a:prstGeom>
          <a:noFill/>
        </p:spPr>
        <p:txBody>
          <a:bodyPr vert="horz" wrap="square" lIns="0" tIns="0" rIns="0" bIns="0" rtlCol="0">
            <a:noAutofit/>
          </a:bodyPr>
          <a:lstStyle/>
          <a:p>
            <a:pPr>
              <a:spcAft>
                <a:spcPts val="400"/>
              </a:spcAft>
            </a:pPr>
            <a:r>
              <a:rPr lang="es-ES" sz="2400">
                <a:solidFill>
                  <a:srgbClr val="FFFFFF"/>
                </a:solidFill>
                <a:latin typeface="Arial" panose="020B0604020202020204" pitchFamily="34" charset="0"/>
              </a:rPr>
              <a:t>El Modelo A tiene capacidad limitada.
AUC: 0,5809. Detecta 45,41 % de los fallecidos.</a:t>
            </a:r>
            <a:endParaRPr lang="es-PY" sz="2400">
              <a:solidFill>
                <a:srgbClr val="FFFFFF"/>
              </a:solidFill>
              <a:latin typeface="Arial" panose="020B0604020202020204" pitchFamily="34" charset="0"/>
            </a:endParaRPr>
          </a:p>
        </p:txBody>
      </p:sp>
      <p:sp>
        <p:nvSpPr>
          <p:cNvPr id="6" name="CuadroTexto 5">
            <a:extLst>
              <a:ext uri="{FF2B5EF4-FFF2-40B4-BE49-F238E27FC236}">
                <a16:creationId xmlns:a16="http://schemas.microsoft.com/office/drawing/2014/main" id="{0A08C5F2-1397-A241-C3F1-B77EF87DBAFB}"/>
              </a:ext>
            </a:extLst>
          </p:cNvPr>
          <p:cNvSpPr txBox="1"/>
          <p:nvPr/>
        </p:nvSpPr>
        <p:spPr>
          <a:xfrm>
            <a:off x="609600" y="5295900"/>
            <a:ext cx="10972800" cy="850900"/>
          </a:xfrm>
          <a:prstGeom prst="rect">
            <a:avLst/>
          </a:prstGeom>
          <a:noFill/>
        </p:spPr>
        <p:txBody>
          <a:bodyPr vert="horz" wrap="square" lIns="0" tIns="0" rIns="0" bIns="0" rtlCol="0">
            <a:noAutofit/>
          </a:bodyPr>
          <a:lstStyle/>
          <a:p>
            <a:pPr>
              <a:spcAft>
                <a:spcPts val="400"/>
              </a:spcAft>
            </a:pPr>
            <a:r>
              <a:rPr lang="es-ES" sz="2200">
                <a:solidFill>
                  <a:srgbClr val="C5DED5"/>
                </a:solidFill>
                <a:latin typeface="Arial" panose="020B0604020202020204" pitchFamily="34" charset="0"/>
              </a:rPr>
              <a:t>Falta vincular víctimas y siniestros y validar con datos de otro año.
El modelo actual conserva una finalidad académica, sin uso clínico.</a:t>
            </a:r>
            <a:endParaRPr lang="es-PY" sz="2200">
              <a:solidFill>
                <a:srgbClr val="C5DED5"/>
              </a:solidFill>
              <a:latin typeface="Arial" panose="020B0604020202020204" pitchFamily="34" charset="0"/>
            </a:endParaRPr>
          </a:p>
        </p:txBody>
      </p:sp>
      <p:sp>
        <p:nvSpPr>
          <p:cNvPr id="7" name="CuadroTexto 6">
            <a:extLst>
              <a:ext uri="{FF2B5EF4-FFF2-40B4-BE49-F238E27FC236}">
                <a16:creationId xmlns:a16="http://schemas.microsoft.com/office/drawing/2014/main" id="{6354601A-6314-1C46-C7BD-3FEF05D4A19C}"/>
              </a:ext>
            </a:extLst>
          </p:cNvPr>
          <p:cNvSpPr txBox="1"/>
          <p:nvPr/>
        </p:nvSpPr>
        <p:spPr>
          <a:xfrm>
            <a:off x="609600" y="6515100"/>
            <a:ext cx="10515600" cy="228600"/>
          </a:xfrm>
          <a:prstGeom prst="rect">
            <a:avLst/>
          </a:prstGeom>
          <a:noFill/>
        </p:spPr>
        <p:txBody>
          <a:bodyPr vert="horz" wrap="square" lIns="0" tIns="0" rIns="0" bIns="0" rtlCol="0">
            <a:noAutofit/>
          </a:bodyPr>
          <a:lstStyle/>
          <a:p>
            <a:pPr>
              <a:spcAft>
                <a:spcPts val="400"/>
              </a:spcAft>
            </a:pPr>
            <a:r>
              <a:rPr lang="es-ES" sz="1050">
                <a:solidFill>
                  <a:srgbClr val="C5DED5"/>
                </a:solidFill>
                <a:latin typeface="Arial" panose="020B0604020202020204" pitchFamily="34" charset="0"/>
              </a:rPr>
              <a:t>Fuentes completas y declaración de IA en las notas de esta diapositiva.</a:t>
            </a:r>
            <a:endParaRPr lang="es-PY" sz="1050">
              <a:solidFill>
                <a:srgbClr val="C5DED5"/>
              </a:solidFill>
              <a:latin typeface="Arial" panose="020B0604020202020204" pitchFamily="34" charset="0"/>
            </a:endParaRPr>
          </a:p>
        </p:txBody>
      </p:sp>
      <p:sp>
        <p:nvSpPr>
          <p:cNvPr id="8" name="CuadroTexto 7">
            <a:extLst>
              <a:ext uri="{FF2B5EF4-FFF2-40B4-BE49-F238E27FC236}">
                <a16:creationId xmlns:a16="http://schemas.microsoft.com/office/drawing/2014/main" id="{68420747-EF88-2D09-5473-B02181B521C5}"/>
              </a:ext>
            </a:extLst>
          </p:cNvPr>
          <p:cNvSpPr txBox="1"/>
          <p:nvPr/>
        </p:nvSpPr>
        <p:spPr>
          <a:xfrm>
            <a:off x="11303000" y="6515100"/>
            <a:ext cx="317500" cy="228600"/>
          </a:xfrm>
          <a:prstGeom prst="rect">
            <a:avLst/>
          </a:prstGeom>
          <a:noFill/>
        </p:spPr>
        <p:txBody>
          <a:bodyPr vert="horz" wrap="square" lIns="0" tIns="0" rIns="0" bIns="0" rtlCol="0">
            <a:noAutofit/>
          </a:bodyPr>
          <a:lstStyle/>
          <a:p>
            <a:pPr algn="r">
              <a:spcAft>
                <a:spcPts val="400"/>
              </a:spcAft>
            </a:pPr>
            <a:r>
              <a:rPr lang="es-PY" sz="1050">
                <a:solidFill>
                  <a:srgbClr val="C5DED5"/>
                </a:solidFill>
                <a:latin typeface="Arial" panose="020B0604020202020204" pitchFamily="34" charset="0"/>
              </a:rPr>
              <a:t>15</a:t>
            </a:r>
          </a:p>
        </p:txBody>
      </p:sp>
      <p:sp>
        <p:nvSpPr>
          <p:cNvPr id="9" name="CuadroTexto 8">
            <a:extLst>
              <a:ext uri="{FF2B5EF4-FFF2-40B4-BE49-F238E27FC236}">
                <a16:creationId xmlns:a16="http://schemas.microsoft.com/office/drawing/2014/main" id="{4D98A6C2-E87C-2A1F-E41B-26AA44544B52}"/>
              </a:ext>
            </a:extLst>
          </p:cNvPr>
          <p:cNvSpPr txBox="1"/>
          <p:nvPr/>
        </p:nvSpPr>
        <p:spPr>
          <a:xfrm>
            <a:off x="609600" y="6261100"/>
            <a:ext cx="10972800" cy="215900"/>
          </a:xfrm>
          <a:prstGeom prst="rect">
            <a:avLst/>
          </a:prstGeom>
          <a:noFill/>
        </p:spPr>
        <p:txBody>
          <a:bodyPr vert="horz" wrap="square" lIns="0" tIns="0" rIns="0" bIns="0" rtlCol="0">
            <a:noAutofit/>
          </a:bodyPr>
          <a:lstStyle/>
          <a:p>
            <a:pPr>
              <a:spcAft>
                <a:spcPts val="400"/>
              </a:spcAft>
            </a:pPr>
            <a:r>
              <a:rPr lang="es-ES" sz="1050">
                <a:solidFill>
                  <a:srgbClr val="C5DED5"/>
                </a:solidFill>
                <a:latin typeface="Arial" panose="020B0604020202020204" pitchFamily="34" charset="0"/>
              </a:rPr>
              <a:t>Con asistencia de IA. Revisión y defensa a cargo del grupo.</a:t>
            </a:r>
            <a:endParaRPr lang="es-PY" sz="1050">
              <a:solidFill>
                <a:srgbClr val="C5DED5"/>
              </a:solidFill>
              <a:latin typeface="Arial" panose="020B0604020202020204" pitchFamily="34" charset="0"/>
            </a:endParaRPr>
          </a:p>
        </p:txBody>
      </p:sp>
    </p:spTree>
    <p:extLst>
      <p:ext uri="{BB962C8B-B14F-4D97-AF65-F5344CB8AC3E}">
        <p14:creationId xmlns:p14="http://schemas.microsoft.com/office/powerpoint/2010/main" val="225955436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3873</Words>
  <Application>Microsoft Office PowerPoint</Application>
  <PresentationFormat>Personalizado</PresentationFormat>
  <Paragraphs>187</Paragraphs>
  <Slides>15</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Gravedad de las víctimas de tránsito en Paraguay. Fases 1, 2 y 3</dc:title>
  <dc:creator>Alan Alcaraz; Leandro Ferreira; Jorge Rios</dc:creator>
  <cp:lastModifiedBy>Leandro Ferreira</cp:lastModifiedBy>
  <cp:revision>1</cp:revision>
  <dcterms:created xsi:type="dcterms:W3CDTF">2026-10-28T20:35:26Z</dcterms:created>
  <dcterms:modified xsi:type="dcterms:W3CDTF">2026-10-28T20:35:26Z</dcterms:modified>
  <dc:subject>Presentación académica de 15 diapositivas con notas de exposición</dc:subject>
</cp:coreProperties>
</file>