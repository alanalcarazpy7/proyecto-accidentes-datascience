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P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data1.xlsx"/></Relationships>
</file>

<file path=ppt/charts/_rels/chart2.xml.rels><?xml version='1.0' encoding='UTF-8' standalone='yes'?>
<Relationships xmlns="http://schemas.openxmlformats.org/package/2006/relationships"><Relationship Id="rId1" Type="http://schemas.openxmlformats.org/officeDocument/2006/relationships/package" Target="../embeddings/data2.xlsx"/></Relationships>
</file>

<file path=ppt/charts/_rels/chart3.xml.rels><?xml version='1.0' encoding='UTF-8' standalone='yes'?>
<Relationships xmlns="http://schemas.openxmlformats.org/package/2006/relationships"><Relationship Id="rId1" Type="http://schemas.openxmlformats.org/officeDocument/2006/relationships/package" Target="../embeddings/data3.xlsx"/></Relationships>
</file>

<file path=ppt/charts/_rels/chart4.xml.rels><?xml version='1.0' encoding='UTF-8' standalone='yes'?>
<Relationships xmlns="http://schemas.openxmlformats.org/package/2006/relationships"><Relationship Id="rId1" Type="http://schemas.openxmlformats.org/officeDocument/2006/relationships/package" Target="../embeddings/data4.xlsx"/></Relationships>
</file>

<file path=ppt/charts/_rels/chart5.xml.rels><?xml version='1.0' encoding='UTF-8' standalone='yes'?>
<Relationships xmlns="http://schemas.openxmlformats.org/package/2006/relationships"><Relationship Id="rId1" Type="http://schemas.openxmlformats.org/officeDocument/2006/relationships/package" Target="../embeddings/data5.xlsx"/></Relationships>
</file>

<file path=ppt/charts/_rels/chart6.xml.rels><?xml version='1.0' encoding='UTF-8' standalone='yes'?>
<Relationships xmlns="http://schemas.openxmlformats.org/package/2006/relationships"><Relationship Id="rId1" Type="http://schemas.openxmlformats.org/officeDocument/2006/relationships/package" Target="../embeddings/data6.xlsx"/></Relationships>
</file>

<file path=ppt/charts/_rels/chart7.xml.rels><?xml version='1.0' encoding='UTF-8' standalone='yes'?>
<Relationships xmlns="http://schemas.openxmlformats.org/package/2006/relationships"><Relationship Id="rId1" Type="http://schemas.openxmlformats.org/officeDocument/2006/relationships/package" Target="../embeddings/data7.xlsx"/></Relationships>
</file>

<file path=ppt/charts/_rels/chart8.xml.rels><?xml version='1.0' encoding='UTF-8' standalone='yes'?>
<Relationships xmlns="http://schemas.openxmlformats.org/package/2006/relationships"><Relationship Id="rId1" Type="http://schemas.openxmlformats.org/officeDocument/2006/relationships/package" Target="../embeddings/data8.xlsx"/></Relationships>
</file>

<file path=ppt/charts/_rels/chart9.xml.rels><?xml version='1.0' encoding='UTF-8' standalone='yes'?>
<Relationships xmlns="http://schemas.openxmlformats.org/package/2006/relationships"><Relationship Id="rId1" Type="http://schemas.openxmlformats.org/officeDocument/2006/relationships/package" Target="../embeddings/data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data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data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data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data13.xlsx"/></Relationships>
</file>

<file path=ppt/charts/chart1.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col"/>
        <c:grouping val="clustered"/>
        <c:varyColors val="0"/>
        <c:ser>
          <c:idx val="0"/>
          <c:order val="0"/>
          <c:tx>
            <c:strRef>
              <c:f>Datos!$B$1</c:f>
              <c:strCache>
                <c:ptCount val="1"/>
                <c:pt idx="0">
                  <c:v>Porcentaje de víctimas</c:v>
                </c:pt>
              </c:strCache>
            </c:strRef>
          </c:tx>
          <c:spPr>
            <a:solidFill>
              <a:srgbClr val="155D99"/>
            </a:solidFill>
            <a:ln>
              <a:noFill/>
            </a:ln>
          </c:spPr>
          <c:dPt>
            <c:idx val="0"/>
            <c:spPr>
              <a:solidFill>
                <a:srgbClr val="155D99"/>
              </a:solidFill>
              <a:ln>
                <a:noFill/>
              </a:ln>
            </c:spPr>
          </c:dPt>
          <c:dPt>
            <c:idx val="1"/>
            <c:spPr>
              <a:solidFill>
                <a:srgbClr val="AC3F14"/>
              </a:solidFill>
              <a:ln>
                <a:noFill/>
              </a:ln>
            </c:spPr>
          </c:dPt>
          <c:cat>
            <c:strRef>
              <c:f>Datos!$A$2:$A$3</c:f>
              <c:strCache>
                <c:ptCount val="2"/>
                <c:pt idx="0">
                  <c:v>Heridos</c:v>
                </c:pt>
                <c:pt idx="1">
                  <c:v>Fallecidos</c:v>
                </c:pt>
              </c:strCache>
            </c:strRef>
          </c:cat>
          <c:val>
            <c:numRef>
              <c:f>Datos!$B$2:$B$3</c:f>
              <c:numCache>
                <c:formatCode>0.0%</c:formatCode>
                <c:ptCount val="2"/>
                <c:pt idx="0">
                  <c:v>0.8215911159657746</c:v>
                </c:pt>
                <c:pt idx="1">
                  <c:v>0.1784088840342254</c:v>
                </c:pt>
              </c:numCache>
            </c:numRef>
          </c:val>
        </c:ser>
        <c:dLbls>
          <c:numFmt formatCode="0.0%" sourceLinked="0"/>
          <c:txPr>
            <a:bodyPr/>
            <a:lstStyle/>
            <a:p>
              <a:pPr>
                <a:defRPr sz="19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inMax"/>
        </c:scaling>
        <c:delete val="0"/>
        <c:axPos val="b"/>
        <c:majorTickMark val="none"/>
        <c:minorTickMark val="none"/>
        <c:tickLblPos val="nextTo"/>
        <c:spPr>
          <a:ln w="10000">
            <a:solidFill>
              <a:srgbClr val="C7D1DD"/>
            </a:solidFill>
          </a:ln>
        </c:spPr>
        <c:txPr>
          <a:bodyPr/>
          <a:lstStyle/>
          <a:p>
            <a:pPr>
              <a:defRPr sz="1500" b="0">
                <a:solidFill>
                  <a:srgbClr val="102A43"/>
                </a:solidFill>
                <a:latin typeface="Arial"/>
              </a:defRPr>
            </a:pPr>
            <a:endParaRPr lang="es-PY"/>
          </a:p>
        </c:txPr>
        <c:crossAx val="200"/>
        <c:crosses val="autoZero"/>
        <c:auto val="1"/>
        <c:lblAlgn val="ctr"/>
        <c:lblOffset val="100"/>
      </c:catAx>
      <c:valAx>
        <c:axId val="200"/>
        <c:scaling>
          <c:orientation val="minMax"/>
          <c:max val="1"/>
          <c:min val="0"/>
        </c:scaling>
        <c:delete val="0"/>
        <c:axPos val="l"/>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500" b="0">
                <a:solidFill>
                  <a:srgbClr val="102A43"/>
                </a:solidFill>
                <a:latin typeface="Arial"/>
              </a:defRPr>
            </a:pPr>
            <a:endParaRPr lang="es-PY"/>
          </a:p>
        </c:txPr>
        <c:crossAx val="100"/>
        <c:crosses val="autoZero"/>
        <c:crossBetween val="between"/>
        <c:majorUnit val="0.5"/>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2.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col"/>
        <c:grouping val="clustered"/>
        <c:varyColors val="0"/>
        <c:ser>
          <c:idx val="0"/>
          <c:order val="0"/>
          <c:tx>
            <c:strRef>
              <c:f>Datos!$B$1</c:f>
              <c:strCache>
                <c:ptCount val="1"/>
                <c:pt idx="0">
                  <c:v>Disponibilidad de edad</c:v>
                </c:pt>
              </c:strCache>
            </c:strRef>
          </c:tx>
          <c:spPr>
            <a:solidFill>
              <a:srgbClr val="155D99"/>
            </a:solidFill>
            <a:ln>
              <a:noFill/>
            </a:ln>
          </c:spPr>
          <c:dPt>
            <c:idx val="0"/>
            <c:spPr>
              <a:solidFill>
                <a:srgbClr val="155D99"/>
              </a:solidFill>
              <a:ln>
                <a:noFill/>
              </a:ln>
            </c:spPr>
          </c:dPt>
          <c:dPt>
            <c:idx val="1"/>
            <c:spPr>
              <a:solidFill>
                <a:srgbClr val="AC3F14"/>
              </a:solidFill>
              <a:ln>
                <a:noFill/>
              </a:ln>
            </c:spPr>
          </c:dPt>
          <c:cat>
            <c:strRef>
              <c:f>Datos!$A$2:$A$3</c:f>
              <c:strCache>
                <c:ptCount val="2"/>
                <c:pt idx="0">
                  <c:v>Conocida</c:v>
                </c:pt>
                <c:pt idx="1">
                  <c:v>Ignorada</c:v>
                </c:pt>
              </c:strCache>
            </c:strRef>
          </c:cat>
          <c:val>
            <c:numRef>
              <c:f>Datos!$B$2:$B$3</c:f>
              <c:numCache>
                <c:formatCode>0.0%</c:formatCode>
                <c:ptCount val="2"/>
                <c:pt idx="0">
                  <c:v>0.9357363917713454</c:v>
                </c:pt>
                <c:pt idx="1">
                  <c:v>0.06426360822865465</c:v>
                </c:pt>
              </c:numCache>
            </c:numRef>
          </c:val>
        </c:ser>
        <c:dLbls>
          <c:numFmt formatCode="0.0%" sourceLinked="0"/>
          <c:txPr>
            <a:bodyPr/>
            <a:lstStyle/>
            <a:p>
              <a:pPr>
                <a:defRPr sz="18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inMax"/>
        </c:scaling>
        <c:delete val="0"/>
        <c:axPos val="b"/>
        <c:majorTickMark val="none"/>
        <c:minorTickMark val="none"/>
        <c:tickLblPos val="nextTo"/>
        <c:spPr>
          <a:ln w="10000">
            <a:solidFill>
              <a:srgbClr val="C7D1DD"/>
            </a:solidFill>
          </a:ln>
        </c:spPr>
        <c:txPr>
          <a:bodyPr/>
          <a:lstStyle/>
          <a:p>
            <a:pPr>
              <a:defRPr sz="1500" b="0">
                <a:solidFill>
                  <a:srgbClr val="102A43"/>
                </a:solidFill>
                <a:latin typeface="Arial"/>
              </a:defRPr>
            </a:pPr>
            <a:endParaRPr lang="es-PY"/>
          </a:p>
        </c:txPr>
        <c:crossAx val="200"/>
        <c:crosses val="autoZero"/>
        <c:auto val="1"/>
        <c:lblAlgn val="ctr"/>
        <c:lblOffset val="100"/>
      </c:catAx>
      <c:valAx>
        <c:axId val="200"/>
        <c:scaling>
          <c:orientation val="minMax"/>
          <c:max val="1.1"/>
          <c:min val="0"/>
        </c:scaling>
        <c:delete val="0"/>
        <c:axPos val="l"/>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500" b="0">
                <a:solidFill>
                  <a:srgbClr val="102A43"/>
                </a:solidFill>
                <a:latin typeface="Arial"/>
              </a:defRPr>
            </a:pPr>
            <a:endParaRPr lang="es-PY"/>
          </a:p>
        </c:txPr>
        <c:crossAx val="100"/>
        <c:crosses val="autoZero"/>
        <c:crossBetween val="between"/>
        <c:majorUnit val="0.5"/>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3.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lineChart>
        <c:grouping val="standard"/>
        <c:varyColors val="0"/>
        <c:ser>
          <c:idx val="0"/>
          <c:order val="0"/>
          <c:tx>
            <c:strRef>
              <c:f>Datos!$B$1</c:f>
              <c:strCache>
                <c:ptCount val="1"/>
                <c:pt idx="0">
                  <c:v>Siniestros</c:v>
                </c:pt>
              </c:strCache>
            </c:strRef>
          </c:tx>
          <c:spPr>
            <a:solidFill>
              <a:srgbClr val="155D99"/>
            </a:solidFill>
            <a:ln w="28575">
              <a:solidFill>
                <a:srgbClr val="155D99"/>
              </a:solidFill>
            </a:ln>
          </c:spPr>
          <c:marker>
            <c:symbol val="circle"/>
            <c:size val="6"/>
          </c:marker>
          <c:cat>
            <c:strRef>
              <c:f>Datos!$A$2:$A$13</c:f>
              <c:strCache>
                <c:ptCount val="12"/>
                <c:pt idx="0">
                  <c:v>Ene</c:v>
                </c:pt>
                <c:pt idx="1">
                  <c:v>Feb</c:v>
                </c:pt>
                <c:pt idx="2">
                  <c:v>Mar</c:v>
                </c:pt>
                <c:pt idx="3">
                  <c:v>Abr</c:v>
                </c:pt>
                <c:pt idx="4">
                  <c:v>May</c:v>
                </c:pt>
                <c:pt idx="5">
                  <c:v>Jun</c:v>
                </c:pt>
                <c:pt idx="6">
                  <c:v>Jul</c:v>
                </c:pt>
                <c:pt idx="7">
                  <c:v>Ago</c:v>
                </c:pt>
                <c:pt idx="8">
                  <c:v>Set</c:v>
                </c:pt>
                <c:pt idx="9">
                  <c:v>Oct</c:v>
                </c:pt>
                <c:pt idx="10">
                  <c:v>Nov</c:v>
                </c:pt>
                <c:pt idx="11">
                  <c:v>Dic</c:v>
                </c:pt>
              </c:strCache>
            </c:strRef>
          </c:cat>
          <c:val>
            <c:numRef>
              <c:f>Datos!$B$2:$B$13</c:f>
              <c:numCache>
                <c:formatCode>0</c:formatCode>
                <c:ptCount val="12"/>
                <c:pt idx="0">
                  <c:v>140.0</c:v>
                </c:pt>
                <c:pt idx="1">
                  <c:v>129.0</c:v>
                </c:pt>
                <c:pt idx="2">
                  <c:v>124.0</c:v>
                </c:pt>
                <c:pt idx="3">
                  <c:v>138.0</c:v>
                </c:pt>
                <c:pt idx="4">
                  <c:v>145.0</c:v>
                </c:pt>
                <c:pt idx="5">
                  <c:v>140.0</c:v>
                </c:pt>
                <c:pt idx="6">
                  <c:v>173.0</c:v>
                </c:pt>
                <c:pt idx="7">
                  <c:v>188.0</c:v>
                </c:pt>
                <c:pt idx="8">
                  <c:v>198.0</c:v>
                </c:pt>
                <c:pt idx="9">
                  <c:v>201.0</c:v>
                </c:pt>
                <c:pt idx="10">
                  <c:v>179.0</c:v>
                </c:pt>
                <c:pt idx="11">
                  <c:v>187.0</c:v>
                </c:pt>
              </c:numCache>
            </c:numRef>
          </c:val>
          <c:smooth val="0"/>
        </c:ser>
        <c:dLbls>
          <c:dLbl>
            <c:idx val="0"/>
            <c:delete val="1"/>
          </c:dLbl>
          <c:dLbl>
            <c:idx val="1"/>
            <c:delete val="1"/>
          </c:dLbl>
          <c:dLbl>
            <c:idx val="3"/>
            <c:delete val="1"/>
          </c:dLbl>
          <c:dLbl>
            <c:idx val="4"/>
            <c:delete val="1"/>
          </c:dLbl>
          <c:dLbl>
            <c:idx val="5"/>
            <c:delete val="1"/>
          </c:dLbl>
          <c:dLbl>
            <c:idx val="6"/>
            <c:delete val="1"/>
          </c:dLbl>
          <c:dLbl>
            <c:idx val="7"/>
            <c:delete val="1"/>
          </c:dLbl>
          <c:dLbl>
            <c:idx val="8"/>
            <c:delete val="1"/>
          </c:dLbl>
          <c:dLbl>
            <c:idx val="10"/>
            <c:delete val="1"/>
          </c:dLbl>
          <c:dLbl>
            <c:idx val="11"/>
            <c:delete val="1"/>
          </c:dLbl>
          <c:numFmt formatCode="0" sourceLinked="0"/>
          <c:txPr>
            <a:bodyPr/>
            <a:lstStyle/>
            <a:p>
              <a:pPr>
                <a:defRPr sz="1800" b="1">
                  <a:solidFill>
                    <a:srgbClr val="102A43"/>
                  </a:solidFill>
                  <a:latin typeface="Arial"/>
                </a:defRPr>
              </a:pPr>
              <a:endParaRPr lang="es-PY"/>
            </a:p>
          </c:txPr>
          <c:dLblPos val="t"/>
          <c:showLegendKey val="0"/>
          <c:showVal val="1"/>
          <c:showCatName val="0"/>
          <c:showSerName val="0"/>
          <c:showPercent val="0"/>
          <c:showBubbleSize val="0"/>
        </c:dLbls>
        <c:marker val="1"/>
        <c:smooth val="0"/>
        <c:axId val="100"/>
        <c:axId val="200"/>
      </c:lineChart>
      <c:catAx>
        <c:axId val="100"/>
        <c:scaling>
          <c:orientation val="minMax"/>
        </c:scaling>
        <c:delete val="0"/>
        <c:axPos val="b"/>
        <c:majorTickMark val="none"/>
        <c:minorTickMark val="none"/>
        <c:tickLblPos val="nextTo"/>
        <c:spPr>
          <a:ln w="10000">
            <a:solidFill>
              <a:srgbClr val="C7D1DD"/>
            </a:solidFill>
          </a:ln>
        </c:spPr>
        <c:txPr>
          <a:bodyPr/>
          <a:lstStyle/>
          <a:p>
            <a:pPr>
              <a:defRPr sz="1400" b="0">
                <a:solidFill>
                  <a:srgbClr val="102A43"/>
                </a:solidFill>
                <a:latin typeface="Arial"/>
              </a:defRPr>
            </a:pPr>
            <a:endParaRPr lang="es-PY"/>
          </a:p>
        </c:txPr>
        <c:crossAx val="200"/>
        <c:crosses val="autoZero"/>
        <c:auto val="1"/>
        <c:lblAlgn val="ctr"/>
        <c:lblOffset val="100"/>
      </c:catAx>
      <c:valAx>
        <c:axId val="200"/>
        <c:scaling>
          <c:orientation val="minMax"/>
          <c:max val="240"/>
          <c:min val="0"/>
        </c:scaling>
        <c:delete val="0"/>
        <c:axPos val="l"/>
        <c:majorGridlines>
          <c:spPr>
            <a:ln w="10000">
              <a:solidFill>
                <a:srgbClr val="E1E6ED"/>
              </a:solidFill>
            </a:ln>
          </c:spPr>
        </c:majorGridlines>
        <c:numFmt formatCode="0" sourceLinked="0"/>
        <c:majorTickMark val="none"/>
        <c:minorTickMark val="none"/>
        <c:tickLblPos val="nextTo"/>
        <c:spPr>
          <a:ln w="10000">
            <a:solidFill>
              <a:srgbClr val="C7D1DD"/>
            </a:solidFill>
          </a:ln>
        </c:spPr>
        <c:txPr>
          <a:bodyPr/>
          <a:lstStyle/>
          <a:p>
            <a:pPr>
              <a:defRPr sz="1400" b="0">
                <a:solidFill>
                  <a:srgbClr val="102A43"/>
                </a:solidFill>
                <a:latin typeface="Arial"/>
              </a:defRPr>
            </a:pPr>
            <a:endParaRPr lang="es-PY"/>
          </a:p>
        </c:txPr>
        <c:crossAx val="100"/>
        <c:crosses val="autoZero"/>
        <c:crossBetween val="between"/>
        <c:majorUnit val="60"/>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4.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Siniestros por ruta</c:v>
                </c:pt>
              </c:strCache>
            </c:strRef>
          </c:tx>
          <c:spPr>
            <a:solidFill>
              <a:srgbClr val="155D99"/>
            </a:solidFill>
            <a:ln>
              <a:noFill/>
            </a:ln>
          </c:spPr>
          <c:dPt>
            <c:idx val="0"/>
            <c:spPr>
              <a:solidFill>
                <a:srgbClr val="AC3F14"/>
              </a:solidFill>
              <a:ln>
                <a:noFill/>
              </a:ln>
            </c:spPr>
          </c:dPt>
          <c:dPt>
            <c:idx val="1"/>
            <c:spPr>
              <a:solidFill>
                <a:srgbClr val="155D99"/>
              </a:solidFill>
              <a:ln>
                <a:noFill/>
              </a:ln>
            </c:spPr>
          </c:dPt>
          <c:dPt>
            <c:idx val="2"/>
            <c:spPr>
              <a:solidFill>
                <a:srgbClr val="155D99"/>
              </a:solidFill>
              <a:ln>
                <a:noFill/>
              </a:ln>
            </c:spPr>
          </c:dPt>
          <c:cat>
            <c:strRef>
              <c:f>Datos!$A$2:$A$4</c:f>
              <c:strCache>
                <c:ptCount val="3"/>
                <c:pt idx="0">
                  <c:v>PY02</c:v>
                </c:pt>
                <c:pt idx="1">
                  <c:v>PY01</c:v>
                </c:pt>
                <c:pt idx="2">
                  <c:v>PY06</c:v>
                </c:pt>
              </c:strCache>
            </c:strRef>
          </c:cat>
          <c:val>
            <c:numRef>
              <c:f>Datos!$B$2:$B$4</c:f>
              <c:numCache>
                <c:formatCode>#,##0</c:formatCode>
                <c:ptCount val="3"/>
                <c:pt idx="0">
                  <c:v>711.0</c:v>
                </c:pt>
                <c:pt idx="1">
                  <c:v>265.0</c:v>
                </c:pt>
                <c:pt idx="2">
                  <c:v>150.0</c:v>
                </c:pt>
              </c:numCache>
            </c:numRef>
          </c:val>
        </c:ser>
        <c:dLbls>
          <c:numFmt formatCode="#,##0" sourceLinked="0"/>
          <c:txPr>
            <a:bodyPr/>
            <a:lstStyle/>
            <a:p>
              <a:pPr>
                <a:defRPr sz="19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600" b="0">
                <a:solidFill>
                  <a:srgbClr val="102A43"/>
                </a:solidFill>
                <a:latin typeface="Arial"/>
              </a:defRPr>
            </a:pPr>
            <a:endParaRPr lang="es-PY"/>
          </a:p>
        </c:txPr>
        <c:crossAx val="200"/>
        <c:crosses val="autoZero"/>
        <c:auto val="1"/>
        <c:lblAlgn val="ctr"/>
        <c:lblOffset val="100"/>
      </c:catAx>
      <c:valAx>
        <c:axId val="200"/>
        <c:scaling>
          <c:orientation val="minMax"/>
          <c:max val="850"/>
          <c:min val="0"/>
        </c:scaling>
        <c:delete val="0"/>
        <c:axPos val="b"/>
        <c:majorGridlines>
          <c:spPr>
            <a:ln w="10000">
              <a:solidFill>
                <a:srgbClr val="E1E6ED"/>
              </a:solidFill>
            </a:ln>
          </c:spPr>
        </c:majorGridlines>
        <c:numFmt formatCode="0" sourceLinked="0"/>
        <c:majorTickMark val="none"/>
        <c:minorTickMark val="none"/>
        <c:tickLblPos val="nextTo"/>
        <c:spPr>
          <a:ln w="10000">
            <a:solidFill>
              <a:srgbClr val="C7D1DD"/>
            </a:solidFill>
          </a:ln>
        </c:spPr>
        <c:txPr>
          <a:bodyPr/>
          <a:lstStyle/>
          <a:p>
            <a:pPr>
              <a:defRPr sz="1600" b="0">
                <a:solidFill>
                  <a:srgbClr val="102A43"/>
                </a:solidFill>
                <a:latin typeface="Arial"/>
              </a:defRPr>
            </a:pPr>
            <a:endParaRPr lang="es-PY"/>
          </a:p>
        </c:txPr>
        <c:crossAx val="100"/>
        <c:crosses val="max"/>
        <c:crossBetween val="between"/>
        <c:majorUnit val="400"/>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5.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155D99"/>
            </a:solidFill>
            <a:ln>
              <a:noFill/>
            </a:ln>
          </c:spPr>
          <c:dPt>
            <c:idx val="0"/>
            <c:spPr>
              <a:solidFill>
                <a:srgbClr val="AC3F14"/>
              </a:solidFill>
              <a:ln>
                <a:noFill/>
              </a:ln>
            </c:spPr>
          </c:dPt>
          <c:dPt>
            <c:idx val="1"/>
            <c:spPr>
              <a:solidFill>
                <a:srgbClr val="155D99"/>
              </a:solidFill>
              <a:ln>
                <a:noFill/>
              </a:ln>
            </c:spPr>
          </c:dPt>
          <c:cat>
            <c:strRef>
              <c:f>Datos!$A$2:$A$3</c:f>
              <c:strCache>
                <c:ptCount val="2"/>
                <c:pt idx="0">
                  <c:v>Hombres
850 / 4.291</c:v>
                </c:pt>
                <c:pt idx="1">
                  <c:v>Mujeres
130 / 1.202</c:v>
                </c:pt>
              </c:strCache>
            </c:strRef>
          </c:cat>
          <c:val>
            <c:numRef>
              <c:f>Datos!$B$2:$B$3</c:f>
              <c:numCache>
                <c:formatCode>0.0%</c:formatCode>
                <c:ptCount val="2"/>
                <c:pt idx="0">
                  <c:v>0.1980890235376369</c:v>
                </c:pt>
                <c:pt idx="1">
                  <c:v>0.10815307820299501</c:v>
                </c:pt>
              </c:numCache>
            </c:numRef>
          </c:val>
        </c:ser>
        <c:dLbls>
          <c:numFmt formatCode="0.0%" sourceLinked="0"/>
          <c:txPr>
            <a:bodyPr/>
            <a:lstStyle/>
            <a:p>
              <a:pPr>
                <a:defRPr sz="19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700" b="0">
                <a:solidFill>
                  <a:srgbClr val="102A43"/>
                </a:solidFill>
                <a:latin typeface="Arial"/>
              </a:defRPr>
            </a:pPr>
            <a:endParaRPr lang="es-PY"/>
          </a:p>
        </c:txPr>
        <c:crossAx val="200"/>
        <c:crosses val="autoZero"/>
        <c:auto val="1"/>
        <c:lblAlgn val="ctr"/>
        <c:lblOffset val="100"/>
      </c:catAx>
      <c:valAx>
        <c:axId val="200"/>
        <c:scaling>
          <c:orientation val="minMax"/>
          <c:max val="0.45"/>
          <c:min val="0"/>
        </c:scaling>
        <c:delete val="0"/>
        <c:axPos val="b"/>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700" b="0">
                <a:solidFill>
                  <a:srgbClr val="102A43"/>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6.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155D99"/>
            </a:solidFill>
            <a:ln>
              <a:noFill/>
            </a:ln>
          </c:spPr>
          <c:dPt>
            <c:idx val="0"/>
            <c:spPr>
              <a:solidFill>
                <a:srgbClr val="155D99"/>
              </a:solidFill>
              <a:ln>
                <a:noFill/>
              </a:ln>
            </c:spPr>
          </c:dPt>
          <c:dPt>
            <c:idx val="1"/>
            <c:spPr>
              <a:solidFill>
                <a:srgbClr val="155D99"/>
              </a:solidFill>
              <a:ln>
                <a:noFill/>
              </a:ln>
            </c:spPr>
          </c:dPt>
          <c:dPt>
            <c:idx val="2"/>
            <c:spPr>
              <a:solidFill>
                <a:srgbClr val="155D99"/>
              </a:solidFill>
              <a:ln>
                <a:noFill/>
              </a:ln>
            </c:spPr>
          </c:dPt>
          <c:dPt>
            <c:idx val="3"/>
            <c:spPr>
              <a:solidFill>
                <a:srgbClr val="155D99"/>
              </a:solidFill>
              <a:ln>
                <a:noFill/>
              </a:ln>
            </c:spPr>
          </c:dPt>
          <c:dPt>
            <c:idx val="4"/>
            <c:spPr>
              <a:solidFill>
                <a:srgbClr val="155D99"/>
              </a:solidFill>
              <a:ln>
                <a:noFill/>
              </a:ln>
            </c:spPr>
          </c:dPt>
          <c:dPt>
            <c:idx val="5"/>
            <c:spPr>
              <a:solidFill>
                <a:srgbClr val="155D99"/>
              </a:solidFill>
              <a:ln>
                <a:noFill/>
              </a:ln>
            </c:spPr>
          </c:dPt>
          <c:dPt>
            <c:idx val="6"/>
            <c:spPr>
              <a:solidFill>
                <a:srgbClr val="AC3F14"/>
              </a:solidFill>
              <a:ln>
                <a:noFill/>
              </a:ln>
            </c:spPr>
          </c:dPt>
          <c:cat>
            <c:strRef>
              <c:f>Datos!$A$2:$A$8</c:f>
              <c:strCache>
                <c:ptCount val="7"/>
                <c:pt idx="0">
                  <c:v>0–13</c:v>
                </c:pt>
                <c:pt idx="1">
                  <c:v>14–17</c:v>
                </c:pt>
                <c:pt idx="2">
                  <c:v>18–29</c:v>
                </c:pt>
                <c:pt idx="3">
                  <c:v>30–39</c:v>
                </c:pt>
                <c:pt idx="4">
                  <c:v>40–49</c:v>
                </c:pt>
                <c:pt idx="5">
                  <c:v>50–59</c:v>
                </c:pt>
                <c:pt idx="6">
                  <c:v>60 o más</c:v>
                </c:pt>
              </c:strCache>
            </c:strRef>
          </c:cat>
          <c:val>
            <c:numRef>
              <c:f>Datos!$B$2:$B$8</c:f>
              <c:numCache>
                <c:formatCode>0.0%</c:formatCode>
                <c:ptCount val="7"/>
                <c:pt idx="0">
                  <c:v>0.11437908496732026</c:v>
                </c:pt>
                <c:pt idx="1">
                  <c:v>0.12694877505567928</c:v>
                </c:pt>
                <c:pt idx="2">
                  <c:v>0.1511899206719552</c:v>
                </c:pt>
                <c:pt idx="3">
                  <c:v>0.1797872340425532</c:v>
                </c:pt>
                <c:pt idx="4">
                  <c:v>0.2037914691943128</c:v>
                </c:pt>
                <c:pt idx="5">
                  <c:v>0.2742382271468144</c:v>
                </c:pt>
                <c:pt idx="6">
                  <c:v>0.34415584415584416</c:v>
                </c:pt>
              </c:numCache>
            </c:numRef>
          </c:val>
        </c:ser>
        <c:dLbls>
          <c:numFmt formatCode="0.0%" sourceLinked="0"/>
          <c:txPr>
            <a:bodyPr/>
            <a:lstStyle/>
            <a:p>
              <a:pPr>
                <a:defRPr sz="17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600" b="0">
                <a:solidFill>
                  <a:srgbClr val="102A43"/>
                </a:solidFill>
                <a:latin typeface="Arial"/>
              </a:defRPr>
            </a:pPr>
            <a:endParaRPr lang="es-PY"/>
          </a:p>
        </c:txPr>
        <c:crossAx val="200"/>
        <c:crosses val="autoZero"/>
        <c:auto val="1"/>
        <c:lblAlgn val="ctr"/>
        <c:lblOffset val="100"/>
      </c:catAx>
      <c:valAx>
        <c:axId val="200"/>
        <c:scaling>
          <c:orientation val="minMax"/>
          <c:max val="0.45"/>
          <c:min val="0"/>
        </c:scaling>
        <c:delete val="0"/>
        <c:axPos val="b"/>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600" b="0">
                <a:solidFill>
                  <a:srgbClr val="102A43"/>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7.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155D99"/>
            </a:solidFill>
            <a:ln>
              <a:noFill/>
            </a:ln>
          </c:spPr>
          <c:dPt>
            <c:idx val="0"/>
            <c:spPr>
              <a:solidFill>
                <a:srgbClr val="155D99"/>
              </a:solidFill>
              <a:ln>
                <a:noFill/>
              </a:ln>
            </c:spPr>
          </c:dPt>
          <c:dPt>
            <c:idx val="1"/>
            <c:spPr>
              <a:solidFill>
                <a:srgbClr val="155D99"/>
              </a:solidFill>
              <a:ln>
                <a:noFill/>
              </a:ln>
            </c:spPr>
          </c:dPt>
          <c:dPt>
            <c:idx val="2"/>
            <c:spPr>
              <a:solidFill>
                <a:srgbClr val="AC3F14"/>
              </a:solidFill>
              <a:ln>
                <a:noFill/>
              </a:ln>
            </c:spPr>
          </c:dPt>
          <c:cat>
            <c:strRef>
              <c:f>Datos!$A$2:$A$4</c:f>
              <c:strCache>
                <c:ptCount val="3"/>
                <c:pt idx="0">
                  <c:v>Asunción
26 / 167</c:v>
                </c:pt>
                <c:pt idx="1">
                  <c:v>Central
82 / 476</c:v>
                </c:pt>
                <c:pt idx="2">
                  <c:v>Interior
187 / 848</c:v>
                </c:pt>
              </c:strCache>
            </c:strRef>
          </c:cat>
          <c:val>
            <c:numRef>
              <c:f>Datos!$B$2:$B$4</c:f>
              <c:numCache>
                <c:formatCode>0.0%</c:formatCode>
                <c:ptCount val="3"/>
                <c:pt idx="0">
                  <c:v>0.15568862275449102</c:v>
                </c:pt>
                <c:pt idx="1">
                  <c:v>0.1722689075630252</c:v>
                </c:pt>
                <c:pt idx="2">
                  <c:v>0.2205188679245283</c:v>
                </c:pt>
              </c:numCache>
            </c:numRef>
          </c:val>
        </c:ser>
        <c:dLbls>
          <c:numFmt formatCode="0.0%" sourceLinked="0"/>
          <c:txPr>
            <a:bodyPr/>
            <a:lstStyle/>
            <a:p>
              <a:pPr>
                <a:defRPr sz="20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200"/>
        <c:crosses val="autoZero"/>
        <c:auto val="1"/>
        <c:lblAlgn val="ctr"/>
        <c:lblOffset val="100"/>
      </c:catAx>
      <c:valAx>
        <c:axId val="200"/>
        <c:scaling>
          <c:orientation val="minMax"/>
          <c:max val="0.3"/>
          <c:min val="0"/>
        </c:scaling>
        <c:delete val="0"/>
        <c:axPos val="b"/>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8.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155D99"/>
            </a:solidFill>
            <a:ln>
              <a:noFill/>
            </a:ln>
          </c:spPr>
          <c:dPt>
            <c:idx val="0"/>
            <c:spPr>
              <a:solidFill>
                <a:srgbClr val="AC3F14"/>
              </a:solidFill>
              <a:ln>
                <a:noFill/>
              </a:ln>
            </c:spPr>
          </c:dPt>
          <c:dPt>
            <c:idx val="1"/>
            <c:spPr>
              <a:solidFill>
                <a:srgbClr val="155D99"/>
              </a:solidFill>
              <a:ln>
                <a:noFill/>
              </a:ln>
            </c:spPr>
          </c:dPt>
          <c:cat>
            <c:strRef>
              <c:f>Datos!$A$2:$A$3</c:f>
              <c:strCache>
                <c:ptCount val="2"/>
                <c:pt idx="0">
                  <c:v>Motocicleta
151 / 534</c:v>
                </c:pt>
                <c:pt idx="1">
                  <c:v>Demás usuarios
114 / 785</c:v>
                </c:pt>
              </c:strCache>
            </c:strRef>
          </c:cat>
          <c:val>
            <c:numRef>
              <c:f>Datos!$B$2:$B$3</c:f>
              <c:numCache>
                <c:formatCode>0.0%</c:formatCode>
                <c:ptCount val="2"/>
                <c:pt idx="0">
                  <c:v>0.28277153558052437</c:v>
                </c:pt>
                <c:pt idx="1">
                  <c:v>0.14522292993630573</c:v>
                </c:pt>
              </c:numCache>
            </c:numRef>
          </c:val>
        </c:ser>
        <c:dLbls>
          <c:numFmt formatCode="0.0%" sourceLinked="0"/>
          <c:txPr>
            <a:bodyPr/>
            <a:lstStyle/>
            <a:p>
              <a:pPr>
                <a:defRPr sz="21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200"/>
        <c:crosses val="autoZero"/>
        <c:auto val="1"/>
        <c:lblAlgn val="ctr"/>
        <c:lblOffset val="100"/>
      </c:catAx>
      <c:valAx>
        <c:axId val="200"/>
        <c:scaling>
          <c:orientation val="minMax"/>
          <c:max val="0.4"/>
          <c:min val="0"/>
        </c:scaling>
        <c:delete val="0"/>
        <c:axPos val="b"/>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9.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Proporción de fallecidos</c:v>
                </c:pt>
              </c:strCache>
            </c:strRef>
          </c:tx>
          <c:spPr>
            <a:solidFill>
              <a:srgbClr val="155D99"/>
            </a:solidFill>
            <a:ln>
              <a:noFill/>
            </a:ln>
          </c:spPr>
          <c:dPt>
            <c:idx val="0"/>
            <c:spPr>
              <a:solidFill>
                <a:srgbClr val="155D99"/>
              </a:solidFill>
              <a:ln>
                <a:noFill/>
              </a:ln>
            </c:spPr>
          </c:dPt>
          <c:dPt>
            <c:idx val="1"/>
            <c:spPr>
              <a:solidFill>
                <a:srgbClr val="AC3F14"/>
              </a:solidFill>
              <a:ln>
                <a:noFill/>
              </a:ln>
            </c:spPr>
          </c:dPt>
          <c:cat>
            <c:strRef>
              <c:f>Datos!$A$2:$A$3</c:f>
              <c:strCache>
                <c:ptCount val="2"/>
                <c:pt idx="0">
                  <c:v>Menores de 60
813 / 4.832</c:v>
                </c:pt>
                <c:pt idx="1">
                  <c:v>60 años o más
106 / 308</c:v>
                </c:pt>
              </c:strCache>
            </c:strRef>
          </c:cat>
          <c:val>
            <c:numRef>
              <c:f>Datos!$B$2:$B$3</c:f>
              <c:numCache>
                <c:formatCode>0.0%</c:formatCode>
                <c:ptCount val="2"/>
                <c:pt idx="0">
                  <c:v>0.16825331125827814</c:v>
                </c:pt>
                <c:pt idx="1">
                  <c:v>0.34415584415584416</c:v>
                </c:pt>
              </c:numCache>
            </c:numRef>
          </c:val>
        </c:ser>
        <c:dLbls>
          <c:numFmt formatCode="0.0%" sourceLinked="0"/>
          <c:txPr>
            <a:bodyPr/>
            <a:lstStyle/>
            <a:p>
              <a:pPr>
                <a:defRPr sz="21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200"/>
        <c:crosses val="autoZero"/>
        <c:auto val="1"/>
        <c:lblAlgn val="ctr"/>
        <c:lblOffset val="100"/>
      </c:catAx>
      <c:valAx>
        <c:axId val="200"/>
        <c:scaling>
          <c:orientation val="minMax"/>
          <c:max val="0.45"/>
          <c:min val="0"/>
        </c:scaling>
        <c:delete val="0"/>
        <c:axPos val="b"/>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100"/>
        <c:crosses val="max"/>
        <c:crossBetween val="between"/>
        <c:majorUnit val="0.1"/>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10.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stacked"/>
        <c:varyColors val="0"/>
        <c:ser>
          <c:idx val="0"/>
          <c:order val="0"/>
          <c:tx>
            <c:strRef>
              <c:f>Datos!$B$1</c:f>
              <c:strCache>
                <c:ptCount val="1"/>
                <c:pt idx="0">
                  <c:v>Entrenamiento</c:v>
                </c:pt>
              </c:strCache>
            </c:strRef>
          </c:tx>
          <c:spPr>
            <a:solidFill>
              <a:srgbClr val="155D99"/>
            </a:solidFill>
            <a:ln>
              <a:noFill/>
            </a:ln>
          </c:spPr>
          <c:cat>
            <c:strRef>
              <c:f>Datos!$A$2:$A$2</c:f>
              <c:strCache>
                <c:ptCount val="1"/>
                <c:pt idx="0">
                  <c:v>5.493 filas</c:v>
                </c:pt>
              </c:strCache>
            </c:strRef>
          </c:cat>
          <c:val>
            <c:numRef>
              <c:f>Datos!$B$2:$B$2</c:f>
              <c:numCache>
                <c:formatCode>#,##0</c:formatCode>
                <c:ptCount val="1"/>
                <c:pt idx="0">
                  <c:v>4394.0</c:v>
                </c:pt>
              </c:numCache>
            </c:numRef>
          </c:val>
        </c:ser>
        <c:ser>
          <c:idx val="1"/>
          <c:order val="1"/>
          <c:tx>
            <c:strRef>
              <c:f>Datos!$C$1</c:f>
              <c:strCache>
                <c:ptCount val="1"/>
                <c:pt idx="0">
                  <c:v>Prueba</c:v>
                </c:pt>
              </c:strCache>
            </c:strRef>
          </c:tx>
          <c:spPr>
            <a:solidFill>
              <a:srgbClr val="AC3F14"/>
            </a:solidFill>
            <a:ln>
              <a:noFill/>
            </a:ln>
          </c:spPr>
          <c:cat>
            <c:strRef>
              <c:f>Datos!$A$2:$A$2</c:f>
              <c:strCache>
                <c:ptCount val="1"/>
                <c:pt idx="0">
                  <c:v>5.493 filas</c:v>
                </c:pt>
              </c:strCache>
            </c:strRef>
          </c:cat>
          <c:val>
            <c:numRef>
              <c:f>Datos!$C$2:$C$2</c:f>
              <c:numCache>
                <c:formatCode>#,##0</c:formatCode>
                <c:ptCount val="1"/>
                <c:pt idx="0">
                  <c:v>1099</c:v>
                </c:pt>
              </c:numCache>
            </c:numRef>
          </c:val>
        </c:ser>
        <c:dLbls>
          <c:numFmt formatCode="#,##0" sourceLinked="0"/>
          <c:txPr>
            <a:bodyPr/>
            <a:lstStyle/>
            <a:p>
              <a:pPr>
                <a:defRPr sz="2000" b="1">
                  <a:solidFill>
                    <a:srgbClr val="FFFFFF"/>
                  </a:solidFill>
                  <a:latin typeface="Arial"/>
                </a:defRPr>
              </a:pPr>
              <a:endParaRPr lang="es-PY"/>
            </a:p>
          </c:txPr>
          <c:dLblPos val="ctr"/>
          <c:showLegendKey val="0"/>
          <c:showVal val="1"/>
          <c:showCatName val="0"/>
          <c:showSerName val="0"/>
          <c:showPercent val="0"/>
          <c:showBubbleSize val="0"/>
        </c:dLbls>
        <c:gapWidth val="85"/>
        <c:overlap val="100"/>
        <c:axId val="100"/>
        <c:axId val="200"/>
      </c:barChart>
      <c:catAx>
        <c:axId val="100"/>
        <c:scaling>
          <c:orientation val="maxMin"/>
        </c:scaling>
        <c:delete val="1"/>
        <c:axPos val="l"/>
        <c:majorTickMark val="none"/>
        <c:minorTickMark val="none"/>
        <c:tickLblPos val="nextTo"/>
        <c:spPr>
          <a:ln w="10000">
            <a:solidFill>
              <a:srgbClr val="C7D1DD"/>
            </a:solidFill>
          </a:ln>
        </c:spPr>
        <c:txPr>
          <a:bodyPr/>
          <a:lstStyle/>
          <a:p>
            <a:pPr>
              <a:defRPr sz="1700" b="0">
                <a:solidFill>
                  <a:srgbClr val="102A43"/>
                </a:solidFill>
                <a:latin typeface="Arial"/>
              </a:defRPr>
            </a:pPr>
            <a:endParaRPr lang="es-PY"/>
          </a:p>
        </c:txPr>
        <c:crossAx val="200"/>
        <c:crosses val="autoZero"/>
        <c:auto val="1"/>
        <c:lblAlgn val="ctr"/>
        <c:lblOffset val="100"/>
      </c:catAx>
      <c:valAx>
        <c:axId val="200"/>
        <c:scaling>
          <c:orientation val="minMax"/>
          <c:max val="5493"/>
          <c:min val="0"/>
        </c:scaling>
        <c:delete val="1"/>
        <c:axPos val="b"/>
        <c:numFmt formatCode="#,##0" sourceLinked="0"/>
        <c:majorTickMark val="none"/>
        <c:minorTickMark val="none"/>
        <c:tickLblPos val="nextTo"/>
        <c:spPr>
          <a:ln w="10000">
            <a:solidFill>
              <a:srgbClr val="C7D1DD"/>
            </a:solidFill>
          </a:ln>
        </c:spPr>
        <c:txPr>
          <a:bodyPr/>
          <a:lstStyle/>
          <a:p>
            <a:pPr>
              <a:defRPr sz="1700" b="0">
                <a:solidFill>
                  <a:srgbClr val="102A43"/>
                </a:solidFill>
                <a:latin typeface="Arial"/>
              </a:defRPr>
            </a:pPr>
            <a:endParaRPr lang="es-PY"/>
          </a:p>
        </c:txPr>
        <c:crossAx val="100"/>
        <c:crosses val="max"/>
        <c:crossBetween val="between"/>
        <c:majorUnit val="0.1"/>
      </c:valAx>
    </c:plotArea>
    <c:legend>
      <c:legendPos val="b"/>
      <c:overlay val="0"/>
      <c:txPr>
        <a:bodyPr/>
        <a:lstStyle/>
        <a:p>
          <a:pPr>
            <a:defRPr sz="1600" b="0">
              <a:solidFill>
                <a:srgbClr val="102A43"/>
              </a:solidFill>
              <a:latin typeface="Arial"/>
            </a:defRPr>
          </a:pPr>
          <a:endParaRPr lang="es-PY"/>
        </a:p>
      </c:txPr>
    </c:legend>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11.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F1 macro CV</c:v>
                </c:pt>
              </c:strCache>
            </c:strRef>
          </c:tx>
          <c:spPr>
            <a:solidFill>
              <a:srgbClr val="155D99"/>
            </a:solidFill>
            <a:ln>
              <a:noFill/>
            </a:ln>
          </c:spPr>
          <c:dPt>
            <c:idx val="0"/>
            <c:spPr>
              <a:solidFill>
                <a:srgbClr val="65758B"/>
              </a:solidFill>
              <a:ln>
                <a:noFill/>
              </a:ln>
            </c:spPr>
          </c:dPt>
          <c:dPt>
            <c:idx val="1"/>
            <c:spPr>
              <a:solidFill>
                <a:srgbClr val="155D99"/>
              </a:solidFill>
              <a:ln>
                <a:noFill/>
              </a:ln>
            </c:spPr>
          </c:dPt>
          <c:dPt>
            <c:idx val="2"/>
            <c:spPr>
              <a:solidFill>
                <a:srgbClr val="AC3F14"/>
              </a:solidFill>
              <a:ln>
                <a:noFill/>
              </a:ln>
            </c:spPr>
          </c:dPt>
          <c:dPt>
            <c:idx val="3"/>
            <c:spPr>
              <a:solidFill>
                <a:srgbClr val="155D99"/>
              </a:solidFill>
              <a:ln>
                <a:noFill/>
              </a:ln>
            </c:spPr>
          </c:dPt>
          <c:dPt>
            <c:idx val="4"/>
            <c:spPr>
              <a:solidFill>
                <a:srgbClr val="155D99"/>
              </a:solidFill>
              <a:ln>
                <a:noFill/>
              </a:ln>
            </c:spPr>
          </c:dPt>
          <c:cat>
            <c:strRef>
              <c:f>Datos!$A$2:$A$6</c:f>
              <c:strCache>
                <c:ptCount val="5"/>
                <c:pt idx="0">
                  <c:v>Dummy</c:v>
                </c:pt>
                <c:pt idx="1">
                  <c:v>Logística</c:v>
                </c:pt>
                <c:pt idx="2">
                  <c:v>Árbol</c:v>
                </c:pt>
                <c:pt idx="3">
                  <c:v>Random Forest</c:v>
                </c:pt>
                <c:pt idx="4">
                  <c:v>Bayes</c:v>
                </c:pt>
              </c:strCache>
            </c:strRef>
          </c:cat>
          <c:val>
            <c:numRef>
              <c:f>Datos!$B$2:$B$6</c:f>
              <c:numCache>
                <c:formatCode>0.0000</c:formatCode>
                <c:ptCount val="5"/>
                <c:pt idx="0">
                  <c:v>0.4510245159275453</c:v>
                </c:pt>
                <c:pt idx="1">
                  <c:v>0.5277786834703426</c:v>
                </c:pt>
                <c:pt idx="2">
                  <c:v>0.5415647678697221</c:v>
                </c:pt>
                <c:pt idx="3">
                  <c:v>0.5233744287692632</c:v>
                </c:pt>
                <c:pt idx="4">
                  <c:v>0.5347235300382636</c:v>
                </c:pt>
              </c:numCache>
            </c:numRef>
          </c:val>
        </c:ser>
        <c:dLbls>
          <c:numFmt formatCode="0.0000" sourceLinked="0"/>
          <c:txPr>
            <a:bodyPr/>
            <a:lstStyle/>
            <a:p>
              <a:pPr>
                <a:defRPr sz="18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200"/>
        <c:crosses val="autoZero"/>
        <c:auto val="1"/>
        <c:lblAlgn val="ctr"/>
        <c:lblOffset val="100"/>
      </c:catAx>
      <c:valAx>
        <c:axId val="200"/>
        <c:scaling>
          <c:orientation val="minMax"/>
          <c:max val="0.65"/>
          <c:min val="0"/>
        </c:scaling>
        <c:delete val="0"/>
        <c:axPos val="b"/>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12.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F1 macro</c:v>
                </c:pt>
              </c:strCache>
            </c:strRef>
          </c:tx>
          <c:spPr>
            <a:solidFill>
              <a:srgbClr val="155D99"/>
            </a:solidFill>
            <a:ln>
              <a:noFill/>
            </a:ln>
          </c:spPr>
          <c:dPt>
            <c:idx val="0"/>
            <c:spPr>
              <a:solidFill>
                <a:srgbClr val="155D99"/>
              </a:solidFill>
              <a:ln>
                <a:noFill/>
              </a:ln>
            </c:spPr>
          </c:dPt>
          <c:dPt>
            <c:idx val="1"/>
            <c:spPr>
              <a:solidFill>
                <a:srgbClr val="155D99"/>
              </a:solidFill>
              <a:ln>
                <a:noFill/>
              </a:ln>
            </c:spPr>
          </c:dPt>
          <c:dPt>
            <c:idx val="2"/>
            <c:spPr>
              <a:solidFill>
                <a:srgbClr val="155D99"/>
              </a:solidFill>
              <a:ln>
                <a:noFill/>
              </a:ln>
            </c:spPr>
          </c:dPt>
          <c:dPt>
            <c:idx val="3"/>
            <c:spPr>
              <a:solidFill>
                <a:srgbClr val="AC3F14"/>
              </a:solidFill>
              <a:ln>
                <a:noFill/>
              </a:ln>
            </c:spPr>
          </c:dPt>
          <c:cat>
            <c:strRef>
              <c:f>Datos!$A$2:$A$5</c:f>
              <c:strCache>
                <c:ptCount val="4"/>
                <c:pt idx="0">
                  <c:v>Entrenamiento</c:v>
                </c:pt>
                <c:pt idx="1">
                  <c:v>CV</c:v>
                </c:pt>
                <c:pt idx="2">
                  <c:v>Prueba</c:v>
                </c:pt>
                <c:pt idx="3">
                  <c:v>Sin perfiles
compartidos</c:v>
                </c:pt>
              </c:strCache>
            </c:strRef>
          </c:cat>
          <c:val>
            <c:numRef>
              <c:f>Datos!$B$2:$B$5</c:f>
              <c:numCache>
                <c:formatCode>0.000</c:formatCode>
                <c:ptCount val="4"/>
                <c:pt idx="0">
                  <c:v>0.5490039307166918</c:v>
                </c:pt>
                <c:pt idx="1">
                  <c:v>0.5415647678697221</c:v>
                </c:pt>
                <c:pt idx="2">
                  <c:v>0.5298714210887336</c:v>
                </c:pt>
                <c:pt idx="3">
                  <c:v>0.4555926527627962</c:v>
                </c:pt>
              </c:numCache>
            </c:numRef>
          </c:val>
        </c:ser>
        <c:dLbls>
          <c:numFmt formatCode="0.000" sourceLinked="0"/>
          <c:txPr>
            <a:bodyPr/>
            <a:lstStyle/>
            <a:p>
              <a:pPr>
                <a:defRPr sz="18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600" b="0">
                <a:solidFill>
                  <a:srgbClr val="102A43"/>
                </a:solidFill>
                <a:latin typeface="Arial"/>
              </a:defRPr>
            </a:pPr>
            <a:endParaRPr lang="es-PY"/>
          </a:p>
        </c:txPr>
        <c:crossAx val="200"/>
        <c:crosses val="autoZero"/>
        <c:auto val="1"/>
        <c:lblAlgn val="ctr"/>
        <c:lblOffset val="100"/>
      </c:catAx>
      <c:valAx>
        <c:axId val="200"/>
        <c:scaling>
          <c:orientation val="minMax"/>
          <c:max val="0.65"/>
          <c:min val="0"/>
        </c:scaling>
        <c:delete val="0"/>
        <c:axPos val="b"/>
        <c:majorGridlines>
          <c:spPr>
            <a:ln w="10000">
              <a:solidFill>
                <a:srgbClr val="E1E6ED"/>
              </a:solidFill>
            </a:ln>
          </c:spPr>
        </c:majorGridlines>
        <c:numFmt formatCode="0.0" sourceLinked="0"/>
        <c:majorTickMark val="none"/>
        <c:minorTickMark val="none"/>
        <c:tickLblPos val="nextTo"/>
        <c:spPr>
          <a:ln w="10000">
            <a:solidFill>
              <a:srgbClr val="C7D1DD"/>
            </a:solidFill>
          </a:ln>
        </c:spPr>
        <c:txPr>
          <a:bodyPr/>
          <a:lstStyle/>
          <a:p>
            <a:pPr>
              <a:defRPr sz="1600" b="0">
                <a:solidFill>
                  <a:srgbClr val="102A43"/>
                </a:solidFill>
                <a:latin typeface="Arial"/>
              </a:defRPr>
            </a:pPr>
            <a:endParaRPr lang="es-PY"/>
          </a:p>
        </c:txPr>
        <c:crossAx val="100"/>
        <c:crosses val="max"/>
        <c:crossBetween val="between"/>
        <c:majorUnit val="0.2"/>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charts/chart13.xml><?xml version="1.0" encoding="utf-8"?>
<c:chartSpace xmlns:c="http://schemas.openxmlformats.org/drawingml/2006/chart" xmlns:a="http://schemas.openxmlformats.org/drawingml/2006/main" xmlns:p="http://schemas.openxmlformats.org/presentationml/2006/main" xmlns:r="http://schemas.openxmlformats.org/officeDocument/2006/relationships">
  <c:date1904 val="0"/>
  <c:lang val="es-PY"/>
  <c:roundedCorners val="0"/>
  <c:chart>
    <c:autoTitleDeleted val="1"/>
    <c:plotArea>
      <c:layout/>
      <c:barChart>
        <c:barDir val="bar"/>
        <c:grouping val="clustered"/>
        <c:varyColors val="0"/>
        <c:ser>
          <c:idx val="0"/>
          <c:order val="0"/>
          <c:tx>
            <c:strRef>
              <c:f>Datos!$B$1</c:f>
              <c:strCache>
                <c:ptCount val="1"/>
                <c:pt idx="0">
                  <c:v>Caída media de F1 macro</c:v>
                </c:pt>
              </c:strCache>
            </c:strRef>
          </c:tx>
          <c:spPr>
            <a:solidFill>
              <a:srgbClr val="155D99"/>
            </a:solidFill>
            <a:ln>
              <a:noFill/>
            </a:ln>
          </c:spPr>
          <c:dPt>
            <c:idx val="0"/>
            <c:spPr>
              <a:solidFill>
                <a:srgbClr val="AC3F14"/>
              </a:solidFill>
              <a:ln>
                <a:noFill/>
              </a:ln>
            </c:spPr>
          </c:dPt>
          <c:dPt>
            <c:idx val="1"/>
            <c:spPr>
              <a:solidFill>
                <a:srgbClr val="155D99"/>
              </a:solidFill>
              <a:ln>
                <a:noFill/>
              </a:ln>
            </c:spPr>
          </c:dPt>
          <c:cat>
            <c:strRef>
              <c:f>Datos!$A$2:$A$3</c:f>
              <c:strCache>
                <c:ptCount val="2"/>
                <c:pt idx="0">
                  <c:v>Edad</c:v>
                </c:pt>
                <c:pt idx="1">
                  <c:v>Sexo</c:v>
                </c:pt>
              </c:strCache>
            </c:strRef>
          </c:cat>
          <c:val>
            <c:numRef>
              <c:f>Datos!$B$2:$B$3</c:f>
              <c:numCache>
                <c:formatCode>0.000</c:formatCode>
                <c:ptCount val="2"/>
                <c:pt idx="0">
                  <c:v>0.0361</c:v>
                </c:pt>
                <c:pt idx="1">
                  <c:v>0.0142</c:v>
                </c:pt>
              </c:numCache>
            </c:numRef>
          </c:val>
        </c:ser>
        <c:dLbls>
          <c:numFmt formatCode="0.000" sourceLinked="0"/>
          <c:txPr>
            <a:bodyPr/>
            <a:lstStyle/>
            <a:p>
              <a:pPr>
                <a:defRPr sz="1900" b="1">
                  <a:solidFill>
                    <a:srgbClr val="102A43"/>
                  </a:solidFill>
                  <a:latin typeface="Arial"/>
                </a:defRPr>
              </a:pPr>
              <a:endParaRPr lang="es-PY"/>
            </a:p>
          </c:txPr>
          <c:dLblPos val="outEnd"/>
          <c:showLegendKey val="0"/>
          <c:showVal val="1"/>
          <c:showCatName val="0"/>
          <c:showSerName val="0"/>
          <c:showPercent val="0"/>
          <c:showBubbleSize val="0"/>
        </c:dLbls>
        <c:gapWidth val="85"/>
        <c:overlap val="0"/>
        <c:axId val="100"/>
        <c:axId val="200"/>
      </c:barChart>
      <c:catAx>
        <c:axId val="100"/>
        <c:scaling>
          <c:orientation val="maxMin"/>
        </c:scaling>
        <c:delete val="0"/>
        <c:axPos val="l"/>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200"/>
        <c:crosses val="autoZero"/>
        <c:auto val="1"/>
        <c:lblAlgn val="ctr"/>
        <c:lblOffset val="100"/>
      </c:catAx>
      <c:valAx>
        <c:axId val="200"/>
        <c:scaling>
          <c:orientation val="minMax"/>
          <c:max val="0.05"/>
          <c:min val="0"/>
        </c:scaling>
        <c:delete val="0"/>
        <c:axPos val="b"/>
        <c:majorGridlines>
          <c:spPr>
            <a:ln w="10000">
              <a:solidFill>
                <a:srgbClr val="E1E6ED"/>
              </a:solidFill>
            </a:ln>
          </c:spPr>
        </c:majorGridlines>
        <c:numFmt formatCode="0.00" sourceLinked="0"/>
        <c:majorTickMark val="none"/>
        <c:minorTickMark val="none"/>
        <c:tickLblPos val="nextTo"/>
        <c:spPr>
          <a:ln w="10000">
            <a:solidFill>
              <a:srgbClr val="C7D1DD"/>
            </a:solidFill>
          </a:ln>
        </c:spPr>
        <c:txPr>
          <a:bodyPr/>
          <a:lstStyle/>
          <a:p>
            <a:pPr>
              <a:defRPr sz="1800" b="0">
                <a:solidFill>
                  <a:srgbClr val="102A43"/>
                </a:solidFill>
                <a:latin typeface="Arial"/>
              </a:defRPr>
            </a:pPr>
            <a:endParaRPr lang="es-PY"/>
          </a:p>
        </c:txPr>
        <c:crossAx val="100"/>
        <c:crosses val="max"/>
        <c:crossBetween val="between"/>
        <c:majorUnit val="0.02"/>
      </c:valAx>
    </c:plotArea>
    <c:plotVisOnly val="1"/>
    <c:dispBlanksAs val="gap"/>
    <c:showDLblsOverMax val="0"/>
  </c:chart>
  <c:spPr>
    <a:noFill/>
    <a:ln>
      <a:noFill/>
    </a:ln>
  </c:spPr>
  <c:txPr>
    <a:bodyPr/>
    <a:lstStyle/>
    <a:p>
      <a:pPr>
        <a:defRPr sz="1700" b="0">
          <a:solidFill>
            <a:srgbClr val="102A43"/>
          </a:solidFill>
          <a:latin typeface="Arial"/>
        </a:defRPr>
      </a:pPr>
      <a:endParaRPr lang="es-PY"/>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Y"/>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78698-F80A-4623-AD96-23A9142B474F}" type="datetimeFigureOut">
              <a:rPr lang="es-PY" smtClean="0"/>
              <a:t>28/10/2026</a:t>
            </a:fld>
            <a:endParaRPr lang="es-PY"/>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Y"/>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Y"/>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17AD32-4EC5-4688-A3BD-F8461572E5F9}" type="slidenum">
              <a:rPr lang="es-PY" smtClean="0"/>
              <a:t>‹Nº›</a:t>
            </a:fld>
            <a:endParaRPr lang="es-PY"/>
          </a:p>
        </p:txBody>
      </p:sp>
    </p:spTree>
    <p:extLst>
      <p:ext uri="{BB962C8B-B14F-4D97-AF65-F5344CB8AC3E}">
        <p14:creationId xmlns:p14="http://schemas.microsoft.com/office/powerpoint/2010/main" val="1304058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20 segundos. EXPOSITOR SUGERIDO: Alan Alcaraz.
GUION BREVE
Nuestro proyecto estudia la gravedad de las víctimas de tránsito en Paraguay durante 2021. Primero describimos los datos, después contrastamos asociaciones y finalmente comparamos modelos para clasificar el desenlace.
APOYO PARA PREGUNTAS Y FUENTES
Presentamos el proyecto sobre gravedad de víctimas de tránsito en Paraguay. Recorrimos tres fases: describir los datos, contrastar asociaciones y comparar modelos para clasificar el desenlace. La presentación explica también lo que los datos no permiten afirmar. Todos los integrantes deben conocer las tres fases. Reparto sugerido: Alan diapositivas 1 a 5, Leandro 6 a 10 y Jorge 11 a 15, cinco minutos cada uno.
Fuente: título, integrantes y alcance del informe del grupo.
1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a:t>
            </a:fld>
            <a:endParaRPr lang="es-PY"/>
          </a:p>
        </p:txBody>
      </p:sp>
    </p:spTree>
    <p:extLst>
      <p:ext uri="{BB962C8B-B14F-4D97-AF65-F5344CB8AC3E}">
        <p14:creationId xmlns:p14="http://schemas.microsoft.com/office/powerpoint/2010/main" val="2210064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75 segundos. EXPOSITOR SUGERIDO: Alan Alcaraz.
GUION BREVE
La fuente nacional registra 5.493 víctimas, de las cuales 980 fallecieron. Queremos analizar cómo se relacionan sexo, edad, territorio y motocicleta con la gravedad. La Fase 1 describe los patrones, la Fase 2 evalúa la evidencia estadística y la Fase 3 compara modelos. La pregunta se refiere a víctimas ya registradas. No calculamos el riesgo de que cualquier habitante sufra un accidente.
APOYO PARA PREGUNTAS Y FUENTES
La gravedad es importante porque la fuente nacional registra 980 fallecidos entre 5.493 víctimas. Son víctimas ya registradas, no todos los habitantes ni todos los usuarios de la vía. Nuestra pregunta analiza asociaciones con sexo, edad, territorio y motocicleta. No calculamos la probabilidad de que una persona de la población sufra un accidente. La Fase 1 describe, la Fase 2 contrasta asociaciones y la Fase 3 evalúa si sexo y edad permiten clasificar el desenlace. Los cuatro factores no están disponibles juntos en una misma tabla individual.
Fuente: INE, cuadro 12.2.1, año 2021. https://www.ine.gov.py/Publicaciones/Biblioteca/documento/240/Anuario%20Estadistico%202021.pdf
2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2</a:t>
            </a:fld>
            <a:endParaRPr lang="es-PY"/>
          </a:p>
        </p:txBody>
      </p:sp>
    </p:spTree>
    <p:extLst>
      <p:ext uri="{BB962C8B-B14F-4D97-AF65-F5344CB8AC3E}">
        <p14:creationId xmlns:p14="http://schemas.microsoft.com/office/powerpoint/2010/main" val="3106010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60 segundos. EXPOSITOR SUGERIDO: Alan Alcaraz.
GUION BREVE
Trabajamos con 11 tablas del INE y una revisión de DINATRAN. Las fuentes tienen coberturas diferentes. La nacional contiene sexo, edad y gravedad. La territorial registra 1.491 víctimas y la vehicular 1.324. Además, analizamos 1.942 siniestros, que son hechos y no personas. Por eso no sumamos esas cantidades ni unimos las tablas por fila. Esa separación evita inventar relaciones entre víctimas.
APOYO PARA PREGUNTAS Y FUENTES
Cada fila de los archivos originales es una frecuencia agrupada. La fuente nacional de Policía Nacional contiene sexo, edad y gravedad. La fuente territorial combina la cobertura indicada por INE para Asunción, Central e Interior. La vehicular corresponde a Caminera, con 1.324 víctimas, y DINATRAN precisa sus roles. Los 1.942 siniestros son hechos registrados, no 1.942 personas. En Fase 1 consultamos 11 cuadros únicos y organizamos resúmenes por mes y ruta. No debemos sumar universos ni unir por posición de fila: eso inventaría relaciones entre personas. El subconjunto de 539 está dentro de la cobertura vehicular, no se agrega como otro total independiente.
Fuentes: cuadros indicados del INE. https://www.ine.gov.py/Publicaciones/Biblioteca/documento/240/Anuario%20Estadistico%202021.pdf
DINATRAN: https://www.dinatran.gov.py/docum/ANUARIO%202021.pdf
3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3</a:t>
            </a:fld>
            <a:endParaRPr lang="es-PY"/>
          </a:p>
        </p:txBody>
      </p:sp>
    </p:spTree>
    <p:extLst>
      <p:ext uri="{BB962C8B-B14F-4D97-AF65-F5344CB8AC3E}">
        <p14:creationId xmlns:p14="http://schemas.microsoft.com/office/powerpoint/2010/main" val="2795160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55 segundos. EXPOSITOR SUGERIDO: Alan Alcaraz.
GUION BREVE
Normalizamos formatos y categorías y comprobamos las sumas. Después expandimos las frecuencias de sexo, edad y gravedad. Aunque obtuvimos 5.493 filas, siguen existiendo solamente 16 perfiles. La expansión no crea información individual. También corregimos la edad ignorada: los 353 casos permanecen en el modelo, pero se excluyen de los contrastes que necesitan ordenar las edades.
APOYO PARA PREGUNTAS Y FUENTES
En la preparación normalizamos números y categorías, revisamos duplicaciones y verificamos que los desgloses coincidan con los totales. Interpretamos los guiones según su significado en cada cuadro. La expansión repite un perfil tantas veces como indica su frecuencia: facilita usar scikit-learn, pero no añade historias personales nuevas. Las dos categorías de sexo y ocho categorías de edad dan 16 perfiles. Esta diapositiva integra la limpieza de Fase 1 con la corrección posterior de Fase 3: las edades ignoradas ya no se ordenan como menos uno ni se consideran menores de 60. Se mantienen como categoría nominal para clasificar y se excluyen de los contrastes etarios.
Fuentes: output/fase1/bitacora_limpieza_datos.csv; src/preparar_datos.py; notebooks/Fase3_Accidentes_AUDITADA.ipynb, ejecutado y revisado.
4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4</a:t>
            </a:fld>
            <a:endParaRPr lang="es-PY"/>
          </a:p>
        </p:txBody>
      </p:sp>
    </p:spTree>
    <p:extLst>
      <p:ext uri="{BB962C8B-B14F-4D97-AF65-F5344CB8AC3E}">
        <p14:creationId xmlns:p14="http://schemas.microsoft.com/office/powerpoint/2010/main" val="136085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90 segundos. EXPOSITOR SUGERIDO: Alan Alcaraz.
GUION BREVE
La Fase 1 permitió ver cuándo y dónde se concentran los registros. Hubo 1.942 siniestros en esta cobertura de 2021. Marzo tuvo el menor conteo, 124, y octubre el mayor, 201. La PY02 concentró 711 registros, por encima de PY01 y PY06. Estas son cantidades observadas. No prueban que una ruta sea más peligrosa, porque falta información sobre cuánto tránsito circula por ella. Un solo año tampoco permite afirmar estacionalidad ni atribuir el aumento a una causa.
APOYO PARA PREGUNTAS Y FUENTES
En Fase 1 describimos la distribución temporal y por rutas. Hay 1.942 siniestros en la cobertura de Central e Interior. Los meses van de 124 en marzo a 201 en octubre. La serie sube en la segunda mitad del año, pero un año aislado no demuestra estacionalidad ni permite atribuirlo a una causa como la pandemia. La PY02 tiene 711 registros, por encima de PY01 y PY06. Eso muestra concentración de hechos, no necesariamente mayor peligrosidad: no contamos con kilómetros recorridos o volumen de tránsito comparable. Los horarios, días, causas reportadas y rutas también se exploraron en el notebook de Fase 1.
Fuentes: output/siniestros_mensual_2021.csv y output/top10_rutas_siniestros.csv, cotejados con cuadros oficiales 12.2.2/12.2.9. https://www.ine.gov.py/Publicaciones/Biblioteca/documento/240/Anuario%20Estadistico%202021.pdf
5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5</a:t>
            </a:fld>
            <a:endParaRPr lang="es-PY"/>
          </a:p>
        </p:txBody>
      </p:sp>
    </p:spTree>
    <p:extLst>
      <p:ext uri="{BB962C8B-B14F-4D97-AF65-F5344CB8AC3E}">
        <p14:creationId xmlns:p14="http://schemas.microsoft.com/office/powerpoint/2010/main" val="2372611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60 segundos. EXPOSITOR SUGERIDO: Leandro Ferreira.
GUION BREVE
Comparamos la proporción de fallecidos dentro de cada grupo. En hombres fue 19,81 % y en mujeres 10,82 %. Entre quienes tienen edad conocida, los porcentajes aumentan desde 11,44 % en el grupo de 0 a 13 años hasta 34,42 % en el de 60 o más. Son patrones descriptivos. Tener más víctimas registradas no es lo mismo que tener una mayor proporción de fallecidos.
APOYO PARA PREGUNTAS Y FUENTES
El porcentaje se calcula dentro de cada grupo. De los hombres registrados falleció 19,81 %, y de las mujeres 10,82 %. Estas diferencias no equivalen a probabilidades poblacionales de morir o accidentarse. En el gráfico de edades conocidas, la fracción fallecida aumenta desde 11,44 % en 0 a 13 años hasta 34,42 % en 60 o más. El grupo de 18 a 29 años reúne más víctimas en términos absolutos, 2.143, pero eso es una pregunta diferente de la proporción de fallecidos. Los 353 ignorados no se ubican en un orden etario y por eso quedan fuera del gráfico ordenado. Fase 2 evaluará la incertidumbre de estas asociaciones.
Fuente: INE 12.2.1, frecuencias nacionales. https://www.ine.gov.py/Publicaciones/Biblioteca/documento/240/Anuario%20Estadistico%202021.pdf
6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6</a:t>
            </a:fld>
            <a:endParaRPr lang="es-PY"/>
          </a:p>
        </p:txBody>
      </p:sp>
    </p:spTree>
    <p:extLst>
      <p:ext uri="{BB962C8B-B14F-4D97-AF65-F5344CB8AC3E}">
        <p14:creationId xmlns:p14="http://schemas.microsoft.com/office/powerpoint/2010/main" val="1526954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55 segundos. EXPOSITOR SUGERIDO: Leandro Ferreira.
GUION BREVE
El Interior registra 22,05 % de fallecidos, frente a 17,23 % en Central y 15,57 % en Asunción. Para H1 agrupamos Asunción y Central como Metropolitana, con 16,80 %. La diferencia frente al Interior es de 5,26 puntos porcentuales. Después evaluamos un modelo territorial con meses posteriores. Empeoró a su base en dos de tres cortes, así que la diferencia observada no garantizó una mejora predictiva.
APOYO PARA PREGUNTAS Y FUENTES
La cobertura territorial es de 1.491 víctimas, y no debe confundirse con las 5.493 de la fuente nacional. Interior registra 22,05 % de fallecidos, Central 17,23 % y Asunción 15,57 %. Para H1, Metropolitana agrupa Asunción y Central: 108 fallecidos de 643 víctimas, o 16,80 %. La diferencia Interior menos Metropolitana es de 5,26 puntos porcentuales. Una diferencia descriptiva no explica causas como velocidad o acceso a atención. La significación depende del contraste y del ajuste por comparaciones, que veremos en Fase 2.
Fuente: INE, cuadro 12.2.6, pp.307. https://www.ine.gov.py/Publicaciones/Biblioteca/documento/240/Anuario%20Estadistico%202021.pdf
7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7</a:t>
            </a:fld>
            <a:endParaRPr lang="es-PY"/>
          </a:p>
        </p:txBody>
      </p:sp>
    </p:spTree>
    <p:extLst>
      <p:ext uri="{BB962C8B-B14F-4D97-AF65-F5344CB8AC3E}">
        <p14:creationId xmlns:p14="http://schemas.microsoft.com/office/powerpoint/2010/main" val="3610860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65 segundos. EXPOSITOR SUGERIDO: Leandro Ferreira.
GUION BREVE
DINATRAN nos permitió precisar H3. Los 539 del grupo original incluyen 534 conductores o acompañantes de motocicleta y cinco pasajeros de motocarro. Comparamos solo motocicleta con los mismos 785 demás usuarios, excluyendo esos cinco. Falleció el 28,28 % frente al 14,52 %. El RR es aproximadamente 1,95, con intervalo entre 1,57 y 2,42. Esto fortalece la asociación original. El resto incluye peatones y ciclistas. No demuestra causalidad ni permite unir vehículo con sexo y edad del modelo nacional.
APOYO PARA PREGUNTAS Y FUENTES
Esta revisión precisa una comparación nacida en Fase 1 y contrastada en Fase 2. DINATRAN identifica 461 conductores y 73 acompañantes de motocicleta, que suman 534, más cinco pasajeros de motocarro. Los 539 del grupo original conservan RR 1,9802 y OR 2,3758 frente a 785 demás usuarios. Para hablar de motocicleta de forma más precisa excluimos los cinco de motocarro, sin transferirlos al resto: 151 de 534 fallecidos frente a 114 de 785. El RR es 1,9472, IC 1,5675 a 2,4188, y OR 2,3206. El resto incluye peatones y ciclistas. Las fuentes coinciden por mes y tienen el mismo registro de Caminera, no son dos muestras independientes. La región se apoya en el cuadro INE que identifica Central e Interior.
Fuentes: INE 12.2.5/12.2.10, pp.307/311: https://www.ine.gov.py/Publicaciones/Biblioteca/documento/240/Anuario%20Estadistico%202021.pdf
DINATRAN pp.130/132/133/135/136: https://www.dinatran.gov.py/docum/ANUARIO%202021.pdf
8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8</a:t>
            </a:fld>
            <a:endParaRPr lang="es-PY"/>
          </a:p>
        </p:txBody>
      </p:sp>
    </p:spTree>
    <p:extLst>
      <p:ext uri="{BB962C8B-B14F-4D97-AF65-F5344CB8AC3E}">
        <p14:creationId xmlns:p14="http://schemas.microsoft.com/office/powerpoint/2010/main" val="357325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65 segundos. EXPOSITOR SUGERIDO: Leandro Ferreira.
GUION BREVE
En Fase 2 elegimos pruebas según el tipo de datos y corregimos por seis comparaciones. H2, H3 y H4 mantienen evidencia estadística bajo sus supuestos. H1 tiene p ajustado de 0,0698 y no alcanza el umbral de 0,05. Eso no prueba que las zonas sean iguales. El cambio frente al ajuste anterior se explica porque ahora consideramos seis comparaciones. Además, no podemos verificar si varias víctimas pertenecen al mismo accidente.
APOYO PARA PREGUNTAS Y FUENTES
Las hipótesis surgen de los patrones de Fase 1. H1 y H2 comparan categorías mediante chi-cuadrado. H3 usa Fisher para comparar la proporción fatal de los grupos vehiculares documentados. H4 usa Mann–Whitney porque edad está ordenada en grupos y no es una variable continua en años. Corregimos por seis comparaciones para no interpretar cada p como si fuera el único análisis: las cuatro hipótesis, la comparación de 60 años y la sensibilidad H3 sin motocarro. H1 conserva su p histórico ajustado por cuatro de 0,046565, pero con seis queda en 0,069847, sin rechazo al 5 %. Esto no prueba igualdad entre zonas. H2, H3 y H4 mantienen evidencia bajo sus supuestos. Los efectos son asociaciones condicionadas al registro, sin causalidad. No podemos verificar independencia por accidente ni corregir conglomeración.
Resultados: multiplicidad_actual, antecedentes_historicos y h3_contrastes del notebook. notebooks/Fase3_Accidentes_AUDITADA.ipynb, ejecutado y revisado.
9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9</a:t>
            </a:fld>
            <a:endParaRPr lang="es-PY"/>
          </a:p>
        </p:txBody>
      </p:sp>
    </p:spTree>
    <p:extLst>
      <p:ext uri="{BB962C8B-B14F-4D97-AF65-F5344CB8AC3E}">
        <p14:creationId xmlns:p14="http://schemas.microsoft.com/office/powerpoint/2010/main" val="425957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55 segundos. EXPOSITOR SUGERIDO: Leandro Ferreira.
GUION BREVE
Corregimos la edad ignorada para que no quedara por debajo de la niñez. Con las edades conocidas, Mann–Whitney muestra que los fallecidos tienden a ubicarse en grupos mayores, con un efecto pequeño. En la comparación de 60 o más frente a menores de 60, falleció el 34,42 % frente al 16,83 %. El RR de 2,05 indica una proporción aproximadamente doble entre las víctimas registradas, sin demostrar que la edad cause el desenlace.
APOYO PARA PREGUNTAS Y FUENTES
Hay dos preguntas relacionadas. Mann–Whitney compara si los fallecidos tienden a estar en grupos etarios superiores a los heridos. Tras excluir 353 desconocidos solo de los contrastes, U es 2.299.236, p 1,6568 por diez elevado a menos veinte y r biserial 0,1854, un efecto pequeño. Su intervalo bootstrap de 2.000 réplicas es 0,1455 a 0,2266. La otra pregunta compara mayores de 60 frente a menores: 106 fallecidos de 308, frente a 813 de 4.832. El RR es 2,0455 con IC de Katz 1,7319 a 2,4158. Fisher mantiene evidencia después de Bonferroni por seis. Edad ignorada no es una edad menor que cero ni equivale a menor de 60. Estos resultados no explican mecanismos biológicos ni riesgo de accidentarse en la población.
Fuente: h4_ordinal y h4_mayores60 del notebook ejecutado. notebooks/Fase3_Accidentes_AUDITADA.ipynb, ejecutado y revisado.
10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10</a:t>
            </a:fld>
            <a:endParaRPr lang="es-PY"/>
          </a:p>
        </p:txBody>
      </p:sp>
    </p:spTree>
    <p:extLst>
      <p:ext uri="{BB962C8B-B14F-4D97-AF65-F5344CB8AC3E}">
        <p14:creationId xmlns:p14="http://schemas.microsoft.com/office/powerpoint/2010/main" val="1350463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55 segundos. EXPOSITOR SUGERIDO: Jorge Rios.
GUION BREVE
El Modelo A utiliza solo sexo y grupo de edad. Reservamos 80 % para entrenamiento y 20 % para prueba, con semilla 42. Comparamos cuatro algoritmos de tres familias y una referencia que siempre predice Herido. Los parámetros se eligieron con cinco pliegues dentro de entrenamiento y usando F1 macro. El conjunto de prueba ya había sido visto en versiones anteriores. Por eso, lo presentamos como evaluación histórica interna y no como validación externa.
APOYO PARA PREGUNTAS Y FUENTES
El Modelo A clasifica Herido o Fallecido usando solo sexo y grupo de edad. Dividimos en 4.394 filas de entrenamiento y 1.099 de prueba, estratificando por desenlace con semilla 42. Los codificadores se ajustan dentro de Pipeline usando entrenamiento. Probamos logística, árbol, bosque y Bayes: son tres familias porque árbol y bosque comparten familia. Las grillas y cinco pliegues usan solo entrenamiento y el criterio es F1 macro. Logística, árbol y bosque ponderan clases de forma balanceada; Bayes usa prior 0,5/0,5. El test ya se vio en versiones anteriores, por eso lo llamamos reserva histórica. No unimos vehículo ni zona al modelo nacional y no creamos un Modelo B.
Fuente: diseño, validacion y seleccion del notebook. notebooks/Fase3_Accidentes_AUDITADA.ipynb, ejecutado y revisado.
11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11</a:t>
            </a:fld>
            <a:endParaRPr lang="es-PY"/>
          </a:p>
        </p:txBody>
      </p:sp>
    </p:spTree>
    <p:extLst>
      <p:ext uri="{BB962C8B-B14F-4D97-AF65-F5344CB8AC3E}">
        <p14:creationId xmlns:p14="http://schemas.microsoft.com/office/powerpoint/2010/main" val="1151598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70 segundos. EXPOSITOR SUGERIDO: Jorge Rios.
GUION BREVE
Elegimos el árbol porque obtuvo el mayor F1 macro en validación cruzada, 0,5416. En prueba alcanzó 0,5299. F1 macro considera por igual a Herido y Fallecido. Su AUC fue 0,5809, lo que muestra poca capacidad para distinguir los desenlaces. No cambiamos el ganador por otra métrica del conjunto de prueba. Además, Dummy logra más exactitud al predecir siempre Herido, pero no detecta ningún fallecido. Por eso, una sola métrica puede dar una impresión equivocada.
APOYO PARA PREGUNTAS Y FUENTES
El árbol consigue el mayor F1 macro medio en CV: 0,5416. Le siguen Bayes 0,5347, logística 0,5278 y bosque 0,5234. No cambiamos de ganador porque Bayes tenga algo más de AUC en prueba: eso usaría prueba para seleccionar. En la reserva, el árbol alcanza F1 macro 0,5299 frente a 0,4510 de Dummy. Su AUC es 0,5809, por lo que discrimina poco. F1 combina precisión y recall; macro promedia el resultado de ambas clases con igual peso. AUC mide ordenamiento a distintos umbrales, no calibración. CV no es anidada, así que su puntuación seleccionada puede ser optimista. La exactitud de Dummy es 82,17 %, mayor que 63,51 % del árbol, pero Dummy no detecta fallecidos.
Fuente: tablas validacion y metricas_test, criterio fijado en seleccion. notebooks/Fase3_Accidentes_AUDITADA.ipynb, ejecutado y revisado.
12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12</a:t>
            </a:fld>
            <a:endParaRPr lang="es-PY"/>
          </a:p>
        </p:txBody>
      </p:sp>
    </p:spTree>
    <p:extLst>
      <p:ext uri="{BB962C8B-B14F-4D97-AF65-F5344CB8AC3E}">
        <p14:creationId xmlns:p14="http://schemas.microsoft.com/office/powerpoint/2010/main" val="3657824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65 segundos. EXPOSITOR SUGERIDO: Jorge Rios.
GUION BREVE
La matriz muestra los aciertos y errores del árbol. Detectó 89 de 196 fallecidos, es decir, 45,41 %, y omitió 107. También clasificó a 294 heridos como fallecidos. Solo 23,24 % de sus predicciones de Fallecido fueron correctas. Las omisiones afectan a todas las mujeres fallecidas y a todos los fallecidos menores de 30 de esta prueba. Quince casos pertenecen a ambos grupos, por lo que no se suman dos veces. Son limitaciones importantes para cualquier uso individual.
APOYO PARA PREGUNTAS Y FUENTES
La matriz cruza desenlace real, en las filas, con la predicción, en las columnas. Acierta 609 heridos y 89 fallecidos. Las falsas alarmas son 294 heridos clasificados como fallecidos. Omite 107 fallecidos al clasificarlos como heridos. El recall es 89 de 196, o 45,41 %. La precisión es 89 de 383 predicciones de Fallecido, o 23,24 %. La exactitud es 63,51 %. Los errores están distribuidos de forma desigual: omite a las 33 fallecidas mujeres y los 81 fallecidos de 0 a 29 años. Quince casos pertenecen a ambos grupos, así que la unión es 33 más 81 menos 15, igual a 99; los ocho restantes son hombres con edad ignorada. Un error global bajo en mujeres oculta que no se detectó a ninguna fallecida. Esto impide recomendar uso individual o clínico.
Fuente: matrices, errores_sexo, errores_edad y descomposicion_FN del notebook. notebooks/Fase3_Accidentes_AUDITADA.ipynb, ejecutado y revisado.
13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13</a:t>
            </a:fld>
            <a:endParaRPr lang="es-PY"/>
          </a:p>
        </p:txBody>
      </p:sp>
    </p:spTree>
    <p:extLst>
      <p:ext uri="{BB962C8B-B14F-4D97-AF65-F5344CB8AC3E}">
        <p14:creationId xmlns:p14="http://schemas.microsoft.com/office/powerpoint/2010/main" val="2952410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70 segundos. EXPOSITOR SUGERIDO: Jorge Rios.
GUION BREVE
Las diferencias entre entrenamiento, validación y prueba son pequeñas, pero los perfiles se repiten. Al separar perfiles completos, el F1 cae a 0,456. Esta es una sensibilidad dentro de entrenamiento, no una validación externa. Mezclar edad perjudica más que mezclar sexo, por lo que edad aporta algo más al modelo. Aun así, los puntajes no están calibrados: el promedio fue 0,4902 frente a una fracción real de 0,1783. El resultado necesita datos más completos y una evaluación independiente.
APOYO PARA PREGUNTAS Y FUENTES
La brecha entre entrenamiento y prueba es pequeña, 0,0191, pero los mismos perfiles de sexo y edad se repiten entre particiones. Al dejar perfiles completos fuera en GroupKFold de cuatro pliegues, el F1 medio cae a 0,4556 y la AUC a 0,5248. Esta es una sensibilidad dentro de entrenamiento, con hiperparámetros ya elegidos, no una validación externa o anidada. En permutación, mezclar edad reduce F1 unos 0,0361 y mezclar sexo unos 0,0142: edad aporta algo más, sin causalidad. Los resultados coinciden en dirección con H2 y H4, pero la importancia no resuelve los errores. La puntuación media 0,4902 supera mucho a la fracción fallecida 0,1783. Brier es 0,2457 para árbol y 0,1783 para Dummy. Los pesos balanceados y el bajo número de perfiles impiden tratar el puntaje como probabilidad individual confiable. El modelo territorial adicional empeora a su base en dos de tres cortes cronológicos, por lo que tampoco justifica uso predictivo.
Fuente: resultados de sensibilidad, permutación, calibración y territorio_validacion del notebook. notebooks/Fase3_Accidentes_AUDITADA.ipynb, ejecutado y revisado.
14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14</a:t>
            </a:fld>
            <a:endParaRPr lang="es-PY"/>
          </a:p>
        </p:txBody>
      </p:sp>
    </p:spTree>
    <p:extLst>
      <p:ext uri="{BB962C8B-B14F-4D97-AF65-F5344CB8AC3E}">
        <p14:creationId xmlns:p14="http://schemas.microsoft.com/office/powerpoint/2010/main" val="2419741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TIEMPO SUGERIDO: 40 segundos. EXPOSITOR SUGERIDO: Jorge Rios.
GUION BREVE
Respondemos parcialmente la pregunta original. Encontramos asociaciones de gravedad, pero no podemos analizar simultáneamente los cuatro factores. El Modelo A tiene capacidad limitada y no debe usarse para decisiones clínicas. Para avanzar necesitamos datos individuales vinculados de víctimas y siniestros, y validar con información de otro año.
APOYO PARA PREGUNTAS Y FUENTES
La respuesta es parcial: encontramos asociaciones de gravedad por sexo, edad y vehículo y diferencias territoriales pequeñas, con sus restricciones. La nueva revisión oficial fortalece H3 y distingue motocicleta de motocarro. La evidencia agregada no permite estimar efectos simultáneos de los cuatro factores. La predicción es limitada: los resultados del árbol no justifican decisiones clínicas. El paso siguiente es obtener datos individuales vinculados de víctima y siniestro, vehículo real y fechas, y validar en otro año y por grupos.
REFERENCIAS
1. INE, Anuario Estadístico 2021, cuadros 12.2.1 a 12.2.10 según cada diapositiva. https://www.ine.gov.py/Publicaciones/Biblioteca/documento/240/Anuario%20Estadistico%202021.pdf
2. DINATRAN, Anuario Estadístico de Transporte 2021, pp.130, 132, 133, 135 y 136. https://www.dinatran.gov.py/docum/ANUARIO%202021.pdf
3. Notebook ejecutado notebooks/Fase3_Accidentes_AUDITADA.ipynb, ejecutado y revisado.
4. Fase_3_Accidentes_Transito (1).docx, redacción revisada por el grupo y contrastada con las salidas actuales.
5. Consigna Proyecto_DataScience_Tres_Fases (1).pdf, secciones 8 y 9.4.
INTEGRIDAD: Se utilizó IA para auditoría, apoyo de código y explicaciones, redacción y elaboración de esta presentación. Los gráficos muestran conteos y resultados del proyecto, sin generar víctimas ni mejorar métricas. La revisión, comprensión y defensa corresponden a los integrantes. Esta presentación no acredita que esa revisión personal ya se haya completado.
Para preguntas: cualquiera de los integrantes puede ser consultado sobre las tres fases.
15
Lectura de la versión de exposición: los porcentajes fatales se calculan entre víctimas registradas. La asociación no demuestra causalidad. Se conserva el reparto de diapositivas 1–5, 6–10 y 11–15.</a:t>
            </a:r>
            <a:endParaRPr lang="es-PY"/>
          </a:p>
        </p:txBody>
      </p:sp>
      <p:sp>
        <p:nvSpPr>
          <p:cNvPr id="4" name="Marcador de número de diapositiva 3"/>
          <p:cNvSpPr>
            <a:spLocks noGrp="1"/>
          </p:cNvSpPr>
          <p:nvPr>
            <p:ph type="sldNum" sz="quarter" idx="5"/>
          </p:nvPr>
        </p:nvSpPr>
        <p:spPr/>
        <p:txBody>
          <a:bodyPr/>
          <a:lstStyle/>
          <a:p>
            <a:fld id="{7D17AD32-4EC5-4688-A3BD-F8461572E5F9}" type="slidenum">
              <a:rPr lang="es-PY" smtClean="0"/>
              <a:t>15</a:t>
            </a:fld>
            <a:endParaRPr lang="es-PY"/>
          </a:p>
        </p:txBody>
      </p:sp>
    </p:spTree>
    <p:extLst>
      <p:ext uri="{BB962C8B-B14F-4D97-AF65-F5344CB8AC3E}">
        <p14:creationId xmlns:p14="http://schemas.microsoft.com/office/powerpoint/2010/main" val="675291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E72E80-D133-4B2F-F95C-118D0192B0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Y"/>
          </a:p>
        </p:txBody>
      </p:sp>
      <p:sp>
        <p:nvSpPr>
          <p:cNvPr id="3" name="Subtítulo 2">
            <a:extLst>
              <a:ext uri="{FF2B5EF4-FFF2-40B4-BE49-F238E27FC236}">
                <a16:creationId xmlns:a16="http://schemas.microsoft.com/office/drawing/2014/main" id="{C04C7818-3E4D-5BF3-5901-E2E10B6070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Y"/>
          </a:p>
        </p:txBody>
      </p:sp>
      <p:sp>
        <p:nvSpPr>
          <p:cNvPr id="4" name="Marcador de fecha 3">
            <a:extLst>
              <a:ext uri="{FF2B5EF4-FFF2-40B4-BE49-F238E27FC236}">
                <a16:creationId xmlns:a16="http://schemas.microsoft.com/office/drawing/2014/main" id="{C64C168F-CB53-E61B-580A-B542AE7B82A4}"/>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C6E8C955-F124-BAE9-315F-64580E7E70A5}"/>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1B6FB829-A174-8D35-2F74-CB1598261460}"/>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699827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B1F2F-B6DA-A376-51B1-C7D10DACC429}"/>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7788356F-498D-B122-7FEF-1BD8D8D3921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AFF40EF6-25A0-5FB8-B184-16491ACAD598}"/>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083FE89B-DE8F-41E3-D2E2-469422E01ABD}"/>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9A0E7FD2-6E79-AEC9-B4AD-FCA858DC0CDC}"/>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2065264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2194D9-0F4A-D6BC-420D-03BA84365C2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49ABDC87-03BD-F993-3A4A-BDFD1F4A5F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E2B7AE0-3A22-5641-66B8-93E82AE8B562}"/>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93A05237-496E-7A41-EA1D-44B06D304AA4}"/>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4D52A6D6-34E8-C5DD-6564-A22B6CE9EEED}"/>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218578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1CF10C-D6AF-2A32-4B08-17983BEAC634}"/>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EAB9E2EC-EBAD-6B41-4739-6E7A5374D9E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contenido 3">
            <a:extLst>
              <a:ext uri="{FF2B5EF4-FFF2-40B4-BE49-F238E27FC236}">
                <a16:creationId xmlns:a16="http://schemas.microsoft.com/office/drawing/2014/main" id="{BE34E465-364D-6548-0C7B-D674C107978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5" name="Marcador de fecha 4">
            <a:extLst>
              <a:ext uri="{FF2B5EF4-FFF2-40B4-BE49-F238E27FC236}">
                <a16:creationId xmlns:a16="http://schemas.microsoft.com/office/drawing/2014/main" id="{564DE2EB-F241-15CC-492B-5599FB20A28D}"/>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6" name="Marcador de pie de página 5">
            <a:extLst>
              <a:ext uri="{FF2B5EF4-FFF2-40B4-BE49-F238E27FC236}">
                <a16:creationId xmlns:a16="http://schemas.microsoft.com/office/drawing/2014/main" id="{74775534-BFC6-F269-2815-246B57AA600F}"/>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3A1458A3-799D-335C-C354-8BB9110980D0}"/>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32652309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064A22-1352-83DF-ABDF-D2A36AEE925D}"/>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1762AB8E-BEAC-973C-D760-A247834BD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C25F03-411B-B092-58D9-6BD68FD1E5D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5" name="Marcador de texto 4">
            <a:extLst>
              <a:ext uri="{FF2B5EF4-FFF2-40B4-BE49-F238E27FC236}">
                <a16:creationId xmlns:a16="http://schemas.microsoft.com/office/drawing/2014/main" id="{5679F215-3498-122E-A17C-E13CE0465C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A52F6A1-F34B-984C-F972-6EADF85A6CD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7" name="Marcador de fecha 6">
            <a:extLst>
              <a:ext uri="{FF2B5EF4-FFF2-40B4-BE49-F238E27FC236}">
                <a16:creationId xmlns:a16="http://schemas.microsoft.com/office/drawing/2014/main" id="{4A149634-3462-004B-F1BD-FB985FAF470A}"/>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8" name="Marcador de pie de página 7">
            <a:extLst>
              <a:ext uri="{FF2B5EF4-FFF2-40B4-BE49-F238E27FC236}">
                <a16:creationId xmlns:a16="http://schemas.microsoft.com/office/drawing/2014/main" id="{937A1CE2-0D43-4F12-517D-ECAB68BAB267}"/>
              </a:ext>
            </a:extLst>
          </p:cNvPr>
          <p:cNvSpPr>
            <a:spLocks noGrp="1"/>
          </p:cNvSpPr>
          <p:nvPr>
            <p:ph type="ftr" sz="quarter" idx="11"/>
          </p:nvPr>
        </p:nvSpPr>
        <p:spPr/>
        <p:txBody>
          <a:bodyPr/>
          <a:lstStyle/>
          <a:p>
            <a:endParaRPr lang="es-PY"/>
          </a:p>
        </p:txBody>
      </p:sp>
      <p:sp>
        <p:nvSpPr>
          <p:cNvPr id="9" name="Marcador de número de diapositiva 8">
            <a:extLst>
              <a:ext uri="{FF2B5EF4-FFF2-40B4-BE49-F238E27FC236}">
                <a16:creationId xmlns:a16="http://schemas.microsoft.com/office/drawing/2014/main" id="{96BCBFDB-85E2-E234-516F-535B678585A0}"/>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47717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2F29F-5F9C-C031-8549-62F5A893E2FA}"/>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fecha 2">
            <a:extLst>
              <a:ext uri="{FF2B5EF4-FFF2-40B4-BE49-F238E27FC236}">
                <a16:creationId xmlns:a16="http://schemas.microsoft.com/office/drawing/2014/main" id="{EECF393C-425A-24C6-F27C-19A07EC1E464}"/>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4" name="Marcador de pie de página 3">
            <a:extLst>
              <a:ext uri="{FF2B5EF4-FFF2-40B4-BE49-F238E27FC236}">
                <a16:creationId xmlns:a16="http://schemas.microsoft.com/office/drawing/2014/main" id="{2B19688B-6345-D385-7153-C6E4EB3CF434}"/>
              </a:ext>
            </a:extLst>
          </p:cNvPr>
          <p:cNvSpPr>
            <a:spLocks noGrp="1"/>
          </p:cNvSpPr>
          <p:nvPr>
            <p:ph type="ftr" sz="quarter" idx="11"/>
          </p:nvPr>
        </p:nvSpPr>
        <p:spPr/>
        <p:txBody>
          <a:bodyPr/>
          <a:lstStyle/>
          <a:p>
            <a:endParaRPr lang="es-PY"/>
          </a:p>
        </p:txBody>
      </p:sp>
      <p:sp>
        <p:nvSpPr>
          <p:cNvPr id="5" name="Marcador de número de diapositiva 4">
            <a:extLst>
              <a:ext uri="{FF2B5EF4-FFF2-40B4-BE49-F238E27FC236}">
                <a16:creationId xmlns:a16="http://schemas.microsoft.com/office/drawing/2014/main" id="{C3E8AB7A-4B8A-90A2-4DBB-862B7F892EFD}"/>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842054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EAECDD3-2871-D264-8179-B17B2C14E8F3}"/>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3" name="Marcador de pie de página 2">
            <a:extLst>
              <a:ext uri="{FF2B5EF4-FFF2-40B4-BE49-F238E27FC236}">
                <a16:creationId xmlns:a16="http://schemas.microsoft.com/office/drawing/2014/main" id="{6647608B-0735-2FB9-9D1D-51607449A0F2}"/>
              </a:ext>
            </a:extLst>
          </p:cNvPr>
          <p:cNvSpPr>
            <a:spLocks noGrp="1"/>
          </p:cNvSpPr>
          <p:nvPr>
            <p:ph type="ftr" sz="quarter" idx="11"/>
          </p:nvPr>
        </p:nvSpPr>
        <p:spPr/>
        <p:txBody>
          <a:bodyPr/>
          <a:lstStyle/>
          <a:p>
            <a:endParaRPr lang="es-PY"/>
          </a:p>
        </p:txBody>
      </p:sp>
      <p:sp>
        <p:nvSpPr>
          <p:cNvPr id="4" name="Marcador de número de diapositiva 3">
            <a:extLst>
              <a:ext uri="{FF2B5EF4-FFF2-40B4-BE49-F238E27FC236}">
                <a16:creationId xmlns:a16="http://schemas.microsoft.com/office/drawing/2014/main" id="{7ACDCFB1-2CFE-50A2-5577-E4C601747D84}"/>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633493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5F779A-C7FA-5A64-11E0-6DC2F05C3A4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Y"/>
          </a:p>
        </p:txBody>
      </p:sp>
      <p:sp>
        <p:nvSpPr>
          <p:cNvPr id="3" name="Marcador de contenido 2">
            <a:extLst>
              <a:ext uri="{FF2B5EF4-FFF2-40B4-BE49-F238E27FC236}">
                <a16:creationId xmlns:a16="http://schemas.microsoft.com/office/drawing/2014/main" id="{269BBFFB-BE4A-1044-1D3F-F1AC2366CE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texto 3">
            <a:extLst>
              <a:ext uri="{FF2B5EF4-FFF2-40B4-BE49-F238E27FC236}">
                <a16:creationId xmlns:a16="http://schemas.microsoft.com/office/drawing/2014/main" id="{C8529C9B-17FD-641E-6AD7-B7DA384D78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A4A2B94-628D-07EF-1F92-0D9306CB835E}"/>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6" name="Marcador de pie de página 5">
            <a:extLst>
              <a:ext uri="{FF2B5EF4-FFF2-40B4-BE49-F238E27FC236}">
                <a16:creationId xmlns:a16="http://schemas.microsoft.com/office/drawing/2014/main" id="{2EE4B287-B65C-9281-8419-6749AD05713B}"/>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E7918A23-10A3-B35F-2338-7F7AEC473A66}"/>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961384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051676-D0B0-49C5-2073-FA2888BE9BA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Y"/>
          </a:p>
        </p:txBody>
      </p:sp>
      <p:sp>
        <p:nvSpPr>
          <p:cNvPr id="3" name="Marcador de posición de imagen 2">
            <a:extLst>
              <a:ext uri="{FF2B5EF4-FFF2-40B4-BE49-F238E27FC236}">
                <a16:creationId xmlns:a16="http://schemas.microsoft.com/office/drawing/2014/main" id="{FBB13AD5-DB12-8614-8587-F01BAA24CC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Y"/>
          </a:p>
        </p:txBody>
      </p:sp>
      <p:sp>
        <p:nvSpPr>
          <p:cNvPr id="4" name="Marcador de texto 3">
            <a:extLst>
              <a:ext uri="{FF2B5EF4-FFF2-40B4-BE49-F238E27FC236}">
                <a16:creationId xmlns:a16="http://schemas.microsoft.com/office/drawing/2014/main" id="{B323F339-26D5-8D7B-0E04-8F1ED534C9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8E089F0-3E6C-F95D-4F49-D51DFD02C5CD}"/>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6" name="Marcador de pie de página 5">
            <a:extLst>
              <a:ext uri="{FF2B5EF4-FFF2-40B4-BE49-F238E27FC236}">
                <a16:creationId xmlns:a16="http://schemas.microsoft.com/office/drawing/2014/main" id="{83D4BE48-9414-6CB3-F869-DB11604FFB3E}"/>
              </a:ext>
            </a:extLst>
          </p:cNvPr>
          <p:cNvSpPr>
            <a:spLocks noGrp="1"/>
          </p:cNvSpPr>
          <p:nvPr>
            <p:ph type="ftr" sz="quarter" idx="11"/>
          </p:nvPr>
        </p:nvSpPr>
        <p:spPr/>
        <p:txBody>
          <a:bodyPr/>
          <a:lstStyle/>
          <a:p>
            <a:endParaRPr lang="es-PY"/>
          </a:p>
        </p:txBody>
      </p:sp>
      <p:sp>
        <p:nvSpPr>
          <p:cNvPr id="7" name="Marcador de número de diapositiva 6">
            <a:extLst>
              <a:ext uri="{FF2B5EF4-FFF2-40B4-BE49-F238E27FC236}">
                <a16:creationId xmlns:a16="http://schemas.microsoft.com/office/drawing/2014/main" id="{BE7C9413-AC8F-CBE4-1232-D71C625B5B41}"/>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394669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A4861B-FEDF-887A-D648-EB468D41ADF3}"/>
              </a:ext>
            </a:extLst>
          </p:cNvPr>
          <p:cNvSpPr>
            <a:spLocks noGrp="1"/>
          </p:cNvSpPr>
          <p:nvPr>
            <p:ph type="title"/>
          </p:nvPr>
        </p:nvSpPr>
        <p:spPr/>
        <p:txBody>
          <a:bodyPr/>
          <a:lstStyle/>
          <a:p>
            <a:r>
              <a:rPr lang="es-ES"/>
              <a:t>Haga clic para modificar el estilo de título del patrón</a:t>
            </a:r>
            <a:endParaRPr lang="es-PY"/>
          </a:p>
        </p:txBody>
      </p:sp>
      <p:sp>
        <p:nvSpPr>
          <p:cNvPr id="3" name="Marcador de texto vertical 2">
            <a:extLst>
              <a:ext uri="{FF2B5EF4-FFF2-40B4-BE49-F238E27FC236}">
                <a16:creationId xmlns:a16="http://schemas.microsoft.com/office/drawing/2014/main" id="{49271B65-73AF-A637-D6B7-A69E94B7BA1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7B9F7913-3246-9CCC-75B7-233F5088461C}"/>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D7D521B7-3F07-BEC6-179E-ACB4064A4C3A}"/>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0D206566-ABAC-1DFE-CF9C-8DD16A90503F}"/>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3525633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FE6A44B-59DD-EF33-64A6-730226D1F2F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Y"/>
          </a:p>
        </p:txBody>
      </p:sp>
      <p:sp>
        <p:nvSpPr>
          <p:cNvPr id="3" name="Marcador de texto vertical 2">
            <a:extLst>
              <a:ext uri="{FF2B5EF4-FFF2-40B4-BE49-F238E27FC236}">
                <a16:creationId xmlns:a16="http://schemas.microsoft.com/office/drawing/2014/main" id="{7778A4A3-F050-1E12-064C-95A45F0DD3D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F82EDECA-47BE-C9FB-BD6F-EDBF100059B7}"/>
              </a:ext>
            </a:extLst>
          </p:cNvPr>
          <p:cNvSpPr>
            <a:spLocks noGrp="1"/>
          </p:cNvSpPr>
          <p:nvPr>
            <p:ph type="dt" sz="half" idx="10"/>
          </p:nvPr>
        </p:nvSpPr>
        <p:spPr/>
        <p:txBody>
          <a:body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C3074612-C906-D3C8-0EF8-838D4B7E14E5}"/>
              </a:ext>
            </a:extLst>
          </p:cNvPr>
          <p:cNvSpPr>
            <a:spLocks noGrp="1"/>
          </p:cNvSpPr>
          <p:nvPr>
            <p:ph type="ftr" sz="quarter" idx="11"/>
          </p:nvPr>
        </p:nvSpPr>
        <p:spPr/>
        <p:txBody>
          <a:bodyPr/>
          <a:lstStyle/>
          <a:p>
            <a:endParaRPr lang="es-PY"/>
          </a:p>
        </p:txBody>
      </p:sp>
      <p:sp>
        <p:nvSpPr>
          <p:cNvPr id="6" name="Marcador de número de diapositiva 5">
            <a:extLst>
              <a:ext uri="{FF2B5EF4-FFF2-40B4-BE49-F238E27FC236}">
                <a16:creationId xmlns:a16="http://schemas.microsoft.com/office/drawing/2014/main" id="{C141DA9B-0C0B-2E15-4094-938892973DF7}"/>
              </a:ext>
            </a:extLst>
          </p:cNvPr>
          <p:cNvSpPr>
            <a:spLocks noGrp="1"/>
          </p:cNvSpPr>
          <p:nvPr>
            <p:ph type="sldNum" sz="quarter" idx="12"/>
          </p:nvPr>
        </p:nvSpPr>
        <p:spPr/>
        <p:txBody>
          <a:bodyPr/>
          <a:lstStyle/>
          <a:p>
            <a:fld id="{36DD1DA9-8E5A-471F-9CDE-396018D7BAEA}" type="slidenum">
              <a:rPr lang="es-PY" smtClean="0"/>
              <a:t>‹Nº›</a:t>
            </a:fld>
            <a:endParaRPr lang="es-PY"/>
          </a:p>
        </p:txBody>
      </p:sp>
    </p:spTree>
    <p:extLst>
      <p:ext uri="{BB962C8B-B14F-4D97-AF65-F5344CB8AC3E}">
        <p14:creationId xmlns:p14="http://schemas.microsoft.com/office/powerpoint/2010/main" val="1821851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AD47362-E015-0891-BCBB-1A2D5704F7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Y"/>
          </a:p>
        </p:txBody>
      </p:sp>
      <p:sp>
        <p:nvSpPr>
          <p:cNvPr id="3" name="Marcador de texto 2">
            <a:extLst>
              <a:ext uri="{FF2B5EF4-FFF2-40B4-BE49-F238E27FC236}">
                <a16:creationId xmlns:a16="http://schemas.microsoft.com/office/drawing/2014/main" id="{3BD09ACC-7262-6054-2CB2-439E24A99E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Y"/>
          </a:p>
        </p:txBody>
      </p:sp>
      <p:sp>
        <p:nvSpPr>
          <p:cNvPr id="4" name="Marcador de fecha 3">
            <a:extLst>
              <a:ext uri="{FF2B5EF4-FFF2-40B4-BE49-F238E27FC236}">
                <a16:creationId xmlns:a16="http://schemas.microsoft.com/office/drawing/2014/main" id="{A3E07AF2-EF1C-9541-5722-7DB3A6B8CE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0C461-1282-437E-B0E6-4B7C853177AB}" type="datetimeFigureOut">
              <a:rPr lang="es-PY" smtClean="0"/>
              <a:t>28/10/2026</a:t>
            </a:fld>
            <a:endParaRPr lang="es-PY"/>
          </a:p>
        </p:txBody>
      </p:sp>
      <p:sp>
        <p:nvSpPr>
          <p:cNvPr id="5" name="Marcador de pie de página 4">
            <a:extLst>
              <a:ext uri="{FF2B5EF4-FFF2-40B4-BE49-F238E27FC236}">
                <a16:creationId xmlns:a16="http://schemas.microsoft.com/office/drawing/2014/main" id="{31EC7F33-A3B2-F66B-A80E-635DC59A27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Y"/>
          </a:p>
        </p:txBody>
      </p:sp>
      <p:sp>
        <p:nvSpPr>
          <p:cNvPr id="6" name="Marcador de número de diapositiva 5">
            <a:extLst>
              <a:ext uri="{FF2B5EF4-FFF2-40B4-BE49-F238E27FC236}">
                <a16:creationId xmlns:a16="http://schemas.microsoft.com/office/drawing/2014/main" id="{7AB1E63F-A8DC-CBA4-0315-FBFF60188F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DD1DA9-8E5A-471F-9CDE-396018D7BAEA}" type="slidenum">
              <a:rPr lang="es-PY" smtClean="0"/>
              <a:t>‹Nº›</a:t>
            </a:fld>
            <a:endParaRPr lang="es-PY"/>
          </a:p>
        </p:txBody>
      </p:sp>
    </p:spTree>
    <p:extLst>
      <p:ext uri="{BB962C8B-B14F-4D97-AF65-F5344CB8AC3E}">
        <p14:creationId xmlns:p14="http://schemas.microsoft.com/office/powerpoint/2010/main" val="3112546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 Id="rIdGraph1" Type="http://schemas.openxmlformats.org/officeDocument/2006/relationships/chart" Target="../charts/char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 Id="rIdGraph2"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 Id="rIdGraph3" Type="http://schemas.openxmlformats.org/officeDocument/2006/relationships/chart" Target="../charts/chart3.xml"/><Relationship Id="rIdGraph4" Type="http://schemas.openxmlformats.org/officeDocument/2006/relationships/chart" Target="../charts/char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 Id="rIdGraph5" Type="http://schemas.openxmlformats.org/officeDocument/2006/relationships/chart" Target="../charts/chart5.xml"/><Relationship Id="rIdGraph6" Type="http://schemas.openxmlformats.org/officeDocument/2006/relationships/chart" Target="../charts/char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 Id="rIdGraph7" Type="http://schemas.openxmlformats.org/officeDocument/2006/relationships/chart" Target="../charts/char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 Id="rIdGraph8" Type="http://schemas.openxmlformats.org/officeDocument/2006/relationships/chart" Target="../charts/char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 Id="rIdGraph9" Type="http://schemas.openxmlformats.org/officeDocument/2006/relationships/chart" Target="../charts/char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 Id="rIdGraph10" Type="http://schemas.openxmlformats.org/officeDocument/2006/relationships/chart" Target="../charts/char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 Id="rIdGraph11" Type="http://schemas.openxmlformats.org/officeDocument/2006/relationships/chart" Target="../charts/char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 Id="rIdGraph12" Type="http://schemas.openxmlformats.org/officeDocument/2006/relationships/chart" Target="../charts/chart12.xml"/><Relationship Id="rIdGraph13" Type="http://schemas.openxmlformats.org/officeDocument/2006/relationships/chart" Target="../charts/char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5EC478C-F10F-6B17-6182-097BC5CB96D3}"/>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FFD2AF"/>
                </a:solidFill>
                <a:latin typeface="Arial" panose="020B0604020202020204" pitchFamily="34" charset="0"/>
              </a:rPr>
              <a:t>CIENCIA DE DATOS</a:t>
            </a:r>
          </a:p>
        </p:txBody>
      </p:sp>
      <p:sp>
        <p:nvSpPr>
          <p:cNvPr id="3" name="CuadroTexto 2">
            <a:extLst>
              <a:ext uri="{FF2B5EF4-FFF2-40B4-BE49-F238E27FC236}">
                <a16:creationId xmlns:a16="http://schemas.microsoft.com/office/drawing/2014/main" id="{8010DB37-B432-A7B0-8DBA-EF0EEFDB9943}"/>
              </a:ext>
            </a:extLst>
          </p:cNvPr>
          <p:cNvSpPr txBox="1"/>
          <p:nvPr/>
        </p:nvSpPr>
        <p:spPr>
          <a:xfrm>
            <a:off x="711200" y="990600"/>
            <a:ext cx="10795000" cy="444500"/>
          </a:xfrm>
          <a:prstGeom prst="rect">
            <a:avLst/>
          </a:prstGeom>
          <a:noFill/>
        </p:spPr>
        <p:txBody>
          <a:bodyPr vert="horz" wrap="square" lIns="0" tIns="0" rIns="0" bIns="0" rtlCol="0">
            <a:noAutofit/>
          </a:bodyPr>
          <a:lstStyle/>
          <a:p>
            <a:pPr>
              <a:spcAft>
                <a:spcPts val="300"/>
              </a:spcAft>
            </a:pPr>
            <a:r>
              <a:rPr lang="es-PY" sz="2100">
                <a:solidFill>
                  <a:srgbClr val="FFFFFF"/>
                </a:solidFill>
                <a:latin typeface="Arial" panose="020B0604020202020204" pitchFamily="34" charset="0"/>
              </a:rPr>
              <a:t>Proyecto integrador</a:t>
            </a:r>
          </a:p>
        </p:txBody>
      </p:sp>
      <p:sp>
        <p:nvSpPr>
          <p:cNvPr id="4" name="CuadroTexto 3">
            <a:extLst>
              <a:ext uri="{FF2B5EF4-FFF2-40B4-BE49-F238E27FC236}">
                <a16:creationId xmlns:a16="http://schemas.microsoft.com/office/drawing/2014/main" id="{21302072-CD68-9BBD-58D9-D57AD88F5575}"/>
              </a:ext>
            </a:extLst>
          </p:cNvPr>
          <p:cNvSpPr txBox="1"/>
          <p:nvPr/>
        </p:nvSpPr>
        <p:spPr>
          <a:xfrm>
            <a:off x="711200" y="1993900"/>
            <a:ext cx="10795000" cy="1473200"/>
          </a:xfrm>
          <a:prstGeom prst="rect">
            <a:avLst/>
          </a:prstGeom>
          <a:noFill/>
        </p:spPr>
        <p:txBody>
          <a:bodyPr vert="horz" wrap="square" lIns="0" tIns="0" rIns="0" bIns="0" rtlCol="0">
            <a:noAutofit/>
          </a:bodyPr>
          <a:lstStyle/>
          <a:p>
            <a:pPr>
              <a:spcAft>
                <a:spcPts val="300"/>
              </a:spcAft>
            </a:pPr>
            <a:r>
              <a:rPr lang="es-ES" sz="4300" b="1">
                <a:solidFill>
                  <a:srgbClr val="FFFFFF"/>
                </a:solidFill>
                <a:latin typeface="Arial" panose="020B0604020202020204" pitchFamily="34" charset="0"/>
              </a:rPr>
              <a:t>Gravedad de las víctimas
de tránsito en Paraguay</a:t>
            </a:r>
            <a:endParaRPr lang="es-PY" sz="4300" b="1">
              <a:solidFill>
                <a:srgbClr val="FFFFFF"/>
              </a:solidFill>
              <a:latin typeface="Arial" panose="020B0604020202020204" pitchFamily="34" charset="0"/>
            </a:endParaRPr>
          </a:p>
        </p:txBody>
      </p:sp>
      <p:sp>
        <p:nvSpPr>
          <p:cNvPr id="5" name="CuadroTexto 4">
            <a:extLst>
              <a:ext uri="{FF2B5EF4-FFF2-40B4-BE49-F238E27FC236}">
                <a16:creationId xmlns:a16="http://schemas.microsoft.com/office/drawing/2014/main" id="{3139125C-8162-6C6F-ABAD-E2107812A185}"/>
              </a:ext>
            </a:extLst>
          </p:cNvPr>
          <p:cNvSpPr txBox="1"/>
          <p:nvPr/>
        </p:nvSpPr>
        <p:spPr>
          <a:xfrm>
            <a:off x="711200" y="3937000"/>
            <a:ext cx="10795000" cy="457200"/>
          </a:xfrm>
          <a:prstGeom prst="rect">
            <a:avLst/>
          </a:prstGeom>
          <a:noFill/>
        </p:spPr>
        <p:txBody>
          <a:bodyPr vert="horz" wrap="square" lIns="0" tIns="0" rIns="0" bIns="0" rtlCol="0">
            <a:noAutofit/>
          </a:bodyPr>
          <a:lstStyle/>
          <a:p>
            <a:pPr>
              <a:spcAft>
                <a:spcPts val="300"/>
              </a:spcAft>
            </a:pPr>
            <a:r>
              <a:rPr lang="es-ES" sz="2500">
                <a:solidFill>
                  <a:srgbClr val="FFD2AF"/>
                </a:solidFill>
                <a:latin typeface="Arial" panose="020B0604020202020204" pitchFamily="34" charset="0"/>
              </a:rPr>
              <a:t>Resultados de las Fases 1, 2 y 3</a:t>
            </a:r>
            <a:endParaRPr lang="es-PY" sz="2500">
              <a:solidFill>
                <a:srgbClr val="FFD2AF"/>
              </a:solidFill>
              <a:latin typeface="Arial" panose="020B0604020202020204" pitchFamily="34" charset="0"/>
            </a:endParaRPr>
          </a:p>
        </p:txBody>
      </p:sp>
      <p:sp>
        <p:nvSpPr>
          <p:cNvPr id="6" name="CuadroTexto 5">
            <a:extLst>
              <a:ext uri="{FF2B5EF4-FFF2-40B4-BE49-F238E27FC236}">
                <a16:creationId xmlns:a16="http://schemas.microsoft.com/office/drawing/2014/main" id="{ACDF857F-028C-765F-3010-003BA6978A9E}"/>
              </a:ext>
            </a:extLst>
          </p:cNvPr>
          <p:cNvSpPr txBox="1"/>
          <p:nvPr/>
        </p:nvSpPr>
        <p:spPr>
          <a:xfrm>
            <a:off x="711200" y="4521200"/>
            <a:ext cx="10795000" cy="406400"/>
          </a:xfrm>
          <a:prstGeom prst="rect">
            <a:avLst/>
          </a:prstGeom>
          <a:noFill/>
        </p:spPr>
        <p:txBody>
          <a:bodyPr vert="horz" wrap="square" lIns="0" tIns="0" rIns="0" bIns="0" rtlCol="0">
            <a:noAutofit/>
          </a:bodyPr>
          <a:lstStyle/>
          <a:p>
            <a:pPr>
              <a:spcAft>
                <a:spcPts val="300"/>
              </a:spcAft>
            </a:pPr>
            <a:r>
              <a:rPr lang="es-PY" sz="2100">
                <a:solidFill>
                  <a:srgbClr val="FFFFFF"/>
                </a:solidFill>
                <a:latin typeface="Arial" panose="020B0604020202020204" pitchFamily="34" charset="0"/>
              </a:rPr>
              <a:t>Datos oficiales de 2021</a:t>
            </a:r>
          </a:p>
        </p:txBody>
      </p:sp>
      <p:sp>
        <p:nvSpPr>
          <p:cNvPr id="7" name="CuadroTexto 6">
            <a:extLst>
              <a:ext uri="{FF2B5EF4-FFF2-40B4-BE49-F238E27FC236}">
                <a16:creationId xmlns:a16="http://schemas.microsoft.com/office/drawing/2014/main" id="{88A31B99-16C2-C92E-731A-623C11A85906}"/>
              </a:ext>
            </a:extLst>
          </p:cNvPr>
          <p:cNvSpPr txBox="1"/>
          <p:nvPr/>
        </p:nvSpPr>
        <p:spPr>
          <a:xfrm>
            <a:off x="711200" y="5689600"/>
            <a:ext cx="10795000" cy="406400"/>
          </a:xfrm>
          <a:prstGeom prst="rect">
            <a:avLst/>
          </a:prstGeom>
          <a:noFill/>
        </p:spPr>
        <p:txBody>
          <a:bodyPr vert="horz" wrap="square" lIns="0" tIns="0" rIns="0" bIns="0" rtlCol="0">
            <a:noAutofit/>
          </a:bodyPr>
          <a:lstStyle/>
          <a:p>
            <a:pPr>
              <a:spcAft>
                <a:spcPts val="300"/>
              </a:spcAft>
            </a:pPr>
            <a:r>
              <a:rPr lang="pt-BR" sz="1900">
                <a:solidFill>
                  <a:srgbClr val="FFFFFF"/>
                </a:solidFill>
                <a:latin typeface="Arial" panose="020B0604020202020204" pitchFamily="34" charset="0"/>
              </a:rPr>
              <a:t>Alan Alcaraz   ·   Leandro Ferreira   ·   Jorge Rios</a:t>
            </a:r>
            <a:endParaRPr lang="es-PY" sz="1900">
              <a:solidFill>
                <a:srgbClr val="FFFFFF"/>
              </a:solidFill>
              <a:latin typeface="Arial" panose="020B0604020202020204" pitchFamily="34" charset="0"/>
            </a:endParaRPr>
          </a:p>
        </p:txBody>
      </p:sp>
      <p:sp>
        <p:nvSpPr>
          <p:cNvPr id="8" name="CuadroTexto 7">
            <a:extLst>
              <a:ext uri="{FF2B5EF4-FFF2-40B4-BE49-F238E27FC236}">
                <a16:creationId xmlns:a16="http://schemas.microsoft.com/office/drawing/2014/main" id="{F4C6889E-FA52-67C4-0540-D8A01B9DABF9}"/>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FFFFFF"/>
                </a:solidFill>
                <a:latin typeface="Arial" panose="020B0604020202020204" pitchFamily="34" charset="0"/>
              </a:rPr>
              <a:t>1</a:t>
            </a:r>
          </a:p>
        </p:txBody>
      </p:sp>
    </p:spTree>
    <p:extLst>
      <p:ext uri="{BB962C8B-B14F-4D97-AF65-F5344CB8AC3E}">
        <p14:creationId xmlns:p14="http://schemas.microsoft.com/office/powerpoint/2010/main" val="29340709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68C2DC4-6760-1885-BE87-DAC28BFB42D0}"/>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CONTEXTO</a:t>
            </a:r>
          </a:p>
        </p:txBody>
      </p:sp>
      <p:sp>
        <p:nvSpPr>
          <p:cNvPr id="3" name="CuadroTexto 2">
            <a:extLst>
              <a:ext uri="{FF2B5EF4-FFF2-40B4-BE49-F238E27FC236}">
                <a16:creationId xmlns:a16="http://schemas.microsoft.com/office/drawing/2014/main" id="{C86ADEAC-B06B-C79B-8414-B80BFDADC1E2}"/>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102A43"/>
                </a:solidFill>
                <a:latin typeface="Arial" panose="020B0604020202020204" pitchFamily="34" charset="0"/>
              </a:rPr>
              <a:t>Problema y pregunta de investigación</a:t>
            </a:r>
            <a:endParaRPr lang="es-PY" sz="3200">
              <a:solidFill>
                <a:srgbClr val="102A43"/>
              </a:solidFill>
              <a:latin typeface="Arial" panose="020B0604020202020204" pitchFamily="34" charset="0"/>
            </a:endParaRPr>
          </a:p>
        </p:txBody>
      </p:sp>
      <p:sp>
        <p:nvSpPr>
          <p:cNvPr id="4" name="CuadroTexto 3">
            <a:extLst>
              <a:ext uri="{FF2B5EF4-FFF2-40B4-BE49-F238E27FC236}">
                <a16:creationId xmlns:a16="http://schemas.microsoft.com/office/drawing/2014/main" id="{A9F37B22-6EC2-C133-0CFB-B211B2C818A2}"/>
              </a:ext>
            </a:extLst>
          </p:cNvPr>
          <p:cNvSpPr txBox="1"/>
          <p:nvPr/>
        </p:nvSpPr>
        <p:spPr>
          <a:xfrm>
            <a:off x="609600" y="1676400"/>
            <a:ext cx="5994400" cy="1460500"/>
          </a:xfrm>
          <a:prstGeom prst="rect">
            <a:avLst/>
          </a:prstGeom>
          <a:noFill/>
        </p:spPr>
        <p:txBody>
          <a:bodyPr vert="horz" wrap="square" lIns="0" tIns="0" rIns="0" bIns="0" rtlCol="0">
            <a:noAutofit/>
          </a:bodyPr>
          <a:lstStyle/>
          <a:p>
            <a:pPr>
              <a:spcAft>
                <a:spcPts val="300"/>
              </a:spcAft>
            </a:pPr>
            <a:r>
              <a:rPr lang="es-ES" sz="2500" b="1">
                <a:solidFill>
                  <a:srgbClr val="102A43"/>
                </a:solidFill>
                <a:latin typeface="Arial" panose="020B0604020202020204" pitchFamily="34" charset="0"/>
              </a:rPr>
              <a:t>¿Cómo se relacionan sexo, edad,
territorio y uso de motocicleta
con la gravedad registrada?</a:t>
            </a:r>
            <a:endParaRPr lang="es-PY" sz="2500" b="1">
              <a:solidFill>
                <a:srgbClr val="102A43"/>
              </a:solidFill>
              <a:latin typeface="Arial" panose="020B0604020202020204" pitchFamily="34" charset="0"/>
            </a:endParaRPr>
          </a:p>
        </p:txBody>
      </p:sp>
      <p:sp>
        <p:nvSpPr>
          <p:cNvPr id="5" name="CuadroTexto 4">
            <a:extLst>
              <a:ext uri="{FF2B5EF4-FFF2-40B4-BE49-F238E27FC236}">
                <a16:creationId xmlns:a16="http://schemas.microsoft.com/office/drawing/2014/main" id="{1A248984-0854-DB29-6ECE-E0EECC251A4B}"/>
              </a:ext>
            </a:extLst>
          </p:cNvPr>
          <p:cNvSpPr txBox="1"/>
          <p:nvPr/>
        </p:nvSpPr>
        <p:spPr>
          <a:xfrm>
            <a:off x="609600" y="3479800"/>
            <a:ext cx="5715000" cy="812800"/>
          </a:xfrm>
          <a:prstGeom prst="rect">
            <a:avLst/>
          </a:prstGeom>
          <a:noFill/>
        </p:spPr>
        <p:txBody>
          <a:bodyPr vert="horz" wrap="square" lIns="0" tIns="0" rIns="0" bIns="0" rtlCol="0">
            <a:noAutofit/>
          </a:bodyPr>
          <a:lstStyle/>
          <a:p>
            <a:pPr>
              <a:spcAft>
                <a:spcPts val="300"/>
              </a:spcAft>
            </a:pPr>
            <a:r>
              <a:rPr lang="es-PY" sz="4600" b="1">
                <a:solidFill>
                  <a:srgbClr val="AC3F14"/>
                </a:solidFill>
                <a:latin typeface="Arial" panose="020B0604020202020204" pitchFamily="34" charset="0"/>
              </a:rPr>
              <a:t>17,84 %</a:t>
            </a:r>
          </a:p>
        </p:txBody>
      </p:sp>
      <p:sp>
        <p:nvSpPr>
          <p:cNvPr id="6" name="CuadroTexto 5">
            <a:extLst>
              <a:ext uri="{FF2B5EF4-FFF2-40B4-BE49-F238E27FC236}">
                <a16:creationId xmlns:a16="http://schemas.microsoft.com/office/drawing/2014/main" id="{EBC814B7-444B-AE8B-4D34-8C001BCC17AE}"/>
              </a:ext>
            </a:extLst>
          </p:cNvPr>
          <p:cNvSpPr txBox="1"/>
          <p:nvPr/>
        </p:nvSpPr>
        <p:spPr>
          <a:xfrm>
            <a:off x="609600" y="4356100"/>
            <a:ext cx="5969000" cy="723900"/>
          </a:xfrm>
          <a:prstGeom prst="rect">
            <a:avLst/>
          </a:prstGeom>
          <a:noFill/>
        </p:spPr>
        <p:txBody>
          <a:bodyPr vert="horz" wrap="square" lIns="0" tIns="0" rIns="0" bIns="0" rtlCol="0">
            <a:noAutofit/>
          </a:bodyPr>
          <a:lstStyle/>
          <a:p>
            <a:pPr>
              <a:spcAft>
                <a:spcPts val="300"/>
              </a:spcAft>
            </a:pPr>
            <a:r>
              <a:rPr lang="es-ES" sz="2000">
                <a:solidFill>
                  <a:srgbClr val="102A43"/>
                </a:solidFill>
                <a:latin typeface="Arial" panose="020B0604020202020204" pitchFamily="34" charset="0"/>
              </a:rPr>
              <a:t>980 fallecidos entre 5.493 víctimas
de la fuente nacional</a:t>
            </a:r>
            <a:endParaRPr lang="es-PY" sz="2000">
              <a:solidFill>
                <a:srgbClr val="102A43"/>
              </a:solidFill>
              <a:latin typeface="Arial" panose="020B0604020202020204" pitchFamily="34" charset="0"/>
            </a:endParaRPr>
          </a:p>
        </p:txBody>
      </p:sp>
      <p:sp>
        <p:nvSpPr>
          <p:cNvPr id="7" name="CuadroTexto 6">
            <a:extLst>
              <a:ext uri="{FF2B5EF4-FFF2-40B4-BE49-F238E27FC236}">
                <a16:creationId xmlns:a16="http://schemas.microsoft.com/office/drawing/2014/main" id="{1C0DE7A6-5152-2672-EBFB-FC20BD162E6B}"/>
              </a:ext>
            </a:extLst>
          </p:cNvPr>
          <p:cNvSpPr txBox="1"/>
          <p:nvPr/>
        </p:nvSpPr>
        <p:spPr>
          <a:xfrm>
            <a:off x="609600" y="5448300"/>
            <a:ext cx="3352800" cy="342900"/>
          </a:xfrm>
          <a:prstGeom prst="rect">
            <a:avLst/>
          </a:prstGeom>
          <a:noFill/>
        </p:spPr>
        <p:txBody>
          <a:bodyPr vert="horz" wrap="square" lIns="0" tIns="0" rIns="0" bIns="0" rtlCol="0">
            <a:noAutofit/>
          </a:bodyPr>
          <a:lstStyle/>
          <a:p>
            <a:pPr>
              <a:spcAft>
                <a:spcPts val="300"/>
              </a:spcAft>
            </a:pPr>
            <a:r>
              <a:rPr lang="es-PY" sz="1900" b="1">
                <a:solidFill>
                  <a:srgbClr val="155D99"/>
                </a:solidFill>
                <a:latin typeface="Arial" panose="020B0604020202020204" pitchFamily="34" charset="0"/>
              </a:rPr>
              <a:t>Fase 1</a:t>
            </a:r>
          </a:p>
        </p:txBody>
      </p:sp>
      <p:sp>
        <p:nvSpPr>
          <p:cNvPr id="8" name="CuadroTexto 7">
            <a:extLst>
              <a:ext uri="{FF2B5EF4-FFF2-40B4-BE49-F238E27FC236}">
                <a16:creationId xmlns:a16="http://schemas.microsoft.com/office/drawing/2014/main" id="{B1C6D3B6-817F-4B24-5099-AC42A3C609B8}"/>
              </a:ext>
            </a:extLst>
          </p:cNvPr>
          <p:cNvSpPr txBox="1"/>
          <p:nvPr/>
        </p:nvSpPr>
        <p:spPr>
          <a:xfrm>
            <a:off x="609600" y="5867400"/>
            <a:ext cx="3352800" cy="342900"/>
          </a:xfrm>
          <a:prstGeom prst="rect">
            <a:avLst/>
          </a:prstGeom>
          <a:noFill/>
        </p:spPr>
        <p:txBody>
          <a:bodyPr vert="horz" wrap="square" lIns="0" tIns="0" rIns="0" bIns="0" rtlCol="0">
            <a:noAutofit/>
          </a:bodyPr>
          <a:lstStyle/>
          <a:p>
            <a:pPr>
              <a:spcAft>
                <a:spcPts val="300"/>
              </a:spcAft>
            </a:pPr>
            <a:r>
              <a:rPr lang="es-PY">
                <a:solidFill>
                  <a:srgbClr val="102A43"/>
                </a:solidFill>
                <a:latin typeface="Arial" panose="020B0604020202020204" pitchFamily="34" charset="0"/>
              </a:rPr>
              <a:t>Describir los patrones</a:t>
            </a:r>
          </a:p>
        </p:txBody>
      </p:sp>
      <p:sp>
        <p:nvSpPr>
          <p:cNvPr id="9" name="CuadroTexto 8">
            <a:extLst>
              <a:ext uri="{FF2B5EF4-FFF2-40B4-BE49-F238E27FC236}">
                <a16:creationId xmlns:a16="http://schemas.microsoft.com/office/drawing/2014/main" id="{82D415AD-B77E-11A6-5471-D74175308595}"/>
              </a:ext>
            </a:extLst>
          </p:cNvPr>
          <p:cNvSpPr txBox="1"/>
          <p:nvPr/>
        </p:nvSpPr>
        <p:spPr>
          <a:xfrm>
            <a:off x="4419600" y="5448300"/>
            <a:ext cx="3352800" cy="342900"/>
          </a:xfrm>
          <a:prstGeom prst="rect">
            <a:avLst/>
          </a:prstGeom>
          <a:noFill/>
        </p:spPr>
        <p:txBody>
          <a:bodyPr vert="horz" wrap="square" lIns="0" tIns="0" rIns="0" bIns="0" rtlCol="0">
            <a:noAutofit/>
          </a:bodyPr>
          <a:lstStyle/>
          <a:p>
            <a:pPr>
              <a:spcAft>
                <a:spcPts val="300"/>
              </a:spcAft>
            </a:pPr>
            <a:r>
              <a:rPr lang="es-PY" sz="1900" b="1">
                <a:solidFill>
                  <a:srgbClr val="155D99"/>
                </a:solidFill>
                <a:latin typeface="Arial" panose="020B0604020202020204" pitchFamily="34" charset="0"/>
              </a:rPr>
              <a:t>Fase 2</a:t>
            </a:r>
          </a:p>
        </p:txBody>
      </p:sp>
      <p:sp>
        <p:nvSpPr>
          <p:cNvPr id="10" name="CuadroTexto 9">
            <a:extLst>
              <a:ext uri="{FF2B5EF4-FFF2-40B4-BE49-F238E27FC236}">
                <a16:creationId xmlns:a16="http://schemas.microsoft.com/office/drawing/2014/main" id="{6E12694B-19B6-3404-832F-3A419092B4DB}"/>
              </a:ext>
            </a:extLst>
          </p:cNvPr>
          <p:cNvSpPr txBox="1"/>
          <p:nvPr/>
        </p:nvSpPr>
        <p:spPr>
          <a:xfrm>
            <a:off x="4419600" y="5867400"/>
            <a:ext cx="3352800" cy="342900"/>
          </a:xfrm>
          <a:prstGeom prst="rect">
            <a:avLst/>
          </a:prstGeom>
          <a:noFill/>
        </p:spPr>
        <p:txBody>
          <a:bodyPr vert="horz" wrap="square" lIns="0" tIns="0" rIns="0" bIns="0" rtlCol="0">
            <a:noAutofit/>
          </a:bodyPr>
          <a:lstStyle/>
          <a:p>
            <a:pPr>
              <a:spcAft>
                <a:spcPts val="300"/>
              </a:spcAft>
            </a:pPr>
            <a:r>
              <a:rPr lang="es-PY">
                <a:solidFill>
                  <a:srgbClr val="102A43"/>
                </a:solidFill>
                <a:latin typeface="Arial" panose="020B0604020202020204" pitchFamily="34" charset="0"/>
              </a:rPr>
              <a:t>Contrastar asociaciones</a:t>
            </a:r>
          </a:p>
        </p:txBody>
      </p:sp>
      <p:sp>
        <p:nvSpPr>
          <p:cNvPr id="11" name="CuadroTexto 10">
            <a:extLst>
              <a:ext uri="{FF2B5EF4-FFF2-40B4-BE49-F238E27FC236}">
                <a16:creationId xmlns:a16="http://schemas.microsoft.com/office/drawing/2014/main" id="{8F93B388-F110-6654-2BC6-AF3DD997A5B7}"/>
              </a:ext>
            </a:extLst>
          </p:cNvPr>
          <p:cNvSpPr txBox="1"/>
          <p:nvPr/>
        </p:nvSpPr>
        <p:spPr>
          <a:xfrm>
            <a:off x="8229600" y="5448300"/>
            <a:ext cx="3352800" cy="342900"/>
          </a:xfrm>
          <a:prstGeom prst="rect">
            <a:avLst/>
          </a:prstGeom>
          <a:noFill/>
        </p:spPr>
        <p:txBody>
          <a:bodyPr vert="horz" wrap="square" lIns="0" tIns="0" rIns="0" bIns="0" rtlCol="0">
            <a:noAutofit/>
          </a:bodyPr>
          <a:lstStyle/>
          <a:p>
            <a:pPr>
              <a:spcAft>
                <a:spcPts val="300"/>
              </a:spcAft>
            </a:pPr>
            <a:r>
              <a:rPr lang="es-PY" sz="1900" b="1">
                <a:solidFill>
                  <a:srgbClr val="155D99"/>
                </a:solidFill>
                <a:latin typeface="Arial" panose="020B0604020202020204" pitchFamily="34" charset="0"/>
              </a:rPr>
              <a:t>Fase 3</a:t>
            </a:r>
          </a:p>
        </p:txBody>
      </p:sp>
      <p:sp>
        <p:nvSpPr>
          <p:cNvPr id="12" name="CuadroTexto 11">
            <a:extLst>
              <a:ext uri="{FF2B5EF4-FFF2-40B4-BE49-F238E27FC236}">
                <a16:creationId xmlns:a16="http://schemas.microsoft.com/office/drawing/2014/main" id="{E3BB9B76-54F6-6EDC-8BBD-8D8112515B0C}"/>
              </a:ext>
            </a:extLst>
          </p:cNvPr>
          <p:cNvSpPr txBox="1"/>
          <p:nvPr/>
        </p:nvSpPr>
        <p:spPr>
          <a:xfrm>
            <a:off x="8229600" y="5867400"/>
            <a:ext cx="3352800" cy="342900"/>
          </a:xfrm>
          <a:prstGeom prst="rect">
            <a:avLst/>
          </a:prstGeom>
          <a:noFill/>
        </p:spPr>
        <p:txBody>
          <a:bodyPr vert="horz" wrap="square" lIns="0" tIns="0" rIns="0" bIns="0" rtlCol="0">
            <a:noAutofit/>
          </a:bodyPr>
          <a:lstStyle/>
          <a:p>
            <a:pPr>
              <a:spcAft>
                <a:spcPts val="300"/>
              </a:spcAft>
            </a:pPr>
            <a:r>
              <a:rPr lang="es-PY">
                <a:solidFill>
                  <a:srgbClr val="102A43"/>
                </a:solidFill>
                <a:latin typeface="Arial" panose="020B0604020202020204" pitchFamily="34" charset="0"/>
              </a:rPr>
              <a:t>Comparar modelos</a:t>
            </a:r>
          </a:p>
        </p:txBody>
      </p:sp>
      <p:graphicFrame>
        <p:nvGraphicFramePr>
          <p:cNvPr id="13" name="CHART_1"/>
          <p:cNvGraphicFramePr/>
          <p:nvPr/>
        </p:nvGraphicFramePr>
        <p:xfrm>
          <a:off x="7035800" y="1574800"/>
          <a:ext cx="4470400" cy="3581400"/>
        </p:xfrm>
        <a:graphic>
          <a:graphicData uri="http://schemas.openxmlformats.org/drawingml/2006/chart">
            <ns2:chart xmlns:ns2="http://schemas.openxmlformats.org/drawingml/2006/chart" r:id="rIdGraph1"/>
          </a:graphicData>
        </a:graphic>
      </p:graphicFrame>
      <p:sp>
        <p:nvSpPr>
          <p:cNvPr id="14" name="CuadroTexto 13">
            <a:extLst>
              <a:ext uri="{FF2B5EF4-FFF2-40B4-BE49-F238E27FC236}">
                <a16:creationId xmlns:a16="http://schemas.microsoft.com/office/drawing/2014/main" id="{23E720E8-876C-1806-B808-39E3324CAC57}"/>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INE 2021, cuadro 12.2.1. Analizamos víctimas registradas, no el riesgo de accidentarse en la población.</a:t>
            </a:r>
            <a:endParaRPr lang="es-PY" sz="1050">
              <a:solidFill>
                <a:srgbClr val="465466"/>
              </a:solidFill>
              <a:latin typeface="Arial" panose="020B0604020202020204" pitchFamily="34" charset="0"/>
            </a:endParaRPr>
          </a:p>
        </p:txBody>
      </p:sp>
      <p:sp>
        <p:nvSpPr>
          <p:cNvPr id="15" name="CuadroTexto 14">
            <a:extLst>
              <a:ext uri="{FF2B5EF4-FFF2-40B4-BE49-F238E27FC236}">
                <a16:creationId xmlns:a16="http://schemas.microsoft.com/office/drawing/2014/main" id="{AEF8A182-40BF-8801-5B53-363FF5CF03B8}"/>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2</a:t>
            </a:r>
          </a:p>
        </p:txBody>
      </p:sp>
    </p:spTree>
    <p:extLst>
      <p:ext uri="{BB962C8B-B14F-4D97-AF65-F5344CB8AC3E}">
        <p14:creationId xmlns:p14="http://schemas.microsoft.com/office/powerpoint/2010/main" val="1284735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14036A3-1E0A-96D5-DA1E-5AF77A1C79A0}"/>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DATOS</a:t>
            </a:r>
          </a:p>
        </p:txBody>
      </p:sp>
      <p:sp>
        <p:nvSpPr>
          <p:cNvPr id="3" name="CuadroTexto 2">
            <a:extLst>
              <a:ext uri="{FF2B5EF4-FFF2-40B4-BE49-F238E27FC236}">
                <a16:creationId xmlns:a16="http://schemas.microsoft.com/office/drawing/2014/main" id="{A7B31E9A-7DA1-91D4-6826-89216C6375E9}"/>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102A43"/>
                </a:solidFill>
                <a:latin typeface="Arial" panose="020B0604020202020204" pitchFamily="34" charset="0"/>
              </a:rPr>
              <a:t>Fuentes y coberturas</a:t>
            </a:r>
          </a:p>
        </p:txBody>
      </p:sp>
      <p:sp>
        <p:nvSpPr>
          <p:cNvPr id="4" name="CuadroTexto 3">
            <a:extLst>
              <a:ext uri="{FF2B5EF4-FFF2-40B4-BE49-F238E27FC236}">
                <a16:creationId xmlns:a16="http://schemas.microsoft.com/office/drawing/2014/main" id="{CEA303F3-6A75-57BB-EC13-D4D4AADA306A}"/>
              </a:ext>
            </a:extLst>
          </p:cNvPr>
          <p:cNvSpPr txBox="1"/>
          <p:nvPr/>
        </p:nvSpPr>
        <p:spPr>
          <a:xfrm>
            <a:off x="609600" y="1549400"/>
            <a:ext cx="10972800" cy="444500"/>
          </a:xfrm>
          <a:prstGeom prst="rect">
            <a:avLst/>
          </a:prstGeom>
          <a:noFill/>
        </p:spPr>
        <p:txBody>
          <a:bodyPr vert="horz" wrap="square" lIns="0" tIns="0" rIns="0" bIns="0" rtlCol="0">
            <a:noAutofit/>
          </a:bodyPr>
          <a:lstStyle/>
          <a:p>
            <a:pPr>
              <a:spcAft>
                <a:spcPts val="300"/>
              </a:spcAft>
            </a:pPr>
            <a:r>
              <a:rPr lang="es-ES" sz="2200">
                <a:solidFill>
                  <a:srgbClr val="102A43"/>
                </a:solidFill>
                <a:latin typeface="Arial" panose="020B0604020202020204" pitchFamily="34" charset="0"/>
              </a:rPr>
              <a:t>11 tablas del INE y revisión complementaria de DINATRAN</a:t>
            </a:r>
            <a:endParaRPr lang="es-PY" sz="2200">
              <a:solidFill>
                <a:srgbClr val="102A43"/>
              </a:solidFill>
              <a:latin typeface="Arial" panose="020B0604020202020204" pitchFamily="34" charset="0"/>
            </a:endParaRPr>
          </a:p>
        </p:txBody>
      </p:sp>
      <p:sp>
        <p:nvSpPr>
          <p:cNvPr id="5" name="CuadroTexto 4">
            <a:extLst>
              <a:ext uri="{FF2B5EF4-FFF2-40B4-BE49-F238E27FC236}">
                <a16:creationId xmlns:a16="http://schemas.microsoft.com/office/drawing/2014/main" id="{B50692E4-B9A0-1EAB-EA88-E0A23497D0E3}"/>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102A43"/>
                </a:solidFill>
                <a:latin typeface="Arial" panose="020B0604020202020204" pitchFamily="34" charset="0"/>
              </a:rPr>
              <a:t>Cada cobertura responde una pregunta distinta. No sumamos sus totales ni unimos las filas.</a:t>
            </a:r>
            <a:endParaRPr lang="es-PY" sz="2000" b="1">
              <a:solidFill>
                <a:srgbClr val="102A43"/>
              </a:solidFill>
              <a:latin typeface="Arial" panose="020B0604020202020204" pitchFamily="34" charset="0"/>
            </a:endParaRPr>
          </a:p>
        </p:txBody>
      </p:sp>
      <p:graphicFrame>
        <p:nvGraphicFramePr>
          <p:cNvPr id="6" name="Tabla 5">
            <a:extLst>
              <a:ext uri="{FF2B5EF4-FFF2-40B4-BE49-F238E27FC236}">
                <a16:creationId xmlns:a16="http://schemas.microsoft.com/office/drawing/2014/main" id="{9659CE57-0D0D-11C2-3CA8-8148437809DC}"/>
              </a:ext>
            </a:extLst>
          </p:cNvPr>
          <p:cNvGraphicFramePr>
            <a:graphicFrameLocks noGrp="1"/>
          </p:cNvGraphicFramePr>
          <p:nvPr>
            <p:extLst>
              <p:ext uri="{D42A27DB-BD31-4B8C-83A1-F6EECF244321}">
                <p14:modId xmlns:p14="http://schemas.microsoft.com/office/powerpoint/2010/main" val="954447786"/>
              </p:ext>
            </p:extLst>
          </p:nvPr>
        </p:nvGraphicFramePr>
        <p:xfrm>
          <a:off x="609600" y="2209800"/>
          <a:ext cx="10972800" cy="30353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3668994868"/>
                    </a:ext>
                  </a:extLst>
                </a:gridCol>
                <a:gridCol w="2857500">
                  <a:extLst>
                    <a:ext uri="{9D8B030D-6E8A-4147-A177-3AD203B41FA5}">
                      <a16:colId xmlns:a16="http://schemas.microsoft.com/office/drawing/2014/main" val="1804696340"/>
                    </a:ext>
                  </a:extLst>
                </a:gridCol>
                <a:gridCol w="5448300">
                  <a:extLst>
                    <a:ext uri="{9D8B030D-6E8A-4147-A177-3AD203B41FA5}">
                      <a16:colId xmlns:a16="http://schemas.microsoft.com/office/drawing/2014/main" val="3889517009"/>
                    </a:ext>
                  </a:extLst>
                </a:gridCol>
              </a:tblGrid>
              <a:tr h="607060">
                <a:tc>
                  <a:txBody>
                    <a:bodyPr/>
                    <a:lstStyle/>
                    <a:p>
                      <a:pPr algn="l">
                        <a:spcAft>
                          <a:spcPts val="0"/>
                        </a:spcAft>
                      </a:pPr>
                      <a:r>
                        <a:rPr lang="es-PY" sz="2100" b="1">
                          <a:solidFill>
                            <a:srgbClr val="FFFFFF"/>
                          </a:solidFill>
                          <a:latin typeface="Arial" panose="020B0604020202020204" pitchFamily="34" charset="0"/>
                        </a:rPr>
                        <a:t>Cobertura</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tc>
                  <a:txBody>
                    <a:bodyPr/>
                    <a:lstStyle/>
                    <a:p>
                      <a:pPr algn="ctr">
                        <a:spcAft>
                          <a:spcPts val="0"/>
                        </a:spcAft>
                      </a:pPr>
                      <a:r>
                        <a:rPr lang="es-PY" sz="2100" b="1">
                          <a:solidFill>
                            <a:srgbClr val="FFFFFF"/>
                          </a:solidFill>
                          <a:latin typeface="Arial" panose="020B0604020202020204" pitchFamily="34" charset="0"/>
                        </a:rPr>
                        <a:t>Cantidad</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tc>
                  <a:txBody>
                    <a:bodyPr/>
                    <a:lstStyle/>
                    <a:p>
                      <a:pPr algn="ctr">
                        <a:spcAft>
                          <a:spcPts val="0"/>
                        </a:spcAft>
                      </a:pPr>
                      <a:r>
                        <a:rPr lang="es-PY" sz="2100" b="1">
                          <a:solidFill>
                            <a:srgbClr val="FFFFFF"/>
                          </a:solidFill>
                          <a:latin typeface="Arial" panose="020B0604020202020204" pitchFamily="34" charset="0"/>
                        </a:rPr>
                        <a:t>Qué permite analizar</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extLst>
                  <a:ext uri="{0D108BD9-81ED-4DB2-BD59-A6C34878D82A}">
                    <a16:rowId xmlns:a16="http://schemas.microsoft.com/office/drawing/2014/main" val="2428052438"/>
                  </a:ext>
                </a:extLst>
              </a:tr>
              <a:tr h="607060">
                <a:tc>
                  <a:txBody>
                    <a:bodyPr/>
                    <a:lstStyle/>
                    <a:p>
                      <a:pPr algn="l">
                        <a:spcAft>
                          <a:spcPts val="0"/>
                        </a:spcAft>
                      </a:pPr>
                      <a:r>
                        <a:rPr lang="es-PY" sz="2100" b="0">
                          <a:solidFill>
                            <a:srgbClr val="102A43"/>
                          </a:solidFill>
                          <a:latin typeface="Arial" panose="020B0604020202020204" pitchFamily="34" charset="0"/>
                        </a:rPr>
                        <a:t>Nacional</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2100" b="0">
                          <a:solidFill>
                            <a:srgbClr val="102A43"/>
                          </a:solidFill>
                          <a:latin typeface="Arial" panose="020B0604020202020204" pitchFamily="34" charset="0"/>
                        </a:rPr>
                        <a:t>5.493 víctimas</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2100" b="0">
                          <a:solidFill>
                            <a:srgbClr val="102A43"/>
                          </a:solidFill>
                          <a:latin typeface="Arial" panose="020B0604020202020204" pitchFamily="34" charset="0"/>
                        </a:rPr>
                        <a:t>Sexo, edad y gravedad</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extLst>
                  <a:ext uri="{0D108BD9-81ED-4DB2-BD59-A6C34878D82A}">
                    <a16:rowId xmlns:a16="http://schemas.microsoft.com/office/drawing/2014/main" val="30912645"/>
                  </a:ext>
                </a:extLst>
              </a:tr>
              <a:tr h="607060">
                <a:tc>
                  <a:txBody>
                    <a:bodyPr/>
                    <a:lstStyle/>
                    <a:p>
                      <a:pPr algn="l">
                        <a:spcAft>
                          <a:spcPts val="0"/>
                        </a:spcAft>
                      </a:pPr>
                      <a:r>
                        <a:rPr lang="es-PY" sz="2100" b="0">
                          <a:solidFill>
                            <a:srgbClr val="102A43"/>
                          </a:solidFill>
                          <a:latin typeface="Arial" panose="020B0604020202020204" pitchFamily="34" charset="0"/>
                        </a:rPr>
                        <a:t>Territorial</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2100" b="0">
                          <a:solidFill>
                            <a:srgbClr val="102A43"/>
                          </a:solidFill>
                          <a:latin typeface="Arial" panose="020B0604020202020204" pitchFamily="34" charset="0"/>
                        </a:rPr>
                        <a:t>1.491 víctimas</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2100" b="0">
                          <a:solidFill>
                            <a:srgbClr val="102A43"/>
                          </a:solidFill>
                          <a:latin typeface="Arial" panose="020B0604020202020204" pitchFamily="34" charset="0"/>
                        </a:rPr>
                        <a:t>Asunción, Central e Interior</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extLst>
                  <a:ext uri="{0D108BD9-81ED-4DB2-BD59-A6C34878D82A}">
                    <a16:rowId xmlns:a16="http://schemas.microsoft.com/office/drawing/2014/main" val="474977297"/>
                  </a:ext>
                </a:extLst>
              </a:tr>
              <a:tr h="607060">
                <a:tc>
                  <a:txBody>
                    <a:bodyPr/>
                    <a:lstStyle/>
                    <a:p>
                      <a:pPr algn="l">
                        <a:spcAft>
                          <a:spcPts val="0"/>
                        </a:spcAft>
                      </a:pPr>
                      <a:r>
                        <a:rPr lang="es-PY" sz="2100" b="0">
                          <a:solidFill>
                            <a:srgbClr val="102A43"/>
                          </a:solidFill>
                          <a:latin typeface="Arial" panose="020B0604020202020204" pitchFamily="34" charset="0"/>
                        </a:rPr>
                        <a:t>Vehicular</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2100" b="0">
                          <a:solidFill>
                            <a:srgbClr val="102A43"/>
                          </a:solidFill>
                          <a:latin typeface="Arial" panose="020B0604020202020204" pitchFamily="34" charset="0"/>
                        </a:rPr>
                        <a:t>1.324 víctimas</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ES" sz="2100" b="0">
                          <a:solidFill>
                            <a:srgbClr val="102A43"/>
                          </a:solidFill>
                          <a:latin typeface="Arial" panose="020B0604020202020204" pitchFamily="34" charset="0"/>
                        </a:rPr>
                        <a:t>Roles de usuarios y gravedad</a:t>
                      </a:r>
                      <a:endParaRPr lang="es-PY" sz="2100" b="0">
                        <a:solidFill>
                          <a:srgbClr val="102A43"/>
                        </a:solidFill>
                        <a:latin typeface="Arial" panose="020B0604020202020204" pitchFamily="34" charset="0"/>
                      </a:endParaRP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extLst>
                  <a:ext uri="{0D108BD9-81ED-4DB2-BD59-A6C34878D82A}">
                    <a16:rowId xmlns:a16="http://schemas.microsoft.com/office/drawing/2014/main" val="2091785473"/>
                  </a:ext>
                </a:extLst>
              </a:tr>
              <a:tr h="607060">
                <a:tc>
                  <a:txBody>
                    <a:bodyPr/>
                    <a:lstStyle/>
                    <a:p>
                      <a:pPr algn="l">
                        <a:spcAft>
                          <a:spcPts val="0"/>
                        </a:spcAft>
                      </a:pPr>
                      <a:r>
                        <a:rPr lang="es-PY" sz="2100" b="0">
                          <a:solidFill>
                            <a:srgbClr val="102A43"/>
                          </a:solidFill>
                          <a:latin typeface="Arial" panose="020B0604020202020204" pitchFamily="34" charset="0"/>
                        </a:rPr>
                        <a:t>Siniestros</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2100" b="0">
                          <a:solidFill>
                            <a:srgbClr val="102A43"/>
                          </a:solidFill>
                          <a:latin typeface="Arial" panose="020B0604020202020204" pitchFamily="34" charset="0"/>
                        </a:rPr>
                        <a:t>1.942 hechos</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2100" b="0">
                          <a:solidFill>
                            <a:srgbClr val="102A43"/>
                          </a:solidFill>
                          <a:latin typeface="Arial" panose="020B0604020202020204" pitchFamily="34" charset="0"/>
                        </a:rPr>
                        <a:t>Meses y rutas</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extLst>
                  <a:ext uri="{0D108BD9-81ED-4DB2-BD59-A6C34878D82A}">
                    <a16:rowId xmlns:a16="http://schemas.microsoft.com/office/drawing/2014/main" val="520902595"/>
                  </a:ext>
                </a:extLst>
              </a:tr>
            </a:tbl>
          </a:graphicData>
        </a:graphic>
      </p:graphicFrame>
      <p:sp>
        <p:nvSpPr>
          <p:cNvPr id="7" name="CuadroTexto 6">
            <a:extLst>
              <a:ext uri="{FF2B5EF4-FFF2-40B4-BE49-F238E27FC236}">
                <a16:creationId xmlns:a16="http://schemas.microsoft.com/office/drawing/2014/main" id="{B10C3F3B-69F3-13D7-7ED5-92DB5B66A801}"/>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Fuentes: INE 2021, cuadros 12.2.1, 12.2.2, 12.2.5, 12.2.6 y 12.2.10. DINATRAN 2021.</a:t>
            </a:r>
            <a:endParaRPr lang="es-PY" sz="1050">
              <a:solidFill>
                <a:srgbClr val="465466"/>
              </a:solidFill>
              <a:latin typeface="Arial" panose="020B0604020202020204" pitchFamily="34" charset="0"/>
            </a:endParaRPr>
          </a:p>
        </p:txBody>
      </p:sp>
      <p:sp>
        <p:nvSpPr>
          <p:cNvPr id="8" name="CuadroTexto 7">
            <a:extLst>
              <a:ext uri="{FF2B5EF4-FFF2-40B4-BE49-F238E27FC236}">
                <a16:creationId xmlns:a16="http://schemas.microsoft.com/office/drawing/2014/main" id="{C75884A6-8409-7243-1BE5-04EADAAC3165}"/>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3</a:t>
            </a:r>
          </a:p>
        </p:txBody>
      </p:sp>
    </p:spTree>
    <p:extLst>
      <p:ext uri="{BB962C8B-B14F-4D97-AF65-F5344CB8AC3E}">
        <p14:creationId xmlns:p14="http://schemas.microsoft.com/office/powerpoint/2010/main" val="1338571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1DCBA30-40D0-2369-B327-33EA2C77C729}"/>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PREPARACIÓN</a:t>
            </a:r>
          </a:p>
        </p:txBody>
      </p:sp>
      <p:sp>
        <p:nvSpPr>
          <p:cNvPr id="3" name="CuadroTexto 2">
            <a:extLst>
              <a:ext uri="{FF2B5EF4-FFF2-40B4-BE49-F238E27FC236}">
                <a16:creationId xmlns:a16="http://schemas.microsoft.com/office/drawing/2014/main" id="{97CB7C27-71B1-6386-D0AC-BE801B5C2BB1}"/>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102A43"/>
                </a:solidFill>
                <a:latin typeface="Arial" panose="020B0604020202020204" pitchFamily="34" charset="0"/>
              </a:rPr>
              <a:t>Limpieza y correcciones de los datos</a:t>
            </a:r>
            <a:endParaRPr lang="es-PY" sz="3200">
              <a:solidFill>
                <a:srgbClr val="102A43"/>
              </a:solidFill>
              <a:latin typeface="Arial" panose="020B0604020202020204" pitchFamily="34" charset="0"/>
            </a:endParaRPr>
          </a:p>
        </p:txBody>
      </p:sp>
      <p:sp>
        <p:nvSpPr>
          <p:cNvPr id="4" name="CuadroTexto 3">
            <a:extLst>
              <a:ext uri="{FF2B5EF4-FFF2-40B4-BE49-F238E27FC236}">
                <a16:creationId xmlns:a16="http://schemas.microsoft.com/office/drawing/2014/main" id="{5ABC4FC5-597E-7939-3007-AC6A085DBB41}"/>
              </a:ext>
            </a:extLst>
          </p:cNvPr>
          <p:cNvSpPr txBox="1"/>
          <p:nvPr/>
        </p:nvSpPr>
        <p:spPr>
          <a:xfrm>
            <a:off x="609600" y="1676400"/>
            <a:ext cx="6273800" cy="457200"/>
          </a:xfrm>
          <a:prstGeom prst="rect">
            <a:avLst/>
          </a:prstGeom>
          <a:noFill/>
        </p:spPr>
        <p:txBody>
          <a:bodyPr vert="horz" wrap="square" lIns="0" tIns="0" rIns="0" bIns="0" rtlCol="0">
            <a:noAutofit/>
          </a:bodyPr>
          <a:lstStyle/>
          <a:p>
            <a:pPr>
              <a:spcAft>
                <a:spcPts val="300"/>
              </a:spcAft>
            </a:pPr>
            <a:r>
              <a:rPr lang="es-ES" sz="2200" b="1">
                <a:solidFill>
                  <a:srgbClr val="102A43"/>
                </a:solidFill>
                <a:latin typeface="Arial" panose="020B0604020202020204" pitchFamily="34" charset="0"/>
              </a:rPr>
              <a:t>1  Normalizamos números y categorías</a:t>
            </a:r>
            <a:endParaRPr lang="es-PY" sz="2200" b="1">
              <a:solidFill>
                <a:srgbClr val="102A43"/>
              </a:solidFill>
              <a:latin typeface="Arial" panose="020B0604020202020204" pitchFamily="34" charset="0"/>
            </a:endParaRPr>
          </a:p>
        </p:txBody>
      </p:sp>
      <p:sp>
        <p:nvSpPr>
          <p:cNvPr id="5" name="CuadroTexto 4">
            <a:extLst>
              <a:ext uri="{FF2B5EF4-FFF2-40B4-BE49-F238E27FC236}">
                <a16:creationId xmlns:a16="http://schemas.microsoft.com/office/drawing/2014/main" id="{85637638-930B-2736-4C64-2FD5ACDFB0F2}"/>
              </a:ext>
            </a:extLst>
          </p:cNvPr>
          <p:cNvSpPr txBox="1"/>
          <p:nvPr/>
        </p:nvSpPr>
        <p:spPr>
          <a:xfrm>
            <a:off x="609600" y="2336800"/>
            <a:ext cx="6273800" cy="457200"/>
          </a:xfrm>
          <a:prstGeom prst="rect">
            <a:avLst/>
          </a:prstGeom>
          <a:noFill/>
        </p:spPr>
        <p:txBody>
          <a:bodyPr vert="horz" wrap="square" lIns="0" tIns="0" rIns="0" bIns="0" rtlCol="0">
            <a:noAutofit/>
          </a:bodyPr>
          <a:lstStyle/>
          <a:p>
            <a:pPr>
              <a:spcAft>
                <a:spcPts val="300"/>
              </a:spcAft>
            </a:pPr>
            <a:r>
              <a:rPr lang="es-ES" sz="2200" b="1">
                <a:solidFill>
                  <a:srgbClr val="102A43"/>
                </a:solidFill>
                <a:latin typeface="Arial" panose="020B0604020202020204" pitchFamily="34" charset="0"/>
              </a:rPr>
              <a:t>2  Revisamos sumas y duplicados</a:t>
            </a:r>
            <a:endParaRPr lang="es-PY" sz="2200" b="1">
              <a:solidFill>
                <a:srgbClr val="102A43"/>
              </a:solidFill>
              <a:latin typeface="Arial" panose="020B0604020202020204" pitchFamily="34" charset="0"/>
            </a:endParaRPr>
          </a:p>
        </p:txBody>
      </p:sp>
      <p:sp>
        <p:nvSpPr>
          <p:cNvPr id="6" name="CuadroTexto 5">
            <a:extLst>
              <a:ext uri="{FF2B5EF4-FFF2-40B4-BE49-F238E27FC236}">
                <a16:creationId xmlns:a16="http://schemas.microsoft.com/office/drawing/2014/main" id="{9485CC86-EC5C-7DB0-7DAD-F32D921DB901}"/>
              </a:ext>
            </a:extLst>
          </p:cNvPr>
          <p:cNvSpPr txBox="1"/>
          <p:nvPr/>
        </p:nvSpPr>
        <p:spPr>
          <a:xfrm>
            <a:off x="609600" y="2997200"/>
            <a:ext cx="6273800" cy="457200"/>
          </a:xfrm>
          <a:prstGeom prst="rect">
            <a:avLst/>
          </a:prstGeom>
          <a:noFill/>
        </p:spPr>
        <p:txBody>
          <a:bodyPr vert="horz" wrap="square" lIns="0" tIns="0" rIns="0" bIns="0" rtlCol="0">
            <a:noAutofit/>
          </a:bodyPr>
          <a:lstStyle/>
          <a:p>
            <a:pPr>
              <a:spcAft>
                <a:spcPts val="300"/>
              </a:spcAft>
            </a:pPr>
            <a:r>
              <a:rPr lang="es-PY" sz="2200" b="1">
                <a:solidFill>
                  <a:srgbClr val="102A43"/>
                </a:solidFill>
                <a:latin typeface="Arial" panose="020B0604020202020204" pitchFamily="34" charset="0"/>
              </a:rPr>
              <a:t>3  Expandimos las frecuencias</a:t>
            </a:r>
          </a:p>
        </p:txBody>
      </p:sp>
      <p:sp>
        <p:nvSpPr>
          <p:cNvPr id="7" name="CuadroTexto 6">
            <a:extLst>
              <a:ext uri="{FF2B5EF4-FFF2-40B4-BE49-F238E27FC236}">
                <a16:creationId xmlns:a16="http://schemas.microsoft.com/office/drawing/2014/main" id="{0BA80C16-245E-526D-072C-0F771A12423E}"/>
              </a:ext>
            </a:extLst>
          </p:cNvPr>
          <p:cNvSpPr txBox="1"/>
          <p:nvPr/>
        </p:nvSpPr>
        <p:spPr>
          <a:xfrm>
            <a:off x="609600" y="3886200"/>
            <a:ext cx="6273800" cy="596900"/>
          </a:xfrm>
          <a:prstGeom prst="rect">
            <a:avLst/>
          </a:prstGeom>
          <a:noFill/>
        </p:spPr>
        <p:txBody>
          <a:bodyPr vert="horz" wrap="square" lIns="0" tIns="0" rIns="0" bIns="0" rtlCol="0">
            <a:noAutofit/>
          </a:bodyPr>
          <a:lstStyle/>
          <a:p>
            <a:pPr>
              <a:spcAft>
                <a:spcPts val="300"/>
              </a:spcAft>
            </a:pPr>
            <a:r>
              <a:rPr lang="es-PY" sz="2800" b="1">
                <a:solidFill>
                  <a:srgbClr val="155D99"/>
                </a:solidFill>
                <a:latin typeface="Arial" panose="020B0604020202020204" pitchFamily="34" charset="0"/>
              </a:rPr>
              <a:t>5.493 filas  /  16 perfiles</a:t>
            </a:r>
          </a:p>
        </p:txBody>
      </p:sp>
      <p:sp>
        <p:nvSpPr>
          <p:cNvPr id="8" name="CuadroTexto 7">
            <a:extLst>
              <a:ext uri="{FF2B5EF4-FFF2-40B4-BE49-F238E27FC236}">
                <a16:creationId xmlns:a16="http://schemas.microsoft.com/office/drawing/2014/main" id="{8B9D0862-CC07-2056-D248-D2207BA5CE59}"/>
              </a:ext>
            </a:extLst>
          </p:cNvPr>
          <p:cNvSpPr txBox="1"/>
          <p:nvPr/>
        </p:nvSpPr>
        <p:spPr>
          <a:xfrm>
            <a:off x="609600" y="4610100"/>
            <a:ext cx="6273800" cy="800100"/>
          </a:xfrm>
          <a:prstGeom prst="rect">
            <a:avLst/>
          </a:prstGeom>
          <a:noFill/>
        </p:spPr>
        <p:txBody>
          <a:bodyPr vert="horz" wrap="square" lIns="0" tIns="0" rIns="0" bIns="0" rtlCol="0">
            <a:noAutofit/>
          </a:bodyPr>
          <a:lstStyle/>
          <a:p>
            <a:pPr>
              <a:spcAft>
                <a:spcPts val="300"/>
              </a:spcAft>
            </a:pPr>
            <a:r>
              <a:rPr lang="es-ES" sz="2000">
                <a:solidFill>
                  <a:srgbClr val="102A43"/>
                </a:solidFill>
                <a:latin typeface="Arial" panose="020B0604020202020204" pitchFamily="34" charset="0"/>
              </a:rPr>
              <a:t>La expansión repite conteos de sexo y edad.
No crea historias individuales nuevas.</a:t>
            </a:r>
            <a:endParaRPr lang="es-PY" sz="2000">
              <a:solidFill>
                <a:srgbClr val="102A43"/>
              </a:solidFill>
              <a:latin typeface="Arial" panose="020B0604020202020204" pitchFamily="34" charset="0"/>
            </a:endParaRPr>
          </a:p>
        </p:txBody>
      </p:sp>
      <p:sp>
        <p:nvSpPr>
          <p:cNvPr id="9" name="CuadroTexto 8">
            <a:extLst>
              <a:ext uri="{FF2B5EF4-FFF2-40B4-BE49-F238E27FC236}">
                <a16:creationId xmlns:a16="http://schemas.microsoft.com/office/drawing/2014/main" id="{944B6AE5-E0CD-D846-4570-697EAA9467B5}"/>
              </a:ext>
            </a:extLst>
          </p:cNvPr>
          <p:cNvSpPr txBox="1"/>
          <p:nvPr/>
        </p:nvSpPr>
        <p:spPr>
          <a:xfrm>
            <a:off x="7289800" y="4660900"/>
            <a:ext cx="4292600" cy="431800"/>
          </a:xfrm>
          <a:prstGeom prst="rect">
            <a:avLst/>
          </a:prstGeom>
          <a:noFill/>
        </p:spPr>
        <p:txBody>
          <a:bodyPr vert="horz" wrap="square" lIns="0" tIns="0" rIns="0" bIns="0" rtlCol="0">
            <a:noAutofit/>
          </a:bodyPr>
          <a:lstStyle/>
          <a:p>
            <a:pPr algn="ctr">
              <a:spcAft>
                <a:spcPts val="300"/>
              </a:spcAft>
            </a:pPr>
            <a:r>
              <a:rPr lang="es-PY" sz="2300" b="1">
                <a:solidFill>
                  <a:srgbClr val="AC3F14"/>
                </a:solidFill>
                <a:latin typeface="Arial" panose="020B0604020202020204" pitchFamily="34" charset="0"/>
              </a:rPr>
              <a:t>353 edades ignoradas</a:t>
            </a:r>
          </a:p>
        </p:txBody>
      </p:sp>
      <p:sp>
        <p:nvSpPr>
          <p:cNvPr id="10" name="CuadroTexto 9">
            <a:extLst>
              <a:ext uri="{FF2B5EF4-FFF2-40B4-BE49-F238E27FC236}">
                <a16:creationId xmlns:a16="http://schemas.microsoft.com/office/drawing/2014/main" id="{C1C579CB-1BBD-BBD4-F66B-C546A71E3EB1}"/>
              </a:ext>
            </a:extLst>
          </p:cNvPr>
          <p:cNvSpPr txBox="1"/>
          <p:nvPr/>
        </p:nvSpPr>
        <p:spPr>
          <a:xfrm>
            <a:off x="7124700" y="5168900"/>
            <a:ext cx="4495800" cy="660400"/>
          </a:xfrm>
          <a:prstGeom prst="rect">
            <a:avLst/>
          </a:prstGeom>
          <a:noFill/>
        </p:spPr>
        <p:txBody>
          <a:bodyPr vert="horz" wrap="square" lIns="0" tIns="0" rIns="0" bIns="0" rtlCol="0">
            <a:noAutofit/>
          </a:bodyPr>
          <a:lstStyle/>
          <a:p>
            <a:pPr algn="ctr">
              <a:spcAft>
                <a:spcPts val="300"/>
              </a:spcAft>
            </a:pPr>
            <a:r>
              <a:rPr lang="es-ES">
                <a:solidFill>
                  <a:srgbClr val="102A43"/>
                </a:solidFill>
                <a:latin typeface="Arial" panose="020B0604020202020204" pitchFamily="34" charset="0"/>
              </a:rPr>
              <a:t>Quedan en el modelo y fuera
de los contrastes de edad.</a:t>
            </a:r>
            <a:endParaRPr lang="es-PY">
              <a:solidFill>
                <a:srgbClr val="102A43"/>
              </a:solidFill>
              <a:latin typeface="Arial" panose="020B0604020202020204" pitchFamily="34" charset="0"/>
            </a:endParaRPr>
          </a:p>
        </p:txBody>
      </p:sp>
      <p:graphicFrame>
        <p:nvGraphicFramePr>
          <p:cNvPr id="11" name="CHART_2"/>
          <p:cNvGraphicFramePr/>
          <p:nvPr/>
        </p:nvGraphicFramePr>
        <p:xfrm>
          <a:off x="7556500" y="1612900"/>
          <a:ext cx="3886200" cy="2921000"/>
        </p:xfrm>
        <a:graphic>
          <a:graphicData uri="http://schemas.openxmlformats.org/drawingml/2006/chart">
            <ns2:chart xmlns:ns2="http://schemas.openxmlformats.org/drawingml/2006/chart" r:id="rIdGraph2"/>
          </a:graphicData>
        </a:graphic>
      </p:graphicFrame>
      <p:sp>
        <p:nvSpPr>
          <p:cNvPr id="12" name="CuadroTexto 11">
            <a:extLst>
              <a:ext uri="{FF2B5EF4-FFF2-40B4-BE49-F238E27FC236}">
                <a16:creationId xmlns:a16="http://schemas.microsoft.com/office/drawing/2014/main" id="{22133A83-95F4-26F4-78DE-F332AAFADA01}"/>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bitácora de Fase 1 y correcciones ejecutadas de Fase 3.</a:t>
            </a:r>
            <a:endParaRPr lang="es-PY" sz="1050">
              <a:solidFill>
                <a:srgbClr val="465466"/>
              </a:solidFill>
              <a:latin typeface="Arial" panose="020B0604020202020204" pitchFamily="34" charset="0"/>
            </a:endParaRPr>
          </a:p>
        </p:txBody>
      </p:sp>
      <p:sp>
        <p:nvSpPr>
          <p:cNvPr id="13" name="CuadroTexto 12">
            <a:extLst>
              <a:ext uri="{FF2B5EF4-FFF2-40B4-BE49-F238E27FC236}">
                <a16:creationId xmlns:a16="http://schemas.microsoft.com/office/drawing/2014/main" id="{B51BBBBC-2EAE-CF3B-3F15-1FB2146A189D}"/>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4</a:t>
            </a:r>
          </a:p>
        </p:txBody>
      </p:sp>
    </p:spTree>
    <p:extLst>
      <p:ext uri="{BB962C8B-B14F-4D97-AF65-F5344CB8AC3E}">
        <p14:creationId xmlns:p14="http://schemas.microsoft.com/office/powerpoint/2010/main" val="3832663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5E8FCEA-96BF-32E6-267D-36D46C71C6FF}"/>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1   EXPLORACIÓN</a:t>
            </a:r>
          </a:p>
        </p:txBody>
      </p:sp>
      <p:sp>
        <p:nvSpPr>
          <p:cNvPr id="3" name="CuadroTexto 2">
            <a:extLst>
              <a:ext uri="{FF2B5EF4-FFF2-40B4-BE49-F238E27FC236}">
                <a16:creationId xmlns:a16="http://schemas.microsoft.com/office/drawing/2014/main" id="{62C45049-9581-8C71-D2C7-F66A01F5FCDA}"/>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102A43"/>
                </a:solidFill>
                <a:latin typeface="Arial" panose="020B0604020202020204" pitchFamily="34" charset="0"/>
              </a:rPr>
              <a:t>Distribución de los siniestros</a:t>
            </a:r>
          </a:p>
        </p:txBody>
      </p:sp>
      <p:sp>
        <p:nvSpPr>
          <p:cNvPr id="4" name="CuadroTexto 3">
            <a:extLst>
              <a:ext uri="{FF2B5EF4-FFF2-40B4-BE49-F238E27FC236}">
                <a16:creationId xmlns:a16="http://schemas.microsoft.com/office/drawing/2014/main" id="{DABE9E3E-401E-CEB7-AA30-4783FC34D180}"/>
              </a:ext>
            </a:extLst>
          </p:cNvPr>
          <p:cNvSpPr txBox="1"/>
          <p:nvPr/>
        </p:nvSpPr>
        <p:spPr>
          <a:xfrm>
            <a:off x="609600" y="1574800"/>
            <a:ext cx="6642100" cy="381000"/>
          </a:xfrm>
          <a:prstGeom prst="rect">
            <a:avLst/>
          </a:prstGeom>
          <a:noFill/>
        </p:spPr>
        <p:txBody>
          <a:bodyPr vert="horz" wrap="square" lIns="0" tIns="0" rIns="0" bIns="0" rtlCol="0">
            <a:noAutofit/>
          </a:bodyPr>
          <a:lstStyle/>
          <a:p>
            <a:pPr>
              <a:spcAft>
                <a:spcPts val="300"/>
              </a:spcAft>
            </a:pPr>
            <a:r>
              <a:rPr lang="es-PY" sz="2100" b="1">
                <a:solidFill>
                  <a:srgbClr val="102A43"/>
                </a:solidFill>
                <a:latin typeface="Arial" panose="020B0604020202020204" pitchFamily="34" charset="0"/>
              </a:rPr>
              <a:t>Registros por mes</a:t>
            </a:r>
          </a:p>
        </p:txBody>
      </p:sp>
      <p:sp>
        <p:nvSpPr>
          <p:cNvPr id="5" name="CuadroTexto 4">
            <a:extLst>
              <a:ext uri="{FF2B5EF4-FFF2-40B4-BE49-F238E27FC236}">
                <a16:creationId xmlns:a16="http://schemas.microsoft.com/office/drawing/2014/main" id="{3D22CE42-F9E3-A4AD-DD83-7D885565D1B5}"/>
              </a:ext>
            </a:extLst>
          </p:cNvPr>
          <p:cNvSpPr txBox="1"/>
          <p:nvPr/>
        </p:nvSpPr>
        <p:spPr>
          <a:xfrm>
            <a:off x="7937500" y="1574800"/>
            <a:ext cx="3644900" cy="698500"/>
          </a:xfrm>
          <a:prstGeom prst="rect">
            <a:avLst/>
          </a:prstGeom>
          <a:noFill/>
        </p:spPr>
        <p:txBody>
          <a:bodyPr vert="horz" wrap="square" lIns="0" tIns="0" rIns="0" bIns="0" rtlCol="0">
            <a:noAutofit/>
          </a:bodyPr>
          <a:lstStyle/>
          <a:p>
            <a:pPr>
              <a:spcAft>
                <a:spcPts val="300"/>
              </a:spcAft>
            </a:pPr>
            <a:r>
              <a:rPr lang="es-PY" sz="2100" b="1">
                <a:solidFill>
                  <a:srgbClr val="102A43"/>
                </a:solidFill>
                <a:latin typeface="Arial" panose="020B0604020202020204" pitchFamily="34" charset="0"/>
              </a:rPr>
              <a:t>Rutas con más registros</a:t>
            </a:r>
          </a:p>
        </p:txBody>
      </p:sp>
      <p:sp>
        <p:nvSpPr>
          <p:cNvPr id="6" name="CuadroTexto 5">
            <a:extLst>
              <a:ext uri="{FF2B5EF4-FFF2-40B4-BE49-F238E27FC236}">
                <a16:creationId xmlns:a16="http://schemas.microsoft.com/office/drawing/2014/main" id="{0168E641-FA82-E5A1-13DC-4F4AD6396483}"/>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102A43"/>
                </a:solidFill>
                <a:latin typeface="Arial" panose="020B0604020202020204" pitchFamily="34" charset="0"/>
              </a:rPr>
              <a:t>1.942 siniestros. Marzo registra el mínimo y octubre el máximo. PY02 concentra más hechos.</a:t>
            </a:r>
            <a:endParaRPr lang="es-PY" sz="2000" b="1">
              <a:solidFill>
                <a:srgbClr val="102A43"/>
              </a:solidFill>
              <a:latin typeface="Arial" panose="020B0604020202020204" pitchFamily="34" charset="0"/>
            </a:endParaRPr>
          </a:p>
        </p:txBody>
      </p:sp>
      <p:graphicFrame>
        <p:nvGraphicFramePr>
          <p:cNvPr id="7" name="CHART_3"/>
          <p:cNvGraphicFramePr/>
          <p:nvPr/>
        </p:nvGraphicFramePr>
        <p:xfrm>
          <a:off x="457200" y="2108200"/>
          <a:ext cx="7035800" cy="3263900"/>
        </p:xfrm>
        <a:graphic>
          <a:graphicData uri="http://schemas.openxmlformats.org/drawingml/2006/chart">
            <ns2:chart xmlns:ns2="http://schemas.openxmlformats.org/drawingml/2006/chart" r:id="rIdGraph3"/>
          </a:graphicData>
        </a:graphic>
      </p:graphicFrame>
      <p:graphicFrame>
        <p:nvGraphicFramePr>
          <p:cNvPr id="8" name="CHART_4"/>
          <p:cNvGraphicFramePr/>
          <p:nvPr/>
        </p:nvGraphicFramePr>
        <p:xfrm>
          <a:off x="7861300" y="2298700"/>
          <a:ext cx="3746500" cy="3035300"/>
        </p:xfrm>
        <a:graphic>
          <a:graphicData uri="http://schemas.openxmlformats.org/drawingml/2006/chart">
            <ns2:chart xmlns:ns2="http://schemas.openxmlformats.org/drawingml/2006/chart" r:id="rIdGraph4"/>
          </a:graphicData>
        </a:graphic>
      </p:graphicFrame>
      <p:sp>
        <p:nvSpPr>
          <p:cNvPr id="9" name="CuadroTexto 8">
            <a:extLst>
              <a:ext uri="{FF2B5EF4-FFF2-40B4-BE49-F238E27FC236}">
                <a16:creationId xmlns:a16="http://schemas.microsoft.com/office/drawing/2014/main" id="{F2767C05-E613-ACA8-F2F2-CD85D37AE62A}"/>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INE 2021, cuadros 12.2.2 y 12.2.9. Central e Interior. Sin exposición vial, los conteos no miden riesgo.</a:t>
            </a:r>
            <a:endParaRPr lang="es-PY" sz="1050">
              <a:solidFill>
                <a:srgbClr val="465466"/>
              </a:solidFill>
              <a:latin typeface="Arial" panose="020B0604020202020204" pitchFamily="34" charset="0"/>
            </a:endParaRPr>
          </a:p>
        </p:txBody>
      </p:sp>
      <p:sp>
        <p:nvSpPr>
          <p:cNvPr id="10" name="CuadroTexto 9">
            <a:extLst>
              <a:ext uri="{FF2B5EF4-FFF2-40B4-BE49-F238E27FC236}">
                <a16:creationId xmlns:a16="http://schemas.microsoft.com/office/drawing/2014/main" id="{C42DBA47-8A3F-0107-9263-C0C59E7C0C1B}"/>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5</a:t>
            </a:r>
          </a:p>
        </p:txBody>
      </p:sp>
    </p:spTree>
    <p:extLst>
      <p:ext uri="{BB962C8B-B14F-4D97-AF65-F5344CB8AC3E}">
        <p14:creationId xmlns:p14="http://schemas.microsoft.com/office/powerpoint/2010/main" val="2416496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106B96-9516-A3E5-147E-4EC3E27757F5}"/>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1   EXPLORACIÓN</a:t>
            </a:r>
          </a:p>
        </p:txBody>
      </p:sp>
      <p:sp>
        <p:nvSpPr>
          <p:cNvPr id="3" name="CuadroTexto 2">
            <a:extLst>
              <a:ext uri="{FF2B5EF4-FFF2-40B4-BE49-F238E27FC236}">
                <a16:creationId xmlns:a16="http://schemas.microsoft.com/office/drawing/2014/main" id="{7577898D-745F-A0B8-0DC7-93E2B2B0D8A8}"/>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102A43"/>
                </a:solidFill>
                <a:latin typeface="Arial" panose="020B0604020202020204" pitchFamily="34" charset="0"/>
              </a:rPr>
              <a:t>Gravedad según sexo y edad</a:t>
            </a:r>
            <a:endParaRPr lang="es-PY" sz="3200">
              <a:solidFill>
                <a:srgbClr val="102A43"/>
              </a:solidFill>
              <a:latin typeface="Arial" panose="020B0604020202020204" pitchFamily="34" charset="0"/>
            </a:endParaRPr>
          </a:p>
        </p:txBody>
      </p:sp>
      <p:sp>
        <p:nvSpPr>
          <p:cNvPr id="4" name="CuadroTexto 3">
            <a:extLst>
              <a:ext uri="{FF2B5EF4-FFF2-40B4-BE49-F238E27FC236}">
                <a16:creationId xmlns:a16="http://schemas.microsoft.com/office/drawing/2014/main" id="{73A1A9D3-0B03-80CC-DC13-A3428EF9AE76}"/>
              </a:ext>
            </a:extLst>
          </p:cNvPr>
          <p:cNvSpPr txBox="1"/>
          <p:nvPr/>
        </p:nvSpPr>
        <p:spPr>
          <a:xfrm>
            <a:off x="609600" y="1536700"/>
            <a:ext cx="10972800" cy="381000"/>
          </a:xfrm>
          <a:prstGeom prst="rect">
            <a:avLst/>
          </a:prstGeom>
          <a:noFill/>
        </p:spPr>
        <p:txBody>
          <a:bodyPr vert="horz" wrap="square" lIns="0" tIns="0" rIns="0" bIns="0" rtlCol="0">
            <a:noAutofit/>
          </a:bodyPr>
          <a:lstStyle/>
          <a:p>
            <a:pPr>
              <a:spcAft>
                <a:spcPts val="300"/>
              </a:spcAft>
            </a:pPr>
            <a:r>
              <a:rPr lang="es-PY" sz="2100">
                <a:solidFill>
                  <a:srgbClr val="102A43"/>
                </a:solidFill>
                <a:latin typeface="Arial" panose="020B0604020202020204" pitchFamily="34" charset="0"/>
              </a:rPr>
              <a:t>Fallecidos dentro de cada grupo</a:t>
            </a:r>
          </a:p>
        </p:txBody>
      </p:sp>
      <p:sp>
        <p:nvSpPr>
          <p:cNvPr id="5" name="CuadroTexto 4">
            <a:extLst>
              <a:ext uri="{FF2B5EF4-FFF2-40B4-BE49-F238E27FC236}">
                <a16:creationId xmlns:a16="http://schemas.microsoft.com/office/drawing/2014/main" id="{0FA44967-67AB-C091-257A-265A52B32FE2}"/>
              </a:ext>
            </a:extLst>
          </p:cNvPr>
          <p:cNvSpPr txBox="1"/>
          <p:nvPr/>
        </p:nvSpPr>
        <p:spPr>
          <a:xfrm>
            <a:off x="609600" y="2108200"/>
            <a:ext cx="4445000" cy="355600"/>
          </a:xfrm>
          <a:prstGeom prst="rect">
            <a:avLst/>
          </a:prstGeom>
          <a:noFill/>
        </p:spPr>
        <p:txBody>
          <a:bodyPr vert="horz" wrap="square" lIns="0" tIns="0" rIns="0" bIns="0" rtlCol="0">
            <a:noAutofit/>
          </a:bodyPr>
          <a:lstStyle/>
          <a:p>
            <a:pPr>
              <a:spcAft>
                <a:spcPts val="300"/>
              </a:spcAft>
            </a:pPr>
            <a:r>
              <a:rPr lang="es-PY" sz="2200" b="1">
                <a:solidFill>
                  <a:srgbClr val="102A43"/>
                </a:solidFill>
                <a:latin typeface="Arial" panose="020B0604020202020204" pitchFamily="34" charset="0"/>
              </a:rPr>
              <a:t>Sexo</a:t>
            </a:r>
          </a:p>
        </p:txBody>
      </p:sp>
      <p:sp>
        <p:nvSpPr>
          <p:cNvPr id="6" name="CuadroTexto 5">
            <a:extLst>
              <a:ext uri="{FF2B5EF4-FFF2-40B4-BE49-F238E27FC236}">
                <a16:creationId xmlns:a16="http://schemas.microsoft.com/office/drawing/2014/main" id="{9B6CB9B4-4390-7989-A160-8CB1CC6889DB}"/>
              </a:ext>
            </a:extLst>
          </p:cNvPr>
          <p:cNvSpPr txBox="1"/>
          <p:nvPr/>
        </p:nvSpPr>
        <p:spPr>
          <a:xfrm>
            <a:off x="5715000" y="2108200"/>
            <a:ext cx="5867400" cy="355600"/>
          </a:xfrm>
          <a:prstGeom prst="rect">
            <a:avLst/>
          </a:prstGeom>
          <a:noFill/>
        </p:spPr>
        <p:txBody>
          <a:bodyPr vert="horz" wrap="square" lIns="0" tIns="0" rIns="0" bIns="0" rtlCol="0">
            <a:noAutofit/>
          </a:bodyPr>
          <a:lstStyle/>
          <a:p>
            <a:pPr>
              <a:spcAft>
                <a:spcPts val="300"/>
              </a:spcAft>
            </a:pPr>
            <a:r>
              <a:rPr lang="es-PY" sz="2200" b="1">
                <a:solidFill>
                  <a:srgbClr val="102A43"/>
                </a:solidFill>
                <a:latin typeface="Arial" panose="020B0604020202020204" pitchFamily="34" charset="0"/>
              </a:rPr>
              <a:t>Grupo de edad conocido</a:t>
            </a:r>
          </a:p>
        </p:txBody>
      </p:sp>
      <p:sp>
        <p:nvSpPr>
          <p:cNvPr id="7" name="CuadroTexto 6">
            <a:extLst>
              <a:ext uri="{FF2B5EF4-FFF2-40B4-BE49-F238E27FC236}">
                <a16:creationId xmlns:a16="http://schemas.microsoft.com/office/drawing/2014/main" id="{AF372E4F-5E20-8807-5353-D4887F892B9F}"/>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102A43"/>
                </a:solidFill>
                <a:latin typeface="Arial" panose="020B0604020202020204" pitchFamily="34" charset="0"/>
              </a:rPr>
              <a:t>El porcentaje de fallecidos es mayor en hombres y en grupos de más edad.</a:t>
            </a:r>
            <a:endParaRPr lang="es-PY" sz="2000" b="1">
              <a:solidFill>
                <a:srgbClr val="102A43"/>
              </a:solidFill>
              <a:latin typeface="Arial" panose="020B0604020202020204" pitchFamily="34" charset="0"/>
            </a:endParaRPr>
          </a:p>
        </p:txBody>
      </p:sp>
      <p:graphicFrame>
        <p:nvGraphicFramePr>
          <p:cNvPr id="8" name="CHART_5"/>
          <p:cNvGraphicFramePr/>
          <p:nvPr/>
        </p:nvGraphicFramePr>
        <p:xfrm>
          <a:off x="431800" y="2603500"/>
          <a:ext cx="4762500" cy="2844800"/>
        </p:xfrm>
        <a:graphic>
          <a:graphicData uri="http://schemas.openxmlformats.org/drawingml/2006/chart">
            <ns2:chart xmlns:ns2="http://schemas.openxmlformats.org/drawingml/2006/chart" r:id="rIdGraph5"/>
          </a:graphicData>
        </a:graphic>
      </p:graphicFrame>
      <p:graphicFrame>
        <p:nvGraphicFramePr>
          <p:cNvPr id="9" name="CHART_6"/>
          <p:cNvGraphicFramePr/>
          <p:nvPr/>
        </p:nvGraphicFramePr>
        <p:xfrm>
          <a:off x="5651500" y="2590800"/>
          <a:ext cx="6007100" cy="2984500"/>
        </p:xfrm>
        <a:graphic>
          <a:graphicData uri="http://schemas.openxmlformats.org/drawingml/2006/chart">
            <ns2:chart xmlns:ns2="http://schemas.openxmlformats.org/drawingml/2006/chart" r:id="rIdGraph6"/>
          </a:graphicData>
        </a:graphic>
      </p:graphicFrame>
      <p:sp>
        <p:nvSpPr>
          <p:cNvPr id="10" name="CuadroTexto 9">
            <a:extLst>
              <a:ext uri="{FF2B5EF4-FFF2-40B4-BE49-F238E27FC236}">
                <a16:creationId xmlns:a16="http://schemas.microsoft.com/office/drawing/2014/main" id="{1933C745-2104-D0CE-6FF0-3A0ECF00DFD7}"/>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INE 2021, cuadro 12.2.1. Porcentaje de fallecidos entre víctimas de cada grupo.</a:t>
            </a:r>
            <a:endParaRPr lang="es-PY" sz="1050">
              <a:solidFill>
                <a:srgbClr val="465466"/>
              </a:solidFill>
              <a:latin typeface="Arial" panose="020B0604020202020204" pitchFamily="34" charset="0"/>
            </a:endParaRPr>
          </a:p>
        </p:txBody>
      </p:sp>
      <p:sp>
        <p:nvSpPr>
          <p:cNvPr id="11" name="CuadroTexto 10">
            <a:extLst>
              <a:ext uri="{FF2B5EF4-FFF2-40B4-BE49-F238E27FC236}">
                <a16:creationId xmlns:a16="http://schemas.microsoft.com/office/drawing/2014/main" id="{CA6E9EBB-0F7D-B9D3-1B46-3899EF824FCC}"/>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6</a:t>
            </a:r>
          </a:p>
        </p:txBody>
      </p:sp>
    </p:spTree>
    <p:extLst>
      <p:ext uri="{BB962C8B-B14F-4D97-AF65-F5344CB8AC3E}">
        <p14:creationId xmlns:p14="http://schemas.microsoft.com/office/powerpoint/2010/main" val="2118887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21D8198-B6B6-E2ED-91BC-9CBD27835D74}"/>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1   EXPLORACIÓN</a:t>
            </a:r>
          </a:p>
        </p:txBody>
      </p:sp>
      <p:sp>
        <p:nvSpPr>
          <p:cNvPr id="3" name="CuadroTexto 2">
            <a:extLst>
              <a:ext uri="{FF2B5EF4-FFF2-40B4-BE49-F238E27FC236}">
                <a16:creationId xmlns:a16="http://schemas.microsoft.com/office/drawing/2014/main" id="{01DD3537-3A12-A0C3-C1E6-A610C83DD0D1}"/>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102A43"/>
                </a:solidFill>
                <a:latin typeface="Arial" panose="020B0604020202020204" pitchFamily="34" charset="0"/>
              </a:rPr>
              <a:t>Diferencias territoriales y H1</a:t>
            </a:r>
          </a:p>
        </p:txBody>
      </p:sp>
      <p:sp>
        <p:nvSpPr>
          <p:cNvPr id="4" name="CuadroTexto 3">
            <a:extLst>
              <a:ext uri="{FF2B5EF4-FFF2-40B4-BE49-F238E27FC236}">
                <a16:creationId xmlns:a16="http://schemas.microsoft.com/office/drawing/2014/main" id="{1B2F1E0C-DBE7-A8D8-767A-CBACB0587A97}"/>
              </a:ext>
            </a:extLst>
          </p:cNvPr>
          <p:cNvSpPr txBox="1"/>
          <p:nvPr/>
        </p:nvSpPr>
        <p:spPr>
          <a:xfrm>
            <a:off x="609600" y="1549400"/>
            <a:ext cx="6959600" cy="393700"/>
          </a:xfrm>
          <a:prstGeom prst="rect">
            <a:avLst/>
          </a:prstGeom>
          <a:noFill/>
        </p:spPr>
        <p:txBody>
          <a:bodyPr vert="horz" wrap="square" lIns="0" tIns="0" rIns="0" bIns="0" rtlCol="0">
            <a:noAutofit/>
          </a:bodyPr>
          <a:lstStyle/>
          <a:p>
            <a:pPr>
              <a:spcAft>
                <a:spcPts val="300"/>
              </a:spcAft>
            </a:pPr>
            <a:r>
              <a:rPr lang="es-PY" sz="2100">
                <a:solidFill>
                  <a:srgbClr val="102A43"/>
                </a:solidFill>
                <a:latin typeface="Arial" panose="020B0604020202020204" pitchFamily="34" charset="0"/>
              </a:rPr>
              <a:t>Fallecidos dentro de cada zona</a:t>
            </a:r>
          </a:p>
        </p:txBody>
      </p:sp>
      <p:sp>
        <p:nvSpPr>
          <p:cNvPr id="5" name="CuadroTexto 4">
            <a:extLst>
              <a:ext uri="{FF2B5EF4-FFF2-40B4-BE49-F238E27FC236}">
                <a16:creationId xmlns:a16="http://schemas.microsoft.com/office/drawing/2014/main" id="{8ADA02B1-9A3B-FF47-1900-888E3507AE53}"/>
              </a:ext>
            </a:extLst>
          </p:cNvPr>
          <p:cNvSpPr txBox="1"/>
          <p:nvPr/>
        </p:nvSpPr>
        <p:spPr>
          <a:xfrm>
            <a:off x="7912100" y="2159000"/>
            <a:ext cx="3670300" cy="647700"/>
          </a:xfrm>
          <a:prstGeom prst="rect">
            <a:avLst/>
          </a:prstGeom>
          <a:noFill/>
        </p:spPr>
        <p:txBody>
          <a:bodyPr vert="horz" wrap="square" lIns="0" tIns="0" rIns="0" bIns="0" rtlCol="0">
            <a:noAutofit/>
          </a:bodyPr>
          <a:lstStyle/>
          <a:p>
            <a:pPr>
              <a:spcAft>
                <a:spcPts val="300"/>
              </a:spcAft>
            </a:pPr>
            <a:r>
              <a:rPr lang="es-PY" sz="3400" b="1">
                <a:solidFill>
                  <a:srgbClr val="AC3F14"/>
                </a:solidFill>
                <a:latin typeface="Arial" panose="020B0604020202020204" pitchFamily="34" charset="0"/>
              </a:rPr>
              <a:t>5,26 puntos</a:t>
            </a:r>
          </a:p>
        </p:txBody>
      </p:sp>
      <p:sp>
        <p:nvSpPr>
          <p:cNvPr id="6" name="CuadroTexto 5">
            <a:extLst>
              <a:ext uri="{FF2B5EF4-FFF2-40B4-BE49-F238E27FC236}">
                <a16:creationId xmlns:a16="http://schemas.microsoft.com/office/drawing/2014/main" id="{311533A6-516C-F906-B497-84198C0A297D}"/>
              </a:ext>
            </a:extLst>
          </p:cNvPr>
          <p:cNvSpPr txBox="1"/>
          <p:nvPr/>
        </p:nvSpPr>
        <p:spPr>
          <a:xfrm>
            <a:off x="7912100" y="2959100"/>
            <a:ext cx="3670300" cy="838200"/>
          </a:xfrm>
          <a:prstGeom prst="rect">
            <a:avLst/>
          </a:prstGeom>
          <a:noFill/>
        </p:spPr>
        <p:txBody>
          <a:bodyPr vert="horz" wrap="square" lIns="0" tIns="0" rIns="0" bIns="0" rtlCol="0">
            <a:noAutofit/>
          </a:bodyPr>
          <a:lstStyle/>
          <a:p>
            <a:pPr>
              <a:spcAft>
                <a:spcPts val="300"/>
              </a:spcAft>
            </a:pPr>
            <a:r>
              <a:rPr lang="es-ES" sz="2300">
                <a:solidFill>
                  <a:srgbClr val="102A43"/>
                </a:solidFill>
                <a:latin typeface="Arial" panose="020B0604020202020204" pitchFamily="34" charset="0"/>
              </a:rPr>
              <a:t>más en Interior que
en Metropolitana</a:t>
            </a:r>
            <a:endParaRPr lang="es-PY" sz="2300">
              <a:solidFill>
                <a:srgbClr val="102A43"/>
              </a:solidFill>
              <a:latin typeface="Arial" panose="020B0604020202020204" pitchFamily="34" charset="0"/>
            </a:endParaRPr>
          </a:p>
        </p:txBody>
      </p:sp>
      <p:sp>
        <p:nvSpPr>
          <p:cNvPr id="7" name="CuadroTexto 6">
            <a:extLst>
              <a:ext uri="{FF2B5EF4-FFF2-40B4-BE49-F238E27FC236}">
                <a16:creationId xmlns:a16="http://schemas.microsoft.com/office/drawing/2014/main" id="{1F475EC9-613B-4371-2C6E-7065878480F9}"/>
              </a:ext>
            </a:extLst>
          </p:cNvPr>
          <p:cNvSpPr txBox="1"/>
          <p:nvPr/>
        </p:nvSpPr>
        <p:spPr>
          <a:xfrm>
            <a:off x="7912100" y="4178300"/>
            <a:ext cx="3670300" cy="939800"/>
          </a:xfrm>
          <a:prstGeom prst="rect">
            <a:avLst/>
          </a:prstGeom>
          <a:noFill/>
        </p:spPr>
        <p:txBody>
          <a:bodyPr vert="horz" wrap="square" lIns="0" tIns="0" rIns="0" bIns="0" rtlCol="0">
            <a:noAutofit/>
          </a:bodyPr>
          <a:lstStyle/>
          <a:p>
            <a:pPr>
              <a:spcAft>
                <a:spcPts val="300"/>
              </a:spcAft>
            </a:pPr>
            <a:r>
              <a:rPr lang="es-ES" sz="1900">
                <a:solidFill>
                  <a:srgbClr val="102A43"/>
                </a:solidFill>
                <a:latin typeface="Arial" panose="020B0604020202020204" pitchFamily="34" charset="0"/>
              </a:rPr>
              <a:t>Metropolitana = Asunción + Central
108 / 643 = 16,80 %</a:t>
            </a:r>
            <a:endParaRPr lang="es-PY" sz="1900">
              <a:solidFill>
                <a:srgbClr val="102A43"/>
              </a:solidFill>
              <a:latin typeface="Arial" panose="020B0604020202020204" pitchFamily="34" charset="0"/>
            </a:endParaRPr>
          </a:p>
        </p:txBody>
      </p:sp>
      <p:sp>
        <p:nvSpPr>
          <p:cNvPr id="8" name="CuadroTexto 7">
            <a:extLst>
              <a:ext uri="{FF2B5EF4-FFF2-40B4-BE49-F238E27FC236}">
                <a16:creationId xmlns:a16="http://schemas.microsoft.com/office/drawing/2014/main" id="{58F9D749-3957-5EC0-1962-14DD830E11A9}"/>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102A43"/>
                </a:solidFill>
                <a:latin typeface="Arial" panose="020B0604020202020204" pitchFamily="34" charset="0"/>
              </a:rPr>
              <a:t>El modelo territorial empeoró frente a la base en 2 de 3 cortes. La diferencia no aseguró predicción.</a:t>
            </a:r>
            <a:endParaRPr lang="es-PY" sz="2000" b="1">
              <a:solidFill>
                <a:srgbClr val="102A43"/>
              </a:solidFill>
              <a:latin typeface="Arial" panose="020B0604020202020204" pitchFamily="34" charset="0"/>
            </a:endParaRPr>
          </a:p>
        </p:txBody>
      </p:sp>
      <p:graphicFrame>
        <p:nvGraphicFramePr>
          <p:cNvPr id="9" name="CHART_7"/>
          <p:cNvGraphicFramePr/>
          <p:nvPr/>
        </p:nvGraphicFramePr>
        <p:xfrm>
          <a:off x="457200" y="2133600"/>
          <a:ext cx="7035800" cy="3263900"/>
        </p:xfrm>
        <a:graphic>
          <a:graphicData uri="http://schemas.openxmlformats.org/drawingml/2006/chart">
            <ns2:chart xmlns:ns2="http://schemas.openxmlformats.org/drawingml/2006/chart" r:id="rIdGraph7"/>
          </a:graphicData>
        </a:graphic>
      </p:graphicFrame>
      <p:sp>
        <p:nvSpPr>
          <p:cNvPr id="10" name="CuadroTexto 9">
            <a:extLst>
              <a:ext uri="{FF2B5EF4-FFF2-40B4-BE49-F238E27FC236}">
                <a16:creationId xmlns:a16="http://schemas.microsoft.com/office/drawing/2014/main" id="{1421B924-1019-2865-EB37-1A104F37A607}"/>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INE 2021, cuadro 12.2.6. N = 1.491 víctimas. Cobertura diferente de la fuente nacional.</a:t>
            </a:r>
            <a:endParaRPr lang="es-PY" sz="1050">
              <a:solidFill>
                <a:srgbClr val="465466"/>
              </a:solidFill>
              <a:latin typeface="Arial" panose="020B0604020202020204" pitchFamily="34" charset="0"/>
            </a:endParaRPr>
          </a:p>
        </p:txBody>
      </p:sp>
      <p:sp>
        <p:nvSpPr>
          <p:cNvPr id="11" name="CuadroTexto 10">
            <a:extLst>
              <a:ext uri="{FF2B5EF4-FFF2-40B4-BE49-F238E27FC236}">
                <a16:creationId xmlns:a16="http://schemas.microsoft.com/office/drawing/2014/main" id="{F692B920-A32B-BC1E-29A9-4E2B635C5952}"/>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7</a:t>
            </a:r>
          </a:p>
        </p:txBody>
      </p:sp>
    </p:spTree>
    <p:extLst>
      <p:ext uri="{BB962C8B-B14F-4D97-AF65-F5344CB8AC3E}">
        <p14:creationId xmlns:p14="http://schemas.microsoft.com/office/powerpoint/2010/main" val="3938750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3B0E575-3F1D-B78E-6537-DCB724CA119B}"/>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1   EXPLORACIÓN</a:t>
            </a:r>
          </a:p>
        </p:txBody>
      </p:sp>
      <p:sp>
        <p:nvSpPr>
          <p:cNvPr id="3" name="CuadroTexto 2">
            <a:extLst>
              <a:ext uri="{FF2B5EF4-FFF2-40B4-BE49-F238E27FC236}">
                <a16:creationId xmlns:a16="http://schemas.microsoft.com/office/drawing/2014/main" id="{503FE254-68ED-0A3A-6B56-1F5721A2584C}"/>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102A43"/>
                </a:solidFill>
                <a:latin typeface="Arial" panose="020B0604020202020204" pitchFamily="34" charset="0"/>
              </a:rPr>
              <a:t>Motocicleta y demás usuarios</a:t>
            </a:r>
          </a:p>
        </p:txBody>
      </p:sp>
      <p:sp>
        <p:nvSpPr>
          <p:cNvPr id="4" name="CuadroTexto 3">
            <a:extLst>
              <a:ext uri="{FF2B5EF4-FFF2-40B4-BE49-F238E27FC236}">
                <a16:creationId xmlns:a16="http://schemas.microsoft.com/office/drawing/2014/main" id="{3DB5DAAA-9627-180D-7D1F-5BB10745E98E}"/>
              </a:ext>
            </a:extLst>
          </p:cNvPr>
          <p:cNvSpPr txBox="1"/>
          <p:nvPr/>
        </p:nvSpPr>
        <p:spPr>
          <a:xfrm>
            <a:off x="609600" y="1562100"/>
            <a:ext cx="10972800" cy="406400"/>
          </a:xfrm>
          <a:prstGeom prst="rect">
            <a:avLst/>
          </a:prstGeom>
          <a:noFill/>
        </p:spPr>
        <p:txBody>
          <a:bodyPr vert="horz" wrap="square" lIns="0" tIns="0" rIns="0" bIns="0" rtlCol="0">
            <a:noAutofit/>
          </a:bodyPr>
          <a:lstStyle/>
          <a:p>
            <a:pPr>
              <a:spcAft>
                <a:spcPts val="300"/>
              </a:spcAft>
            </a:pPr>
            <a:r>
              <a:rPr lang="es-PY" sz="2200" b="1">
                <a:solidFill>
                  <a:srgbClr val="102A43"/>
                </a:solidFill>
                <a:latin typeface="Arial" panose="020B0604020202020204" pitchFamily="34" charset="0"/>
              </a:rPr>
              <a:t>Revisión de H3: 539 = 534 de motocicleta + 5 de motocarro</a:t>
            </a:r>
          </a:p>
        </p:txBody>
      </p:sp>
      <p:sp>
        <p:nvSpPr>
          <p:cNvPr id="5" name="CuadroTexto 4">
            <a:extLst>
              <a:ext uri="{FF2B5EF4-FFF2-40B4-BE49-F238E27FC236}">
                <a16:creationId xmlns:a16="http://schemas.microsoft.com/office/drawing/2014/main" id="{208D6297-3A6D-0708-60C9-622A7121F669}"/>
              </a:ext>
            </a:extLst>
          </p:cNvPr>
          <p:cNvSpPr txBox="1"/>
          <p:nvPr/>
        </p:nvSpPr>
        <p:spPr>
          <a:xfrm>
            <a:off x="8001000" y="2362200"/>
            <a:ext cx="3581400" cy="711200"/>
          </a:xfrm>
          <a:prstGeom prst="rect">
            <a:avLst/>
          </a:prstGeom>
          <a:noFill/>
        </p:spPr>
        <p:txBody>
          <a:bodyPr vert="horz" wrap="square" lIns="0" tIns="0" rIns="0" bIns="0" rtlCol="0">
            <a:noAutofit/>
          </a:bodyPr>
          <a:lstStyle/>
          <a:p>
            <a:pPr>
              <a:spcAft>
                <a:spcPts val="300"/>
              </a:spcAft>
            </a:pPr>
            <a:r>
              <a:rPr lang="es-PY" sz="3800" b="1">
                <a:solidFill>
                  <a:srgbClr val="AC3F14"/>
                </a:solidFill>
                <a:latin typeface="Arial" panose="020B0604020202020204" pitchFamily="34" charset="0"/>
              </a:rPr>
              <a:t>RR 1,95</a:t>
            </a:r>
          </a:p>
        </p:txBody>
      </p:sp>
      <p:sp>
        <p:nvSpPr>
          <p:cNvPr id="6" name="CuadroTexto 5">
            <a:extLst>
              <a:ext uri="{FF2B5EF4-FFF2-40B4-BE49-F238E27FC236}">
                <a16:creationId xmlns:a16="http://schemas.microsoft.com/office/drawing/2014/main" id="{03B48BE4-7226-EAEF-7253-3274FC5F8F5C}"/>
              </a:ext>
            </a:extLst>
          </p:cNvPr>
          <p:cNvSpPr txBox="1"/>
          <p:nvPr/>
        </p:nvSpPr>
        <p:spPr>
          <a:xfrm>
            <a:off x="8001000" y="3251200"/>
            <a:ext cx="3581400" cy="406400"/>
          </a:xfrm>
          <a:prstGeom prst="rect">
            <a:avLst/>
          </a:prstGeom>
          <a:noFill/>
        </p:spPr>
        <p:txBody>
          <a:bodyPr vert="horz" wrap="square" lIns="0" tIns="0" rIns="0" bIns="0" rtlCol="0">
            <a:noAutofit/>
          </a:bodyPr>
          <a:lstStyle/>
          <a:p>
            <a:pPr>
              <a:spcAft>
                <a:spcPts val="300"/>
              </a:spcAft>
            </a:pPr>
            <a:r>
              <a:rPr lang="en-US" sz="2200">
                <a:solidFill>
                  <a:srgbClr val="102A43"/>
                </a:solidFill>
                <a:latin typeface="Arial" panose="020B0604020202020204" pitchFamily="34" charset="0"/>
              </a:rPr>
              <a:t>IC 95 %: 1,57 a 2,42</a:t>
            </a:r>
            <a:endParaRPr lang="es-PY" sz="2200">
              <a:solidFill>
                <a:srgbClr val="102A43"/>
              </a:solidFill>
              <a:latin typeface="Arial" panose="020B0604020202020204" pitchFamily="34" charset="0"/>
            </a:endParaRPr>
          </a:p>
        </p:txBody>
      </p:sp>
      <p:sp>
        <p:nvSpPr>
          <p:cNvPr id="7" name="CuadroTexto 6">
            <a:extLst>
              <a:ext uri="{FF2B5EF4-FFF2-40B4-BE49-F238E27FC236}">
                <a16:creationId xmlns:a16="http://schemas.microsoft.com/office/drawing/2014/main" id="{E13A1C0D-28BC-BA6F-26CF-78EE0BEE744D}"/>
              </a:ext>
            </a:extLst>
          </p:cNvPr>
          <p:cNvSpPr txBox="1"/>
          <p:nvPr/>
        </p:nvSpPr>
        <p:spPr>
          <a:xfrm>
            <a:off x="8001000" y="4051300"/>
            <a:ext cx="3581400" cy="1155700"/>
          </a:xfrm>
          <a:prstGeom prst="rect">
            <a:avLst/>
          </a:prstGeom>
          <a:noFill/>
        </p:spPr>
        <p:txBody>
          <a:bodyPr vert="horz" wrap="square" lIns="0" tIns="0" rIns="0" bIns="0" rtlCol="0">
            <a:noAutofit/>
          </a:bodyPr>
          <a:lstStyle/>
          <a:p>
            <a:pPr>
              <a:spcAft>
                <a:spcPts val="300"/>
              </a:spcAft>
            </a:pPr>
            <a:r>
              <a:rPr lang="es-ES" sz="1900">
                <a:solidFill>
                  <a:srgbClr val="102A43"/>
                </a:solidFill>
                <a:latin typeface="Arial" panose="020B0604020202020204" pitchFamily="34" charset="0"/>
              </a:rPr>
              <a:t>534 frente a los mismos 785
Excluimos los 5 de motocarro
Total comparado: 1.319</a:t>
            </a:r>
            <a:endParaRPr lang="es-PY" sz="1900">
              <a:solidFill>
                <a:srgbClr val="102A43"/>
              </a:solidFill>
              <a:latin typeface="Arial" panose="020B0604020202020204" pitchFamily="34" charset="0"/>
            </a:endParaRPr>
          </a:p>
        </p:txBody>
      </p:sp>
      <p:sp>
        <p:nvSpPr>
          <p:cNvPr id="8" name="CuadroTexto 7">
            <a:extLst>
              <a:ext uri="{FF2B5EF4-FFF2-40B4-BE49-F238E27FC236}">
                <a16:creationId xmlns:a16="http://schemas.microsoft.com/office/drawing/2014/main" id="{80EE5515-71D0-1AA2-B51D-654A2E8CD0E8}"/>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102A43"/>
                </a:solidFill>
                <a:latin typeface="Arial" panose="020B0604020202020204" pitchFamily="34" charset="0"/>
              </a:rPr>
              <a:t>El porcentaje de fallecidos es casi doble en motocicleta. El resto incluye peatones y ciclistas.</a:t>
            </a:r>
            <a:endParaRPr lang="es-PY" sz="2000" b="1">
              <a:solidFill>
                <a:srgbClr val="102A43"/>
              </a:solidFill>
              <a:latin typeface="Arial" panose="020B0604020202020204" pitchFamily="34" charset="0"/>
            </a:endParaRPr>
          </a:p>
        </p:txBody>
      </p:sp>
      <p:graphicFrame>
        <p:nvGraphicFramePr>
          <p:cNvPr id="9" name="CHART_8"/>
          <p:cNvGraphicFramePr/>
          <p:nvPr/>
        </p:nvGraphicFramePr>
        <p:xfrm>
          <a:off x="431800" y="2298700"/>
          <a:ext cx="7150100" cy="2997200"/>
        </p:xfrm>
        <a:graphic>
          <a:graphicData uri="http://schemas.openxmlformats.org/drawingml/2006/chart">
            <ns2:chart xmlns:ns2="http://schemas.openxmlformats.org/drawingml/2006/chart" r:id="rIdGraph8"/>
          </a:graphicData>
        </a:graphic>
      </p:graphicFrame>
      <p:sp>
        <p:nvSpPr>
          <p:cNvPr id="10" name="CuadroTexto 9">
            <a:extLst>
              <a:ext uri="{FF2B5EF4-FFF2-40B4-BE49-F238E27FC236}">
                <a16:creationId xmlns:a16="http://schemas.microsoft.com/office/drawing/2014/main" id="{17698200-1AEC-5C25-1748-DC0484C30B78}"/>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Fuentes: INE 12.2.5/12.2.10 y DINATRAN 2021, pp.130, 132, 133, 135 y 136.</a:t>
            </a:r>
            <a:endParaRPr lang="es-PY" sz="1050">
              <a:solidFill>
                <a:srgbClr val="465466"/>
              </a:solidFill>
              <a:latin typeface="Arial" panose="020B0604020202020204" pitchFamily="34" charset="0"/>
            </a:endParaRPr>
          </a:p>
        </p:txBody>
      </p:sp>
      <p:sp>
        <p:nvSpPr>
          <p:cNvPr id="11" name="CuadroTexto 10">
            <a:extLst>
              <a:ext uri="{FF2B5EF4-FFF2-40B4-BE49-F238E27FC236}">
                <a16:creationId xmlns:a16="http://schemas.microsoft.com/office/drawing/2014/main" id="{B66FCD02-0B07-BB57-4DC2-C7324AF50EA0}"/>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8</a:t>
            </a:r>
          </a:p>
        </p:txBody>
      </p:sp>
    </p:spTree>
    <p:extLst>
      <p:ext uri="{BB962C8B-B14F-4D97-AF65-F5344CB8AC3E}">
        <p14:creationId xmlns:p14="http://schemas.microsoft.com/office/powerpoint/2010/main" val="140936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FF2A315-5446-C1A8-7721-F133064471E7}"/>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2   CONTRASTES</a:t>
            </a:r>
          </a:p>
        </p:txBody>
      </p:sp>
      <p:sp>
        <p:nvSpPr>
          <p:cNvPr id="3" name="CuadroTexto 2">
            <a:extLst>
              <a:ext uri="{FF2B5EF4-FFF2-40B4-BE49-F238E27FC236}">
                <a16:creationId xmlns:a16="http://schemas.microsoft.com/office/drawing/2014/main" id="{442956DF-8394-5B2D-73B5-5F17D2BDEDDB}"/>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102A43"/>
                </a:solidFill>
                <a:latin typeface="Arial" panose="020B0604020202020204" pitchFamily="34" charset="0"/>
              </a:rPr>
              <a:t>Hipótesis y resultados estadísticos</a:t>
            </a:r>
          </a:p>
        </p:txBody>
      </p:sp>
      <p:sp>
        <p:nvSpPr>
          <p:cNvPr id="4" name="CuadroTexto 3">
            <a:extLst>
              <a:ext uri="{FF2B5EF4-FFF2-40B4-BE49-F238E27FC236}">
                <a16:creationId xmlns:a16="http://schemas.microsoft.com/office/drawing/2014/main" id="{7EEFA2F9-C67E-CE4B-2FEC-D78BAE673906}"/>
              </a:ext>
            </a:extLst>
          </p:cNvPr>
          <p:cNvSpPr txBox="1"/>
          <p:nvPr/>
        </p:nvSpPr>
        <p:spPr>
          <a:xfrm>
            <a:off x="609600" y="5410200"/>
            <a:ext cx="10972800" cy="368300"/>
          </a:xfrm>
          <a:prstGeom prst="rect">
            <a:avLst/>
          </a:prstGeom>
          <a:noFill/>
        </p:spPr>
        <p:txBody>
          <a:bodyPr vert="horz" wrap="square" lIns="0" tIns="0" rIns="0" bIns="0" rtlCol="0">
            <a:noAutofit/>
          </a:bodyPr>
          <a:lstStyle/>
          <a:p>
            <a:pPr>
              <a:spcAft>
                <a:spcPts val="300"/>
              </a:spcAft>
            </a:pPr>
            <a:r>
              <a:rPr lang="es-PY" sz="2100" b="1">
                <a:solidFill>
                  <a:srgbClr val="102A43"/>
                </a:solidFill>
                <a:latin typeface="Arial" panose="020B0604020202020204" pitchFamily="34" charset="0"/>
              </a:rPr>
              <a:t>Bonferroni: seis comparaciones. Umbral: p ajustado &lt; 0,05</a:t>
            </a:r>
          </a:p>
        </p:txBody>
      </p:sp>
      <p:sp>
        <p:nvSpPr>
          <p:cNvPr id="5" name="CuadroTexto 4">
            <a:extLst>
              <a:ext uri="{FF2B5EF4-FFF2-40B4-BE49-F238E27FC236}">
                <a16:creationId xmlns:a16="http://schemas.microsoft.com/office/drawing/2014/main" id="{77BD921D-3D2C-DE13-32DF-4475D89F7448}"/>
              </a:ext>
            </a:extLst>
          </p:cNvPr>
          <p:cNvSpPr txBox="1"/>
          <p:nvPr/>
        </p:nvSpPr>
        <p:spPr>
          <a:xfrm>
            <a:off x="609600" y="5880100"/>
            <a:ext cx="10972800" cy="381000"/>
          </a:xfrm>
          <a:prstGeom prst="rect">
            <a:avLst/>
          </a:prstGeom>
          <a:noFill/>
        </p:spPr>
        <p:txBody>
          <a:bodyPr vert="horz" wrap="square" lIns="0" tIns="0" rIns="0" bIns="0" rtlCol="0">
            <a:noAutofit/>
          </a:bodyPr>
          <a:lstStyle/>
          <a:p>
            <a:pPr>
              <a:spcAft>
                <a:spcPts val="300"/>
              </a:spcAft>
            </a:pPr>
            <a:r>
              <a:rPr lang="es-ES">
                <a:solidFill>
                  <a:srgbClr val="102A43"/>
                </a:solidFill>
                <a:latin typeface="Arial" panose="020B0604020202020204" pitchFamily="34" charset="0"/>
              </a:rPr>
              <a:t>La independencia por siniestro es un supuesto que las tablas no permiten verificar.</a:t>
            </a:r>
            <a:endParaRPr lang="es-PY">
              <a:solidFill>
                <a:srgbClr val="102A43"/>
              </a:solidFill>
              <a:latin typeface="Arial" panose="020B0604020202020204" pitchFamily="34" charset="0"/>
            </a:endParaRPr>
          </a:p>
        </p:txBody>
      </p:sp>
      <p:graphicFrame>
        <p:nvGraphicFramePr>
          <p:cNvPr id="6" name="Tabla 5">
            <a:extLst>
              <a:ext uri="{FF2B5EF4-FFF2-40B4-BE49-F238E27FC236}">
                <a16:creationId xmlns:a16="http://schemas.microsoft.com/office/drawing/2014/main" id="{5277DA3B-C4D7-FDC5-C58B-6747F6FEDFA6}"/>
              </a:ext>
            </a:extLst>
          </p:cNvPr>
          <p:cNvGraphicFramePr>
            <a:graphicFrameLocks noGrp="1"/>
          </p:cNvGraphicFramePr>
          <p:nvPr>
            <p:extLst>
              <p:ext uri="{D42A27DB-BD31-4B8C-83A1-F6EECF244321}">
                <p14:modId xmlns:p14="http://schemas.microsoft.com/office/powerpoint/2010/main" val="271651460"/>
              </p:ext>
            </p:extLst>
          </p:nvPr>
        </p:nvGraphicFramePr>
        <p:xfrm>
          <a:off x="609600" y="1625600"/>
          <a:ext cx="10972800" cy="3492500"/>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3164180005"/>
                    </a:ext>
                  </a:extLst>
                </a:gridCol>
                <a:gridCol w="1981200">
                  <a:extLst>
                    <a:ext uri="{9D8B030D-6E8A-4147-A177-3AD203B41FA5}">
                      <a16:colId xmlns:a16="http://schemas.microsoft.com/office/drawing/2014/main" val="1743176753"/>
                    </a:ext>
                  </a:extLst>
                </a:gridCol>
                <a:gridCol w="1841500">
                  <a:extLst>
                    <a:ext uri="{9D8B030D-6E8A-4147-A177-3AD203B41FA5}">
                      <a16:colId xmlns:a16="http://schemas.microsoft.com/office/drawing/2014/main" val="4019185948"/>
                    </a:ext>
                  </a:extLst>
                </a:gridCol>
                <a:gridCol w="3873500">
                  <a:extLst>
                    <a:ext uri="{9D8B030D-6E8A-4147-A177-3AD203B41FA5}">
                      <a16:colId xmlns:a16="http://schemas.microsoft.com/office/drawing/2014/main" val="368163837"/>
                    </a:ext>
                  </a:extLst>
                </a:gridCol>
              </a:tblGrid>
              <a:tr h="698500">
                <a:tc>
                  <a:txBody>
                    <a:bodyPr/>
                    <a:lstStyle/>
                    <a:p>
                      <a:pPr algn="l">
                        <a:spcAft>
                          <a:spcPts val="0"/>
                        </a:spcAft>
                      </a:pPr>
                      <a:r>
                        <a:rPr lang="es-PY" sz="1800" b="1">
                          <a:solidFill>
                            <a:srgbClr val="FFFFFF"/>
                          </a:solidFill>
                          <a:latin typeface="Arial" panose="020B0604020202020204" pitchFamily="34" charset="0"/>
                        </a:rPr>
                        <a:t>Hipótesis y prueba</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tc>
                  <a:txBody>
                    <a:bodyPr/>
                    <a:lstStyle/>
                    <a:p>
                      <a:pPr algn="ctr">
                        <a:spcAft>
                          <a:spcPts val="0"/>
                        </a:spcAft>
                      </a:pPr>
                      <a:r>
                        <a:rPr lang="es-PY" sz="1800" b="1">
                          <a:solidFill>
                            <a:srgbClr val="FFFFFF"/>
                          </a:solidFill>
                          <a:latin typeface="Arial" panose="020B0604020202020204" pitchFamily="34" charset="0"/>
                        </a:rPr>
                        <a:t>Medida</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tc>
                  <a:txBody>
                    <a:bodyPr/>
                    <a:lstStyle/>
                    <a:p>
                      <a:pPr algn="ctr">
                        <a:spcAft>
                          <a:spcPts val="0"/>
                        </a:spcAft>
                      </a:pPr>
                      <a:r>
                        <a:rPr lang="es-PY" sz="1800" b="1">
                          <a:solidFill>
                            <a:srgbClr val="FFFFFF"/>
                          </a:solidFill>
                          <a:latin typeface="Arial" panose="020B0604020202020204" pitchFamily="34" charset="0"/>
                        </a:rPr>
                        <a:t>p ajustado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tc>
                  <a:txBody>
                    <a:bodyPr/>
                    <a:lstStyle/>
                    <a:p>
                      <a:pPr algn="ctr">
                        <a:spcAft>
                          <a:spcPts val="0"/>
                        </a:spcAft>
                      </a:pPr>
                      <a:r>
                        <a:rPr lang="es-PY" sz="1800" b="1">
                          <a:solidFill>
                            <a:srgbClr val="FFFFFF"/>
                          </a:solidFill>
                          <a:latin typeface="Arial" panose="020B0604020202020204" pitchFamily="34" charset="0"/>
                        </a:rPr>
                        <a:t>Lectura del resultado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extLst>
                  <a:ext uri="{0D108BD9-81ED-4DB2-BD59-A6C34878D82A}">
                    <a16:rowId xmlns:a16="http://schemas.microsoft.com/office/drawing/2014/main" val="3656798820"/>
                  </a:ext>
                </a:extLst>
              </a:tr>
              <a:tr h="698500">
                <a:tc>
                  <a:txBody>
                    <a:bodyPr/>
                    <a:lstStyle/>
                    <a:p>
                      <a:pPr algn="l">
                        <a:spcAft>
                          <a:spcPts val="0"/>
                        </a:spcAft>
                      </a:pPr>
                      <a:r>
                        <a:rPr lang="es-PY" sz="1800" b="0">
                          <a:solidFill>
                            <a:srgbClr val="102A43"/>
                          </a:solidFill>
                          <a:latin typeface="Arial" panose="020B0604020202020204" pitchFamily="34" charset="0"/>
                        </a:rPr>
                        <a:t>H1  Territorio
Chi-cuadrado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1800" b="0">
                          <a:solidFill>
                            <a:srgbClr val="102A43"/>
                          </a:solidFill>
                          <a:latin typeface="Arial" panose="020B0604020202020204" pitchFamily="34" charset="0"/>
                        </a:rPr>
                        <a:t>OR 1,40</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1800" b="0">
                          <a:solidFill>
                            <a:srgbClr val="102A43"/>
                          </a:solidFill>
                          <a:latin typeface="Arial" panose="020B0604020202020204" pitchFamily="34" charset="0"/>
                        </a:rPr>
                        <a:t>0,0698</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1800" b="0">
                          <a:solidFill>
                            <a:srgbClr val="102A43"/>
                          </a:solidFill>
                          <a:latin typeface="Arial" panose="020B0604020202020204" pitchFamily="34" charset="0"/>
                        </a:rPr>
                        <a:t>No alcanza </a:t>
                      </a:r>
                      <a:r>
                        <a:rPr lang="el-GR" sz="1800" b="0">
                          <a:solidFill>
                            <a:srgbClr val="102A43"/>
                          </a:solidFill>
                          <a:latin typeface="Arial" panose="020B0604020202020204" pitchFamily="34" charset="0"/>
                        </a:rPr>
                        <a:t>α = 0,05</a:t>
                      </a:r>
                      <a:endParaRPr lang="es-PY" sz="1800" b="0">
                        <a:solidFill>
                          <a:srgbClr val="102A43"/>
                        </a:solidFill>
                        <a:latin typeface="Arial" panose="020B0604020202020204" pitchFamily="34" charset="0"/>
                      </a:endParaRP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extLst>
                  <a:ext uri="{0D108BD9-81ED-4DB2-BD59-A6C34878D82A}">
                    <a16:rowId xmlns:a16="http://schemas.microsoft.com/office/drawing/2014/main" val="2627438411"/>
                  </a:ext>
                </a:extLst>
              </a:tr>
              <a:tr h="698500">
                <a:tc>
                  <a:txBody>
                    <a:bodyPr/>
                    <a:lstStyle/>
                    <a:p>
                      <a:pPr algn="l">
                        <a:spcAft>
                          <a:spcPts val="0"/>
                        </a:spcAft>
                      </a:pPr>
                      <a:r>
                        <a:rPr lang="es-PY" sz="1800" b="0">
                          <a:solidFill>
                            <a:srgbClr val="102A43"/>
                          </a:solidFill>
                          <a:latin typeface="Arial" panose="020B0604020202020204" pitchFamily="34" charset="0"/>
                        </a:rPr>
                        <a:t>H2  Sexo
Chi-cuadrado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1800" b="0">
                          <a:solidFill>
                            <a:srgbClr val="102A43"/>
                          </a:solidFill>
                          <a:latin typeface="Arial" panose="020B0604020202020204" pitchFamily="34" charset="0"/>
                        </a:rPr>
                        <a:t>OR 2,04</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1800" b="0">
                          <a:solidFill>
                            <a:srgbClr val="102A43"/>
                          </a:solidFill>
                          <a:latin typeface="Arial" panose="020B0604020202020204" pitchFamily="34" charset="0"/>
                        </a:rPr>
                        <a:t>&lt; 0,001</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1800" b="0">
                          <a:solidFill>
                            <a:srgbClr val="102A43"/>
                          </a:solidFill>
                          <a:latin typeface="Arial" panose="020B0604020202020204" pitchFamily="34" charset="0"/>
                        </a:rPr>
                        <a:t>Asociación pequeña</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extLst>
                  <a:ext uri="{0D108BD9-81ED-4DB2-BD59-A6C34878D82A}">
                    <a16:rowId xmlns:a16="http://schemas.microsoft.com/office/drawing/2014/main" val="3374672957"/>
                  </a:ext>
                </a:extLst>
              </a:tr>
              <a:tr h="698500">
                <a:tc>
                  <a:txBody>
                    <a:bodyPr/>
                    <a:lstStyle/>
                    <a:p>
                      <a:pPr algn="l">
                        <a:spcAft>
                          <a:spcPts val="0"/>
                        </a:spcAft>
                      </a:pPr>
                      <a:r>
                        <a:rPr lang="pt-BR" sz="1800" b="0">
                          <a:solidFill>
                            <a:srgbClr val="102A43"/>
                          </a:solidFill>
                          <a:latin typeface="Arial" panose="020B0604020202020204" pitchFamily="34" charset="0"/>
                        </a:rPr>
                        <a:t>H3  Motocicleta
Fisher, sin motocarro</a:t>
                      </a:r>
                      <a:endParaRPr lang="es-PY" sz="1800" b="0">
                        <a:solidFill>
                          <a:srgbClr val="102A43"/>
                        </a:solidFill>
                        <a:latin typeface="Arial" panose="020B0604020202020204" pitchFamily="34" charset="0"/>
                      </a:endParaRP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1800" b="0">
                          <a:solidFill>
                            <a:srgbClr val="102A43"/>
                          </a:solidFill>
                          <a:latin typeface="Arial" panose="020B0604020202020204" pitchFamily="34" charset="0"/>
                        </a:rPr>
                        <a:t>RR 1,95</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1800" b="0">
                          <a:solidFill>
                            <a:srgbClr val="102A43"/>
                          </a:solidFill>
                          <a:latin typeface="Arial" panose="020B0604020202020204" pitchFamily="34" charset="0"/>
                        </a:rPr>
                        <a:t>&lt; 0,001</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1800" b="0">
                          <a:solidFill>
                            <a:srgbClr val="102A43"/>
                          </a:solidFill>
                          <a:latin typeface="Arial" panose="020B0604020202020204" pitchFamily="34" charset="0"/>
                        </a:rPr>
                        <a:t>Mayor proporción
de fallecidos</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extLst>
                  <a:ext uri="{0D108BD9-81ED-4DB2-BD59-A6C34878D82A}">
                    <a16:rowId xmlns:a16="http://schemas.microsoft.com/office/drawing/2014/main" val="2116307423"/>
                  </a:ext>
                </a:extLst>
              </a:tr>
              <a:tr h="698500">
                <a:tc>
                  <a:txBody>
                    <a:bodyPr/>
                    <a:lstStyle/>
                    <a:p>
                      <a:pPr algn="l">
                        <a:spcAft>
                          <a:spcPts val="0"/>
                        </a:spcAft>
                      </a:pPr>
                      <a:r>
                        <a:rPr lang="es-PY" sz="1800" b="0">
                          <a:solidFill>
                            <a:srgbClr val="102A43"/>
                          </a:solidFill>
                          <a:latin typeface="Arial" panose="020B0604020202020204" pitchFamily="34" charset="0"/>
                        </a:rPr>
                        <a:t>H4  Edad
Mann–Whitney</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1800" b="0">
                          <a:solidFill>
                            <a:srgbClr val="102A43"/>
                          </a:solidFill>
                          <a:latin typeface="Arial" panose="020B0604020202020204" pitchFamily="34" charset="0"/>
                        </a:rPr>
                        <a:t>r biserial
0,185</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1800" b="0">
                          <a:solidFill>
                            <a:srgbClr val="102A43"/>
                          </a:solidFill>
                          <a:latin typeface="Arial" panose="020B0604020202020204" pitchFamily="34" charset="0"/>
                        </a:rPr>
                        <a:t>&lt; 0,001</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1800" b="0">
                          <a:solidFill>
                            <a:srgbClr val="102A43"/>
                          </a:solidFill>
                          <a:latin typeface="Arial" panose="020B0604020202020204" pitchFamily="34" charset="0"/>
                        </a:rPr>
                        <a:t>Rangos de edad mayores</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extLst>
                  <a:ext uri="{0D108BD9-81ED-4DB2-BD59-A6C34878D82A}">
                    <a16:rowId xmlns:a16="http://schemas.microsoft.com/office/drawing/2014/main" val="3954241090"/>
                  </a:ext>
                </a:extLst>
              </a:tr>
            </a:tbl>
          </a:graphicData>
        </a:graphic>
      </p:graphicFrame>
      <p:sp>
        <p:nvSpPr>
          <p:cNvPr id="7" name="CuadroTexto 6">
            <a:extLst>
              <a:ext uri="{FF2B5EF4-FFF2-40B4-BE49-F238E27FC236}">
                <a16:creationId xmlns:a16="http://schemas.microsoft.com/office/drawing/2014/main" id="{622F8825-359D-DFFF-FE51-42EC8DD3CB09}"/>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PY" sz="1050">
                <a:solidFill>
                  <a:srgbClr val="465466"/>
                </a:solidFill>
                <a:latin typeface="Arial" panose="020B0604020202020204" pitchFamily="34" charset="0"/>
              </a:rPr>
              <a:t>Fuente: contrastes actuales del notebook. Familia de seis: H1–H4, adultos mayores y H3 sin motocarro.</a:t>
            </a:r>
          </a:p>
        </p:txBody>
      </p:sp>
      <p:sp>
        <p:nvSpPr>
          <p:cNvPr id="8" name="CuadroTexto 7">
            <a:extLst>
              <a:ext uri="{FF2B5EF4-FFF2-40B4-BE49-F238E27FC236}">
                <a16:creationId xmlns:a16="http://schemas.microsoft.com/office/drawing/2014/main" id="{6BCA692D-9E8E-6C3F-4DC0-35659A928EAB}"/>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9</a:t>
            </a:r>
          </a:p>
        </p:txBody>
      </p:sp>
    </p:spTree>
    <p:extLst>
      <p:ext uri="{BB962C8B-B14F-4D97-AF65-F5344CB8AC3E}">
        <p14:creationId xmlns:p14="http://schemas.microsoft.com/office/powerpoint/2010/main" val="1409566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3119155-F3AB-E5D7-0CF7-592F9DB17FC1}"/>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2   CONTRASTES</a:t>
            </a:r>
          </a:p>
        </p:txBody>
      </p:sp>
      <p:sp>
        <p:nvSpPr>
          <p:cNvPr id="3" name="CuadroTexto 2">
            <a:extLst>
              <a:ext uri="{FF2B5EF4-FFF2-40B4-BE49-F238E27FC236}">
                <a16:creationId xmlns:a16="http://schemas.microsoft.com/office/drawing/2014/main" id="{68AA443D-40F7-8897-4BD7-CCC8EF22C99F}"/>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102A43"/>
                </a:solidFill>
                <a:latin typeface="Arial" panose="020B0604020202020204" pitchFamily="34" charset="0"/>
              </a:rPr>
              <a:t>H4 y la comparación de adultos mayores</a:t>
            </a:r>
            <a:endParaRPr lang="es-PY" sz="3200">
              <a:solidFill>
                <a:srgbClr val="102A43"/>
              </a:solidFill>
              <a:latin typeface="Arial" panose="020B0604020202020204" pitchFamily="34" charset="0"/>
            </a:endParaRPr>
          </a:p>
        </p:txBody>
      </p:sp>
      <p:sp>
        <p:nvSpPr>
          <p:cNvPr id="4" name="CuadroTexto 3">
            <a:extLst>
              <a:ext uri="{FF2B5EF4-FFF2-40B4-BE49-F238E27FC236}">
                <a16:creationId xmlns:a16="http://schemas.microsoft.com/office/drawing/2014/main" id="{4148B07A-2DD0-8F72-8AE7-B3739102B9C9}"/>
              </a:ext>
            </a:extLst>
          </p:cNvPr>
          <p:cNvSpPr txBox="1"/>
          <p:nvPr/>
        </p:nvSpPr>
        <p:spPr>
          <a:xfrm>
            <a:off x="609600" y="1574800"/>
            <a:ext cx="10972800" cy="381000"/>
          </a:xfrm>
          <a:prstGeom prst="rect">
            <a:avLst/>
          </a:prstGeom>
          <a:noFill/>
        </p:spPr>
        <p:txBody>
          <a:bodyPr vert="horz" wrap="square" lIns="0" tIns="0" rIns="0" bIns="0" rtlCol="0">
            <a:noAutofit/>
          </a:bodyPr>
          <a:lstStyle/>
          <a:p>
            <a:pPr>
              <a:spcAft>
                <a:spcPts val="300"/>
              </a:spcAft>
            </a:pPr>
            <a:r>
              <a:rPr lang="es-ES" sz="2100">
                <a:solidFill>
                  <a:srgbClr val="102A43"/>
                </a:solidFill>
                <a:latin typeface="Arial" panose="020B0604020202020204" pitchFamily="34" charset="0"/>
              </a:rPr>
              <a:t>Porcentaje de fallecidos con edad conocida</a:t>
            </a:r>
            <a:endParaRPr lang="es-PY" sz="2100">
              <a:solidFill>
                <a:srgbClr val="102A43"/>
              </a:solidFill>
              <a:latin typeface="Arial" panose="020B0604020202020204" pitchFamily="34" charset="0"/>
            </a:endParaRPr>
          </a:p>
        </p:txBody>
      </p:sp>
      <p:sp>
        <p:nvSpPr>
          <p:cNvPr id="5" name="CuadroTexto 4">
            <a:extLst>
              <a:ext uri="{FF2B5EF4-FFF2-40B4-BE49-F238E27FC236}">
                <a16:creationId xmlns:a16="http://schemas.microsoft.com/office/drawing/2014/main" id="{708AF441-DAF9-11D5-9B97-FD264F72923D}"/>
              </a:ext>
            </a:extLst>
          </p:cNvPr>
          <p:cNvSpPr txBox="1"/>
          <p:nvPr/>
        </p:nvSpPr>
        <p:spPr>
          <a:xfrm>
            <a:off x="7912100" y="2184400"/>
            <a:ext cx="3670300" cy="660400"/>
          </a:xfrm>
          <a:prstGeom prst="rect">
            <a:avLst/>
          </a:prstGeom>
          <a:noFill/>
        </p:spPr>
        <p:txBody>
          <a:bodyPr vert="horz" wrap="square" lIns="0" tIns="0" rIns="0" bIns="0" rtlCol="0">
            <a:noAutofit/>
          </a:bodyPr>
          <a:lstStyle/>
          <a:p>
            <a:pPr>
              <a:spcAft>
                <a:spcPts val="300"/>
              </a:spcAft>
            </a:pPr>
            <a:r>
              <a:rPr lang="es-PY" sz="3800" b="1">
                <a:solidFill>
                  <a:srgbClr val="AC3F14"/>
                </a:solidFill>
                <a:latin typeface="Arial" panose="020B0604020202020204" pitchFamily="34" charset="0"/>
              </a:rPr>
              <a:t>RR 2,05</a:t>
            </a:r>
          </a:p>
        </p:txBody>
      </p:sp>
      <p:sp>
        <p:nvSpPr>
          <p:cNvPr id="6" name="CuadroTexto 5">
            <a:extLst>
              <a:ext uri="{FF2B5EF4-FFF2-40B4-BE49-F238E27FC236}">
                <a16:creationId xmlns:a16="http://schemas.microsoft.com/office/drawing/2014/main" id="{3DA34FBD-2F68-9B1A-C17B-4ED0E47A8FEE}"/>
              </a:ext>
            </a:extLst>
          </p:cNvPr>
          <p:cNvSpPr txBox="1"/>
          <p:nvPr/>
        </p:nvSpPr>
        <p:spPr>
          <a:xfrm>
            <a:off x="7912100" y="3035300"/>
            <a:ext cx="3670300" cy="406400"/>
          </a:xfrm>
          <a:prstGeom prst="rect">
            <a:avLst/>
          </a:prstGeom>
          <a:noFill/>
        </p:spPr>
        <p:txBody>
          <a:bodyPr vert="horz" wrap="square" lIns="0" tIns="0" rIns="0" bIns="0" rtlCol="0">
            <a:noAutofit/>
          </a:bodyPr>
          <a:lstStyle/>
          <a:p>
            <a:pPr>
              <a:spcAft>
                <a:spcPts val="300"/>
              </a:spcAft>
            </a:pPr>
            <a:r>
              <a:rPr lang="en-US" sz="2200">
                <a:solidFill>
                  <a:srgbClr val="102A43"/>
                </a:solidFill>
                <a:latin typeface="Arial" panose="020B0604020202020204" pitchFamily="34" charset="0"/>
              </a:rPr>
              <a:t>IC 95 %: 1,73 a 2,42</a:t>
            </a:r>
            <a:endParaRPr lang="es-PY" sz="2200">
              <a:solidFill>
                <a:srgbClr val="102A43"/>
              </a:solidFill>
              <a:latin typeface="Arial" panose="020B0604020202020204" pitchFamily="34" charset="0"/>
            </a:endParaRPr>
          </a:p>
        </p:txBody>
      </p:sp>
      <p:sp>
        <p:nvSpPr>
          <p:cNvPr id="7" name="CuadroTexto 6">
            <a:extLst>
              <a:ext uri="{FF2B5EF4-FFF2-40B4-BE49-F238E27FC236}">
                <a16:creationId xmlns:a16="http://schemas.microsoft.com/office/drawing/2014/main" id="{57EDA8A3-A6D2-BCA7-F456-10FAD88E794D}"/>
              </a:ext>
            </a:extLst>
          </p:cNvPr>
          <p:cNvSpPr txBox="1"/>
          <p:nvPr/>
        </p:nvSpPr>
        <p:spPr>
          <a:xfrm>
            <a:off x="7912100" y="3886200"/>
            <a:ext cx="3670300" cy="1447800"/>
          </a:xfrm>
          <a:prstGeom prst="rect">
            <a:avLst/>
          </a:prstGeom>
          <a:noFill/>
        </p:spPr>
        <p:txBody>
          <a:bodyPr vert="horz" wrap="square" lIns="0" tIns="0" rIns="0" bIns="0" rtlCol="0">
            <a:noAutofit/>
          </a:bodyPr>
          <a:lstStyle/>
          <a:p>
            <a:pPr>
              <a:spcAft>
                <a:spcPts val="300"/>
              </a:spcAft>
            </a:pPr>
            <a:r>
              <a:rPr lang="es-ES" sz="2100">
                <a:solidFill>
                  <a:srgbClr val="102A43"/>
                </a:solidFill>
                <a:latin typeface="Arial" panose="020B0604020202020204" pitchFamily="34" charset="0"/>
              </a:rPr>
              <a:t>Mann–Whitney compara
el orden de los grupos.
r biserial = 0,185
Efecto pequeño</a:t>
            </a:r>
            <a:endParaRPr lang="es-PY" sz="2100">
              <a:solidFill>
                <a:srgbClr val="102A43"/>
              </a:solidFill>
              <a:latin typeface="Arial" panose="020B0604020202020204" pitchFamily="34" charset="0"/>
            </a:endParaRPr>
          </a:p>
        </p:txBody>
      </p:sp>
      <p:sp>
        <p:nvSpPr>
          <p:cNvPr id="8" name="CuadroTexto 7">
            <a:extLst>
              <a:ext uri="{FF2B5EF4-FFF2-40B4-BE49-F238E27FC236}">
                <a16:creationId xmlns:a16="http://schemas.microsoft.com/office/drawing/2014/main" id="{6C311480-08E6-F300-F32B-59D64865C4E1}"/>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102A43"/>
                </a:solidFill>
                <a:latin typeface="Arial" panose="020B0604020202020204" pitchFamily="34" charset="0"/>
              </a:rPr>
              <a:t>Los fallecidos tienden a estar en grupos mayores. Los 353 casos de edad ignorada quedan fuera.</a:t>
            </a:r>
            <a:endParaRPr lang="es-PY" sz="2000" b="1">
              <a:solidFill>
                <a:srgbClr val="102A43"/>
              </a:solidFill>
              <a:latin typeface="Arial" panose="020B0604020202020204" pitchFamily="34" charset="0"/>
            </a:endParaRPr>
          </a:p>
        </p:txBody>
      </p:sp>
      <p:graphicFrame>
        <p:nvGraphicFramePr>
          <p:cNvPr id="9" name="CHART_9"/>
          <p:cNvGraphicFramePr/>
          <p:nvPr/>
        </p:nvGraphicFramePr>
        <p:xfrm>
          <a:off x="431800" y="2374900"/>
          <a:ext cx="7010400" cy="2895600"/>
        </p:xfrm>
        <a:graphic>
          <a:graphicData uri="http://schemas.openxmlformats.org/drawingml/2006/chart">
            <ns2:chart xmlns:ns2="http://schemas.openxmlformats.org/drawingml/2006/chart" r:id="rIdGraph9"/>
          </a:graphicData>
        </a:graphic>
      </p:graphicFrame>
      <p:sp>
        <p:nvSpPr>
          <p:cNvPr id="10" name="CuadroTexto 9">
            <a:extLst>
              <a:ext uri="{FF2B5EF4-FFF2-40B4-BE49-F238E27FC236}">
                <a16:creationId xmlns:a16="http://schemas.microsoft.com/office/drawing/2014/main" id="{4286CBB7-C717-252B-31D5-563D1D1BBD12}"/>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INE 12.2.1 y H4 corregida. 5.140 edades conocidas; 353 ignoradas fuera de estos contrastes.</a:t>
            </a:r>
            <a:endParaRPr lang="es-PY" sz="1050">
              <a:solidFill>
                <a:srgbClr val="465466"/>
              </a:solidFill>
              <a:latin typeface="Arial" panose="020B0604020202020204" pitchFamily="34" charset="0"/>
            </a:endParaRPr>
          </a:p>
        </p:txBody>
      </p:sp>
      <p:sp>
        <p:nvSpPr>
          <p:cNvPr id="11" name="CuadroTexto 10">
            <a:extLst>
              <a:ext uri="{FF2B5EF4-FFF2-40B4-BE49-F238E27FC236}">
                <a16:creationId xmlns:a16="http://schemas.microsoft.com/office/drawing/2014/main" id="{F995B530-AA6F-471B-AD9C-901C91F8D88A}"/>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10</a:t>
            </a:r>
          </a:p>
        </p:txBody>
      </p:sp>
    </p:spTree>
    <p:extLst>
      <p:ext uri="{BB962C8B-B14F-4D97-AF65-F5344CB8AC3E}">
        <p14:creationId xmlns:p14="http://schemas.microsoft.com/office/powerpoint/2010/main" val="3807025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CD3EDB4-0594-8558-DB79-9AC5805F1B4B}"/>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3   PREDICCIÓN</a:t>
            </a:r>
          </a:p>
        </p:txBody>
      </p:sp>
      <p:sp>
        <p:nvSpPr>
          <p:cNvPr id="3" name="CuadroTexto 2">
            <a:extLst>
              <a:ext uri="{FF2B5EF4-FFF2-40B4-BE49-F238E27FC236}">
                <a16:creationId xmlns:a16="http://schemas.microsoft.com/office/drawing/2014/main" id="{B1D41BF4-65D3-5A3A-E3C1-70E6DCBBB53B}"/>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PY" sz="3200">
                <a:solidFill>
                  <a:srgbClr val="102A43"/>
                </a:solidFill>
                <a:latin typeface="Arial" panose="020B0604020202020204" pitchFamily="34" charset="0"/>
              </a:rPr>
              <a:t>Diseño del Modelo A</a:t>
            </a:r>
          </a:p>
        </p:txBody>
      </p:sp>
      <p:sp>
        <p:nvSpPr>
          <p:cNvPr id="4" name="CuadroTexto 3">
            <a:extLst>
              <a:ext uri="{FF2B5EF4-FFF2-40B4-BE49-F238E27FC236}">
                <a16:creationId xmlns:a16="http://schemas.microsoft.com/office/drawing/2014/main" id="{44DDCBAC-29E9-73FF-3D9F-6F9F607B8D26}"/>
              </a:ext>
            </a:extLst>
          </p:cNvPr>
          <p:cNvSpPr txBox="1"/>
          <p:nvPr/>
        </p:nvSpPr>
        <p:spPr>
          <a:xfrm>
            <a:off x="609600" y="1549400"/>
            <a:ext cx="10972800" cy="393700"/>
          </a:xfrm>
          <a:prstGeom prst="rect">
            <a:avLst/>
          </a:prstGeom>
          <a:noFill/>
        </p:spPr>
        <p:txBody>
          <a:bodyPr vert="horz" wrap="square" lIns="0" tIns="0" rIns="0" bIns="0" rtlCol="0">
            <a:noAutofit/>
          </a:bodyPr>
          <a:lstStyle/>
          <a:p>
            <a:pPr>
              <a:spcAft>
                <a:spcPts val="300"/>
              </a:spcAft>
            </a:pPr>
            <a:r>
              <a:rPr lang="es-ES" sz="2200" b="1">
                <a:solidFill>
                  <a:srgbClr val="102A43"/>
                </a:solidFill>
                <a:latin typeface="Arial" panose="020B0604020202020204" pitchFamily="34" charset="0"/>
              </a:rPr>
              <a:t>Predictores: sexo y grupo de edad</a:t>
            </a:r>
            <a:endParaRPr lang="es-PY" sz="2200" b="1">
              <a:solidFill>
                <a:srgbClr val="102A43"/>
              </a:solidFill>
              <a:latin typeface="Arial" panose="020B0604020202020204" pitchFamily="34" charset="0"/>
            </a:endParaRPr>
          </a:p>
        </p:txBody>
      </p:sp>
      <p:sp>
        <p:nvSpPr>
          <p:cNvPr id="5" name="CuadroTexto 4">
            <a:extLst>
              <a:ext uri="{FF2B5EF4-FFF2-40B4-BE49-F238E27FC236}">
                <a16:creationId xmlns:a16="http://schemas.microsoft.com/office/drawing/2014/main" id="{092D038D-86D9-2598-1E14-B40EDA10A1E5}"/>
              </a:ext>
            </a:extLst>
          </p:cNvPr>
          <p:cNvSpPr txBox="1"/>
          <p:nvPr/>
        </p:nvSpPr>
        <p:spPr>
          <a:xfrm>
            <a:off x="609600" y="2209800"/>
            <a:ext cx="5994400" cy="393700"/>
          </a:xfrm>
          <a:prstGeom prst="rect">
            <a:avLst/>
          </a:prstGeom>
          <a:noFill/>
        </p:spPr>
        <p:txBody>
          <a:bodyPr vert="horz" wrap="square" lIns="0" tIns="0" rIns="0" bIns="0" rtlCol="0">
            <a:noAutofit/>
          </a:bodyPr>
          <a:lstStyle/>
          <a:p>
            <a:pPr>
              <a:spcAft>
                <a:spcPts val="300"/>
              </a:spcAft>
            </a:pPr>
            <a:r>
              <a:rPr lang="es-PY" sz="2200" b="1">
                <a:solidFill>
                  <a:srgbClr val="102A43"/>
                </a:solidFill>
                <a:latin typeface="Arial" panose="020B0604020202020204" pitchFamily="34" charset="0"/>
              </a:rPr>
              <a:t>80 % entrenamiento / 20 % prueba</a:t>
            </a:r>
          </a:p>
        </p:txBody>
      </p:sp>
      <p:sp>
        <p:nvSpPr>
          <p:cNvPr id="6" name="CuadroTexto 5">
            <a:extLst>
              <a:ext uri="{FF2B5EF4-FFF2-40B4-BE49-F238E27FC236}">
                <a16:creationId xmlns:a16="http://schemas.microsoft.com/office/drawing/2014/main" id="{B66A9181-5262-0B5C-D1DE-5002718AF8D7}"/>
              </a:ext>
            </a:extLst>
          </p:cNvPr>
          <p:cNvSpPr txBox="1"/>
          <p:nvPr/>
        </p:nvSpPr>
        <p:spPr>
          <a:xfrm>
            <a:off x="609600" y="4470400"/>
            <a:ext cx="5994400" cy="1155700"/>
          </a:xfrm>
          <a:prstGeom prst="rect">
            <a:avLst/>
          </a:prstGeom>
          <a:noFill/>
        </p:spPr>
        <p:txBody>
          <a:bodyPr vert="horz" wrap="square" lIns="0" tIns="0" rIns="0" bIns="0" rtlCol="0">
            <a:noAutofit/>
          </a:bodyPr>
          <a:lstStyle/>
          <a:p>
            <a:pPr>
              <a:spcAft>
                <a:spcPts val="300"/>
              </a:spcAft>
            </a:pPr>
            <a:r>
              <a:rPr lang="es-ES" sz="2100">
                <a:solidFill>
                  <a:srgbClr val="102A43"/>
                </a:solidFill>
                <a:latin typeface="Arial" panose="020B0604020202020204" pitchFamily="34" charset="0"/>
              </a:rPr>
              <a:t>5 pliegues en entrenamiento
Semilla 42 y selección por F1 macro
Dummy siempre predice Herido</a:t>
            </a:r>
            <a:endParaRPr lang="es-PY" sz="2100">
              <a:solidFill>
                <a:srgbClr val="102A43"/>
              </a:solidFill>
              <a:latin typeface="Arial" panose="020B0604020202020204" pitchFamily="34" charset="0"/>
            </a:endParaRPr>
          </a:p>
        </p:txBody>
      </p:sp>
      <p:sp>
        <p:nvSpPr>
          <p:cNvPr id="7" name="CuadroTexto 6">
            <a:extLst>
              <a:ext uri="{FF2B5EF4-FFF2-40B4-BE49-F238E27FC236}">
                <a16:creationId xmlns:a16="http://schemas.microsoft.com/office/drawing/2014/main" id="{3D6E094A-2FFD-C35F-172C-13681E69446F}"/>
              </a:ext>
            </a:extLst>
          </p:cNvPr>
          <p:cNvSpPr txBox="1"/>
          <p:nvPr/>
        </p:nvSpPr>
        <p:spPr>
          <a:xfrm>
            <a:off x="609600" y="5943600"/>
            <a:ext cx="10972800" cy="355600"/>
          </a:xfrm>
          <a:prstGeom prst="rect">
            <a:avLst/>
          </a:prstGeom>
          <a:noFill/>
        </p:spPr>
        <p:txBody>
          <a:bodyPr vert="horz" wrap="square" lIns="0" tIns="0" rIns="0" bIns="0" rtlCol="0">
            <a:noAutofit/>
          </a:bodyPr>
          <a:lstStyle/>
          <a:p>
            <a:pPr>
              <a:spcAft>
                <a:spcPts val="300"/>
              </a:spcAft>
            </a:pPr>
            <a:r>
              <a:rPr lang="es-ES" b="1">
                <a:solidFill>
                  <a:srgbClr val="102A43"/>
                </a:solidFill>
                <a:latin typeface="Arial" panose="020B0604020202020204" pitchFamily="34" charset="0"/>
              </a:rPr>
              <a:t>Prueba histórica ya inspeccionada. La evaluación es interna, sin validación externa.</a:t>
            </a:r>
            <a:endParaRPr lang="es-PY" b="1">
              <a:solidFill>
                <a:srgbClr val="102A43"/>
              </a:solidFill>
              <a:latin typeface="Arial" panose="020B0604020202020204" pitchFamily="34" charset="0"/>
            </a:endParaRPr>
          </a:p>
        </p:txBody>
      </p:sp>
      <p:graphicFrame>
        <p:nvGraphicFramePr>
          <p:cNvPr id="8" name="Tabla 7">
            <a:extLst>
              <a:ext uri="{FF2B5EF4-FFF2-40B4-BE49-F238E27FC236}">
                <a16:creationId xmlns:a16="http://schemas.microsoft.com/office/drawing/2014/main" id="{CEB604EF-54B7-D6E1-4755-C7A6666E0C99}"/>
              </a:ext>
            </a:extLst>
          </p:cNvPr>
          <p:cNvGraphicFramePr>
            <a:graphicFrameLocks noGrp="1"/>
          </p:cNvGraphicFramePr>
          <p:nvPr>
            <p:extLst>
              <p:ext uri="{D42A27DB-BD31-4B8C-83A1-F6EECF244321}">
                <p14:modId xmlns:p14="http://schemas.microsoft.com/office/powerpoint/2010/main" val="147077416"/>
              </p:ext>
            </p:extLst>
          </p:nvPr>
        </p:nvGraphicFramePr>
        <p:xfrm>
          <a:off x="7048500" y="2247900"/>
          <a:ext cx="4533900" cy="3365500"/>
        </p:xfrm>
        <a:graphic>
          <a:graphicData uri="http://schemas.openxmlformats.org/drawingml/2006/table">
            <a:tbl>
              <a:tblPr firstRow="1" bandRow="1">
                <a:tableStyleId>{5C22544A-7EE6-4342-B048-85BDC9FD1C3A}</a:tableStyleId>
              </a:tblPr>
              <a:tblGrid>
                <a:gridCol w="1968500">
                  <a:extLst>
                    <a:ext uri="{9D8B030D-6E8A-4147-A177-3AD203B41FA5}">
                      <a16:colId xmlns:a16="http://schemas.microsoft.com/office/drawing/2014/main" val="885389073"/>
                    </a:ext>
                  </a:extLst>
                </a:gridCol>
                <a:gridCol w="2565400">
                  <a:extLst>
                    <a:ext uri="{9D8B030D-6E8A-4147-A177-3AD203B41FA5}">
                      <a16:colId xmlns:a16="http://schemas.microsoft.com/office/drawing/2014/main" val="1877450719"/>
                    </a:ext>
                  </a:extLst>
                </a:gridCol>
              </a:tblGrid>
              <a:tr h="673100">
                <a:tc>
                  <a:txBody>
                    <a:bodyPr/>
                    <a:lstStyle/>
                    <a:p>
                      <a:pPr algn="l">
                        <a:spcAft>
                          <a:spcPts val="0"/>
                        </a:spcAft>
                      </a:pPr>
                      <a:r>
                        <a:rPr lang="es-PY" sz="1700" b="1">
                          <a:solidFill>
                            <a:srgbClr val="FFFFFF"/>
                          </a:solidFill>
                          <a:latin typeface="Arial" panose="020B0604020202020204" pitchFamily="34" charset="0"/>
                        </a:rPr>
                        <a:t>Algoritmo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tc>
                  <a:txBody>
                    <a:bodyPr/>
                    <a:lstStyle/>
                    <a:p>
                      <a:pPr algn="ctr">
                        <a:spcAft>
                          <a:spcPts val="0"/>
                        </a:spcAft>
                      </a:pPr>
                      <a:r>
                        <a:rPr lang="es-PY" sz="1700" b="1">
                          <a:solidFill>
                            <a:srgbClr val="FFFFFF"/>
                          </a:solidFill>
                          <a:latin typeface="Arial" panose="020B0604020202020204" pitchFamily="34" charset="0"/>
                        </a:rPr>
                        <a:t>Configuración elegida</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extLst>
                  <a:ext uri="{0D108BD9-81ED-4DB2-BD59-A6C34878D82A}">
                    <a16:rowId xmlns:a16="http://schemas.microsoft.com/office/drawing/2014/main" val="2788187590"/>
                  </a:ext>
                </a:extLst>
              </a:tr>
              <a:tr h="673100">
                <a:tc>
                  <a:txBody>
                    <a:bodyPr/>
                    <a:lstStyle/>
                    <a:p>
                      <a:pPr algn="l">
                        <a:spcAft>
                          <a:spcPts val="0"/>
                        </a:spcAft>
                      </a:pPr>
                      <a:r>
                        <a:rPr lang="es-PY" sz="1700" b="0">
                          <a:solidFill>
                            <a:srgbClr val="102A43"/>
                          </a:solidFill>
                          <a:latin typeface="Arial" panose="020B0604020202020204" pitchFamily="34" charset="0"/>
                        </a:rPr>
                        <a:t>Logística</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1700" b="0">
                          <a:solidFill>
                            <a:srgbClr val="102A43"/>
                          </a:solidFill>
                          <a:latin typeface="Arial" panose="020B0604020202020204" pitchFamily="34" charset="0"/>
                        </a:rPr>
                        <a:t>C = 5</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extLst>
                  <a:ext uri="{0D108BD9-81ED-4DB2-BD59-A6C34878D82A}">
                    <a16:rowId xmlns:a16="http://schemas.microsoft.com/office/drawing/2014/main" val="2552118092"/>
                  </a:ext>
                </a:extLst>
              </a:tr>
              <a:tr h="673100">
                <a:tc>
                  <a:txBody>
                    <a:bodyPr/>
                    <a:lstStyle/>
                    <a:p>
                      <a:pPr algn="l">
                        <a:spcAft>
                          <a:spcPts val="0"/>
                        </a:spcAft>
                      </a:pPr>
                      <a:r>
                        <a:rPr lang="es-PY" sz="1700" b="0">
                          <a:solidFill>
                            <a:srgbClr val="102A43"/>
                          </a:solidFill>
                          <a:latin typeface="Arial" panose="020B0604020202020204" pitchFamily="34" charset="0"/>
                        </a:rPr>
                        <a:t>Árbol</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ES" sz="1700" b="0">
                          <a:solidFill>
                            <a:srgbClr val="102A43"/>
                          </a:solidFill>
                          <a:latin typeface="Arial" panose="020B0604020202020204" pitchFamily="34" charset="0"/>
                        </a:rPr>
                        <a:t>Profundidad 6
Hoja mínima 50</a:t>
                      </a:r>
                      <a:endParaRPr lang="es-PY" sz="1700" b="0">
                        <a:solidFill>
                          <a:srgbClr val="102A43"/>
                        </a:solidFill>
                        <a:latin typeface="Arial" panose="020B0604020202020204" pitchFamily="34" charset="0"/>
                      </a:endParaRP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extLst>
                  <a:ext uri="{0D108BD9-81ED-4DB2-BD59-A6C34878D82A}">
                    <a16:rowId xmlns:a16="http://schemas.microsoft.com/office/drawing/2014/main" val="383602059"/>
                  </a:ext>
                </a:extLst>
              </a:tr>
              <a:tr h="673100">
                <a:tc>
                  <a:txBody>
                    <a:bodyPr/>
                    <a:lstStyle/>
                    <a:p>
                      <a:pPr algn="l">
                        <a:spcAft>
                          <a:spcPts val="0"/>
                        </a:spcAft>
                      </a:pPr>
                      <a:r>
                        <a:rPr lang="es-PY" sz="1700" b="0">
                          <a:solidFill>
                            <a:srgbClr val="102A43"/>
                          </a:solidFill>
                          <a:latin typeface="Arial" panose="020B0604020202020204" pitchFamily="34" charset="0"/>
                        </a:rPr>
                        <a:t>Random Forest</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1700" b="0">
                          <a:solidFill>
                            <a:srgbClr val="102A43"/>
                          </a:solidFill>
                          <a:latin typeface="Arial" panose="020B0604020202020204" pitchFamily="34" charset="0"/>
                        </a:rPr>
                        <a:t>100 árboles
Profundidad 3
Hoja mínima 25</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extLst>
                  <a:ext uri="{0D108BD9-81ED-4DB2-BD59-A6C34878D82A}">
                    <a16:rowId xmlns:a16="http://schemas.microsoft.com/office/drawing/2014/main" val="349388097"/>
                  </a:ext>
                </a:extLst>
              </a:tr>
              <a:tr h="673100">
                <a:tc>
                  <a:txBody>
                    <a:bodyPr/>
                    <a:lstStyle/>
                    <a:p>
                      <a:pPr algn="l">
                        <a:spcAft>
                          <a:spcPts val="0"/>
                        </a:spcAft>
                      </a:pPr>
                      <a:r>
                        <a:rPr lang="es-PY" sz="1700" b="0">
                          <a:solidFill>
                            <a:srgbClr val="102A43"/>
                          </a:solidFill>
                          <a:latin typeface="Arial" panose="020B0604020202020204" pitchFamily="34" charset="0"/>
                        </a:rPr>
                        <a:t>Bayes categórico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l-GR" sz="1700" b="0">
                          <a:solidFill>
                            <a:srgbClr val="102A43"/>
                          </a:solidFill>
                          <a:latin typeface="Arial" panose="020B0604020202020204" pitchFamily="34" charset="0"/>
                        </a:rPr>
                        <a:t>α = 0,1</a:t>
                      </a:r>
                      <a:endParaRPr lang="es-PY" sz="1700" b="0">
                        <a:solidFill>
                          <a:srgbClr val="102A43"/>
                        </a:solidFill>
                        <a:latin typeface="Arial" panose="020B0604020202020204" pitchFamily="34" charset="0"/>
                      </a:endParaRP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extLst>
                  <a:ext uri="{0D108BD9-81ED-4DB2-BD59-A6C34878D82A}">
                    <a16:rowId xmlns:a16="http://schemas.microsoft.com/office/drawing/2014/main" val="2712116353"/>
                  </a:ext>
                </a:extLst>
              </a:tr>
            </a:tbl>
          </a:graphicData>
        </a:graphic>
      </p:graphicFrame>
      <p:graphicFrame>
        <p:nvGraphicFramePr>
          <p:cNvPr id="9" name="CHART_10"/>
          <p:cNvGraphicFramePr/>
          <p:nvPr/>
        </p:nvGraphicFramePr>
        <p:xfrm>
          <a:off x="469900" y="2755900"/>
          <a:ext cx="6057900" cy="1460500"/>
        </p:xfrm>
        <a:graphic>
          <a:graphicData uri="http://schemas.openxmlformats.org/drawingml/2006/chart">
            <ns2:chart xmlns:ns2="http://schemas.openxmlformats.org/drawingml/2006/chart" r:id="rIdGraph10"/>
          </a:graphicData>
        </a:graphic>
      </p:graphicFrame>
      <p:sp>
        <p:nvSpPr>
          <p:cNvPr id="10" name="CuadroTexto 9">
            <a:extLst>
              <a:ext uri="{FF2B5EF4-FFF2-40B4-BE49-F238E27FC236}">
                <a16:creationId xmlns:a16="http://schemas.microsoft.com/office/drawing/2014/main" id="{AF6FCEB5-ECA3-476B-29C7-903739D7E8E6}"/>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experimento original del notebook. Sexo y grupo de edad como únicos predictores.</a:t>
            </a:r>
            <a:endParaRPr lang="es-PY" sz="1050">
              <a:solidFill>
                <a:srgbClr val="465466"/>
              </a:solidFill>
              <a:latin typeface="Arial" panose="020B0604020202020204" pitchFamily="34" charset="0"/>
            </a:endParaRPr>
          </a:p>
        </p:txBody>
      </p:sp>
      <p:sp>
        <p:nvSpPr>
          <p:cNvPr id="11" name="CuadroTexto 10">
            <a:extLst>
              <a:ext uri="{FF2B5EF4-FFF2-40B4-BE49-F238E27FC236}">
                <a16:creationId xmlns:a16="http://schemas.microsoft.com/office/drawing/2014/main" id="{8103F5D1-85A9-DF24-2862-4E7535F4BF74}"/>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11</a:t>
            </a:r>
          </a:p>
        </p:txBody>
      </p:sp>
    </p:spTree>
    <p:extLst>
      <p:ext uri="{BB962C8B-B14F-4D97-AF65-F5344CB8AC3E}">
        <p14:creationId xmlns:p14="http://schemas.microsoft.com/office/powerpoint/2010/main" val="570412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43F1930-6D26-6EAA-8B4E-E43BE9703EB3}"/>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3   PREDICCIÓN</a:t>
            </a:r>
          </a:p>
        </p:txBody>
      </p:sp>
      <p:sp>
        <p:nvSpPr>
          <p:cNvPr id="3" name="CuadroTexto 2">
            <a:extLst>
              <a:ext uri="{FF2B5EF4-FFF2-40B4-BE49-F238E27FC236}">
                <a16:creationId xmlns:a16="http://schemas.microsoft.com/office/drawing/2014/main" id="{AD4DDCE7-8CB5-223E-A812-F167EBDB4865}"/>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102A43"/>
                </a:solidFill>
                <a:latin typeface="Arial" panose="020B0604020202020204" pitchFamily="34" charset="0"/>
              </a:rPr>
              <a:t>Comparación y selección de modelos</a:t>
            </a:r>
            <a:endParaRPr lang="es-PY" sz="3200">
              <a:solidFill>
                <a:srgbClr val="102A43"/>
              </a:solidFill>
              <a:latin typeface="Arial" panose="020B0604020202020204" pitchFamily="34" charset="0"/>
            </a:endParaRPr>
          </a:p>
        </p:txBody>
      </p:sp>
      <p:sp>
        <p:nvSpPr>
          <p:cNvPr id="4" name="CuadroTexto 3">
            <a:extLst>
              <a:ext uri="{FF2B5EF4-FFF2-40B4-BE49-F238E27FC236}">
                <a16:creationId xmlns:a16="http://schemas.microsoft.com/office/drawing/2014/main" id="{81A8BEF2-FAB5-515F-2187-4E3668A2E083}"/>
              </a:ext>
            </a:extLst>
          </p:cNvPr>
          <p:cNvSpPr txBox="1"/>
          <p:nvPr/>
        </p:nvSpPr>
        <p:spPr>
          <a:xfrm>
            <a:off x="609600" y="1562100"/>
            <a:ext cx="6959600" cy="393700"/>
          </a:xfrm>
          <a:prstGeom prst="rect">
            <a:avLst/>
          </a:prstGeom>
          <a:noFill/>
        </p:spPr>
        <p:txBody>
          <a:bodyPr vert="horz" wrap="square" lIns="0" tIns="0" rIns="0" bIns="0" rtlCol="0">
            <a:noAutofit/>
          </a:bodyPr>
          <a:lstStyle/>
          <a:p>
            <a:pPr>
              <a:spcAft>
                <a:spcPts val="300"/>
              </a:spcAft>
            </a:pPr>
            <a:r>
              <a:rPr lang="es-ES" sz="2200" b="1">
                <a:solidFill>
                  <a:srgbClr val="102A43"/>
                </a:solidFill>
                <a:latin typeface="Arial" panose="020B0604020202020204" pitchFamily="34" charset="0"/>
              </a:rPr>
              <a:t>F1 macro en validación cruzada</a:t>
            </a:r>
            <a:endParaRPr lang="es-PY" sz="2200" b="1">
              <a:solidFill>
                <a:srgbClr val="102A43"/>
              </a:solidFill>
              <a:latin typeface="Arial" panose="020B0604020202020204" pitchFamily="34" charset="0"/>
            </a:endParaRPr>
          </a:p>
        </p:txBody>
      </p:sp>
      <p:sp>
        <p:nvSpPr>
          <p:cNvPr id="5" name="CuadroTexto 4">
            <a:extLst>
              <a:ext uri="{FF2B5EF4-FFF2-40B4-BE49-F238E27FC236}">
                <a16:creationId xmlns:a16="http://schemas.microsoft.com/office/drawing/2014/main" id="{6F0F6759-485C-7B92-9232-C1474A495AB1}"/>
              </a:ext>
            </a:extLst>
          </p:cNvPr>
          <p:cNvSpPr txBox="1"/>
          <p:nvPr/>
        </p:nvSpPr>
        <p:spPr>
          <a:xfrm>
            <a:off x="8089900" y="1676400"/>
            <a:ext cx="3492500" cy="406400"/>
          </a:xfrm>
          <a:prstGeom prst="rect">
            <a:avLst/>
          </a:prstGeom>
          <a:noFill/>
        </p:spPr>
        <p:txBody>
          <a:bodyPr vert="horz" wrap="square" lIns="0" tIns="0" rIns="0" bIns="0" rtlCol="0">
            <a:noAutofit/>
          </a:bodyPr>
          <a:lstStyle/>
          <a:p>
            <a:pPr>
              <a:spcAft>
                <a:spcPts val="300"/>
              </a:spcAft>
            </a:pPr>
            <a:r>
              <a:rPr lang="es-PY" sz="2300" b="1">
                <a:solidFill>
                  <a:srgbClr val="AC3F14"/>
                </a:solidFill>
                <a:latin typeface="Arial" panose="020B0604020202020204" pitchFamily="34" charset="0"/>
              </a:rPr>
              <a:t>Árbol de Decisión</a:t>
            </a:r>
          </a:p>
        </p:txBody>
      </p:sp>
      <p:sp>
        <p:nvSpPr>
          <p:cNvPr id="6" name="CuadroTexto 5">
            <a:extLst>
              <a:ext uri="{FF2B5EF4-FFF2-40B4-BE49-F238E27FC236}">
                <a16:creationId xmlns:a16="http://schemas.microsoft.com/office/drawing/2014/main" id="{CA648172-2A33-91D7-2ED9-EAF55FB7F9E4}"/>
              </a:ext>
            </a:extLst>
          </p:cNvPr>
          <p:cNvSpPr txBox="1"/>
          <p:nvPr/>
        </p:nvSpPr>
        <p:spPr>
          <a:xfrm>
            <a:off x="8089900" y="2438400"/>
            <a:ext cx="3492500" cy="673100"/>
          </a:xfrm>
          <a:prstGeom prst="rect">
            <a:avLst/>
          </a:prstGeom>
          <a:noFill/>
        </p:spPr>
        <p:txBody>
          <a:bodyPr vert="horz" wrap="square" lIns="0" tIns="0" rIns="0" bIns="0" rtlCol="0">
            <a:noAutofit/>
          </a:bodyPr>
          <a:lstStyle/>
          <a:p>
            <a:pPr>
              <a:spcAft>
                <a:spcPts val="300"/>
              </a:spcAft>
            </a:pPr>
            <a:r>
              <a:rPr lang="es-PY" sz="3800" b="1">
                <a:solidFill>
                  <a:srgbClr val="102A43"/>
                </a:solidFill>
                <a:latin typeface="Arial" panose="020B0604020202020204" pitchFamily="34" charset="0"/>
              </a:rPr>
              <a:t>0,5299</a:t>
            </a:r>
          </a:p>
        </p:txBody>
      </p:sp>
      <p:sp>
        <p:nvSpPr>
          <p:cNvPr id="7" name="CuadroTexto 6">
            <a:extLst>
              <a:ext uri="{FF2B5EF4-FFF2-40B4-BE49-F238E27FC236}">
                <a16:creationId xmlns:a16="http://schemas.microsoft.com/office/drawing/2014/main" id="{BFCAAF0C-560C-C166-807E-82329A996B45}"/>
              </a:ext>
            </a:extLst>
          </p:cNvPr>
          <p:cNvSpPr txBox="1"/>
          <p:nvPr/>
        </p:nvSpPr>
        <p:spPr>
          <a:xfrm>
            <a:off x="8089900" y="3187700"/>
            <a:ext cx="3492500" cy="381000"/>
          </a:xfrm>
          <a:prstGeom prst="rect">
            <a:avLst/>
          </a:prstGeom>
          <a:noFill/>
        </p:spPr>
        <p:txBody>
          <a:bodyPr vert="horz" wrap="square" lIns="0" tIns="0" rIns="0" bIns="0" rtlCol="0">
            <a:noAutofit/>
          </a:bodyPr>
          <a:lstStyle/>
          <a:p>
            <a:pPr>
              <a:spcAft>
                <a:spcPts val="300"/>
              </a:spcAft>
            </a:pPr>
            <a:r>
              <a:rPr lang="es-PY" sz="2000">
                <a:solidFill>
                  <a:srgbClr val="102A43"/>
                </a:solidFill>
                <a:latin typeface="Arial" panose="020B0604020202020204" pitchFamily="34" charset="0"/>
              </a:rPr>
              <a:t>F1 macro en prueba</a:t>
            </a:r>
          </a:p>
        </p:txBody>
      </p:sp>
      <p:sp>
        <p:nvSpPr>
          <p:cNvPr id="8" name="CuadroTexto 7">
            <a:extLst>
              <a:ext uri="{FF2B5EF4-FFF2-40B4-BE49-F238E27FC236}">
                <a16:creationId xmlns:a16="http://schemas.microsoft.com/office/drawing/2014/main" id="{26077855-FD5C-55CB-B39B-CD6F488FA0B0}"/>
              </a:ext>
            </a:extLst>
          </p:cNvPr>
          <p:cNvSpPr txBox="1"/>
          <p:nvPr/>
        </p:nvSpPr>
        <p:spPr>
          <a:xfrm>
            <a:off x="8089900" y="3898900"/>
            <a:ext cx="3492500" cy="673100"/>
          </a:xfrm>
          <a:prstGeom prst="rect">
            <a:avLst/>
          </a:prstGeom>
          <a:noFill/>
        </p:spPr>
        <p:txBody>
          <a:bodyPr vert="horz" wrap="square" lIns="0" tIns="0" rIns="0" bIns="0" rtlCol="0">
            <a:noAutofit/>
          </a:bodyPr>
          <a:lstStyle/>
          <a:p>
            <a:pPr>
              <a:spcAft>
                <a:spcPts val="300"/>
              </a:spcAft>
            </a:pPr>
            <a:r>
              <a:rPr lang="es-PY" sz="3800" b="1">
                <a:solidFill>
                  <a:srgbClr val="102A43"/>
                </a:solidFill>
                <a:latin typeface="Arial" panose="020B0604020202020204" pitchFamily="34" charset="0"/>
              </a:rPr>
              <a:t>0,5809</a:t>
            </a:r>
          </a:p>
        </p:txBody>
      </p:sp>
      <p:sp>
        <p:nvSpPr>
          <p:cNvPr id="9" name="CuadroTexto 8">
            <a:extLst>
              <a:ext uri="{FF2B5EF4-FFF2-40B4-BE49-F238E27FC236}">
                <a16:creationId xmlns:a16="http://schemas.microsoft.com/office/drawing/2014/main" id="{6D62BEA9-E6B0-E566-F41D-F6BD2DDC546A}"/>
              </a:ext>
            </a:extLst>
          </p:cNvPr>
          <p:cNvSpPr txBox="1"/>
          <p:nvPr/>
        </p:nvSpPr>
        <p:spPr>
          <a:xfrm>
            <a:off x="8089900" y="4660900"/>
            <a:ext cx="3492500" cy="774700"/>
          </a:xfrm>
          <a:prstGeom prst="rect">
            <a:avLst/>
          </a:prstGeom>
          <a:noFill/>
        </p:spPr>
        <p:txBody>
          <a:bodyPr vert="horz" wrap="square" lIns="0" tIns="0" rIns="0" bIns="0" rtlCol="0">
            <a:noAutofit/>
          </a:bodyPr>
          <a:lstStyle/>
          <a:p>
            <a:pPr>
              <a:spcAft>
                <a:spcPts val="300"/>
              </a:spcAft>
            </a:pPr>
            <a:r>
              <a:rPr lang="es-ES" sz="1900">
                <a:solidFill>
                  <a:srgbClr val="102A43"/>
                </a:solidFill>
                <a:latin typeface="Arial" panose="020B0604020202020204" pitchFamily="34" charset="0"/>
              </a:rPr>
              <a:t>AUC en prueba
Cercana a la referencia 0,5</a:t>
            </a:r>
            <a:endParaRPr lang="es-PY" sz="1900">
              <a:solidFill>
                <a:srgbClr val="102A43"/>
              </a:solidFill>
              <a:latin typeface="Arial" panose="020B0604020202020204" pitchFamily="34" charset="0"/>
            </a:endParaRPr>
          </a:p>
        </p:txBody>
      </p:sp>
      <p:sp>
        <p:nvSpPr>
          <p:cNvPr id="10" name="CuadroTexto 9">
            <a:extLst>
              <a:ext uri="{FF2B5EF4-FFF2-40B4-BE49-F238E27FC236}">
                <a16:creationId xmlns:a16="http://schemas.microsoft.com/office/drawing/2014/main" id="{785C3430-2C2A-379B-D32C-10F5A9D96D3C}"/>
              </a:ext>
            </a:extLst>
          </p:cNvPr>
          <p:cNvSpPr txBox="1"/>
          <p:nvPr/>
        </p:nvSpPr>
        <p:spPr>
          <a:xfrm>
            <a:off x="609600" y="5727700"/>
            <a:ext cx="10972800" cy="584200"/>
          </a:xfrm>
          <a:prstGeom prst="rect">
            <a:avLst/>
          </a:prstGeom>
          <a:noFill/>
        </p:spPr>
        <p:txBody>
          <a:bodyPr vert="horz" wrap="square" lIns="0" tIns="0" rIns="0" bIns="0" rtlCol="0">
            <a:noAutofit/>
          </a:bodyPr>
          <a:lstStyle/>
          <a:p>
            <a:pPr>
              <a:spcAft>
                <a:spcPts val="300"/>
              </a:spcAft>
            </a:pPr>
            <a:r>
              <a:rPr lang="es-ES" sz="2000" b="1">
                <a:solidFill>
                  <a:srgbClr val="102A43"/>
                </a:solidFill>
                <a:latin typeface="Arial" panose="020B0604020202020204" pitchFamily="34" charset="0"/>
              </a:rPr>
              <a:t>F1 macro da igual peso a ambas clases. El árbol lidera en CV y su capacidad sigue siendo limitada.</a:t>
            </a:r>
            <a:endParaRPr lang="es-PY" sz="2000" b="1">
              <a:solidFill>
                <a:srgbClr val="102A43"/>
              </a:solidFill>
              <a:latin typeface="Arial" panose="020B0604020202020204" pitchFamily="34" charset="0"/>
            </a:endParaRPr>
          </a:p>
        </p:txBody>
      </p:sp>
      <p:graphicFrame>
        <p:nvGraphicFramePr>
          <p:cNvPr id="11" name="CHART_11"/>
          <p:cNvGraphicFramePr/>
          <p:nvPr/>
        </p:nvGraphicFramePr>
        <p:xfrm>
          <a:off x="431800" y="2184400"/>
          <a:ext cx="7124700" cy="3327400"/>
        </p:xfrm>
        <a:graphic>
          <a:graphicData uri="http://schemas.openxmlformats.org/drawingml/2006/chart">
            <ns2:chart xmlns:ns2="http://schemas.openxmlformats.org/drawingml/2006/chart" r:id="rIdGraph11"/>
          </a:graphicData>
        </a:graphic>
      </p:graphicFrame>
      <p:sp>
        <p:nvSpPr>
          <p:cNvPr id="12" name="CuadroTexto 11">
            <a:extLst>
              <a:ext uri="{FF2B5EF4-FFF2-40B4-BE49-F238E27FC236}">
                <a16:creationId xmlns:a16="http://schemas.microsoft.com/office/drawing/2014/main" id="{AFFDCDD5-5525-CAF8-929D-BFB73593E426}"/>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F1 macro CV del entrenamiento y métricas de la reserva histórica del notebook.</a:t>
            </a:r>
            <a:endParaRPr lang="es-PY" sz="1050">
              <a:solidFill>
                <a:srgbClr val="465466"/>
              </a:solidFill>
              <a:latin typeface="Arial" panose="020B0604020202020204" pitchFamily="34" charset="0"/>
            </a:endParaRPr>
          </a:p>
        </p:txBody>
      </p:sp>
      <p:sp>
        <p:nvSpPr>
          <p:cNvPr id="13" name="CuadroTexto 12">
            <a:extLst>
              <a:ext uri="{FF2B5EF4-FFF2-40B4-BE49-F238E27FC236}">
                <a16:creationId xmlns:a16="http://schemas.microsoft.com/office/drawing/2014/main" id="{A8081CB5-BA0F-74B7-7A74-E6F7936F1E29}"/>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12</a:t>
            </a:r>
          </a:p>
        </p:txBody>
      </p:sp>
    </p:spTree>
    <p:extLst>
      <p:ext uri="{BB962C8B-B14F-4D97-AF65-F5344CB8AC3E}">
        <p14:creationId xmlns:p14="http://schemas.microsoft.com/office/powerpoint/2010/main" val="2597859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250E098-6ACD-A103-C909-E355C18CD977}"/>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3   EVALUACIÓN</a:t>
            </a:r>
          </a:p>
        </p:txBody>
      </p:sp>
      <p:sp>
        <p:nvSpPr>
          <p:cNvPr id="3" name="CuadroTexto 2">
            <a:extLst>
              <a:ext uri="{FF2B5EF4-FFF2-40B4-BE49-F238E27FC236}">
                <a16:creationId xmlns:a16="http://schemas.microsoft.com/office/drawing/2014/main" id="{32108FA3-F0B0-2F56-5C4A-613F52B004F8}"/>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102A43"/>
                </a:solidFill>
                <a:latin typeface="Arial" panose="020B0604020202020204" pitchFamily="34" charset="0"/>
              </a:rPr>
              <a:t>Aciertos y errores del árbol</a:t>
            </a:r>
            <a:endParaRPr lang="es-PY" sz="3200">
              <a:solidFill>
                <a:srgbClr val="102A43"/>
              </a:solidFill>
              <a:latin typeface="Arial" panose="020B0604020202020204" pitchFamily="34" charset="0"/>
            </a:endParaRPr>
          </a:p>
        </p:txBody>
      </p:sp>
      <p:sp>
        <p:nvSpPr>
          <p:cNvPr id="4" name="CuadroTexto 3">
            <a:extLst>
              <a:ext uri="{FF2B5EF4-FFF2-40B4-BE49-F238E27FC236}">
                <a16:creationId xmlns:a16="http://schemas.microsoft.com/office/drawing/2014/main" id="{F53864E1-B50C-7389-1721-ED63EBD83432}"/>
              </a:ext>
            </a:extLst>
          </p:cNvPr>
          <p:cNvSpPr txBox="1"/>
          <p:nvPr/>
        </p:nvSpPr>
        <p:spPr>
          <a:xfrm>
            <a:off x="609600" y="1562100"/>
            <a:ext cx="7239000" cy="381000"/>
          </a:xfrm>
          <a:prstGeom prst="rect">
            <a:avLst/>
          </a:prstGeom>
          <a:noFill/>
        </p:spPr>
        <p:txBody>
          <a:bodyPr vert="horz" wrap="square" lIns="0" tIns="0" rIns="0" bIns="0" rtlCol="0">
            <a:noAutofit/>
          </a:bodyPr>
          <a:lstStyle/>
          <a:p>
            <a:pPr>
              <a:spcAft>
                <a:spcPts val="300"/>
              </a:spcAft>
            </a:pPr>
            <a:r>
              <a:rPr lang="es-ES" sz="2100">
                <a:solidFill>
                  <a:srgbClr val="102A43"/>
                </a:solidFill>
                <a:latin typeface="Arial" panose="020B0604020202020204" pitchFamily="34" charset="0"/>
              </a:rPr>
              <a:t>Desenlace real frente a predicción</a:t>
            </a:r>
            <a:endParaRPr lang="es-PY" sz="2100">
              <a:solidFill>
                <a:srgbClr val="102A43"/>
              </a:solidFill>
              <a:latin typeface="Arial" panose="020B0604020202020204" pitchFamily="34" charset="0"/>
            </a:endParaRPr>
          </a:p>
        </p:txBody>
      </p:sp>
      <p:sp>
        <p:nvSpPr>
          <p:cNvPr id="5" name="CuadroTexto 4">
            <a:extLst>
              <a:ext uri="{FF2B5EF4-FFF2-40B4-BE49-F238E27FC236}">
                <a16:creationId xmlns:a16="http://schemas.microsoft.com/office/drawing/2014/main" id="{7F260420-03E1-0D5A-A62E-6B588DE3B398}"/>
              </a:ext>
            </a:extLst>
          </p:cNvPr>
          <p:cNvSpPr txBox="1"/>
          <p:nvPr/>
        </p:nvSpPr>
        <p:spPr>
          <a:xfrm>
            <a:off x="7937500" y="2171700"/>
            <a:ext cx="3644900" cy="673100"/>
          </a:xfrm>
          <a:prstGeom prst="rect">
            <a:avLst/>
          </a:prstGeom>
          <a:noFill/>
        </p:spPr>
        <p:txBody>
          <a:bodyPr vert="horz" wrap="square" lIns="0" tIns="0" rIns="0" bIns="0" rtlCol="0">
            <a:noAutofit/>
          </a:bodyPr>
          <a:lstStyle/>
          <a:p>
            <a:pPr>
              <a:spcAft>
                <a:spcPts val="300"/>
              </a:spcAft>
            </a:pPr>
            <a:r>
              <a:rPr lang="es-PY" sz="3600" b="1">
                <a:solidFill>
                  <a:srgbClr val="AC3F14"/>
                </a:solidFill>
                <a:latin typeface="Arial" panose="020B0604020202020204" pitchFamily="34" charset="0"/>
              </a:rPr>
              <a:t>107 de 196</a:t>
            </a:r>
          </a:p>
        </p:txBody>
      </p:sp>
      <p:sp>
        <p:nvSpPr>
          <p:cNvPr id="6" name="CuadroTexto 5">
            <a:extLst>
              <a:ext uri="{FF2B5EF4-FFF2-40B4-BE49-F238E27FC236}">
                <a16:creationId xmlns:a16="http://schemas.microsoft.com/office/drawing/2014/main" id="{BC0129AA-62DD-7853-BAFD-4D331BD16AF9}"/>
              </a:ext>
            </a:extLst>
          </p:cNvPr>
          <p:cNvSpPr txBox="1"/>
          <p:nvPr/>
        </p:nvSpPr>
        <p:spPr>
          <a:xfrm>
            <a:off x="7937500" y="2908300"/>
            <a:ext cx="3644900" cy="393700"/>
          </a:xfrm>
          <a:prstGeom prst="rect">
            <a:avLst/>
          </a:prstGeom>
          <a:noFill/>
        </p:spPr>
        <p:txBody>
          <a:bodyPr vert="horz" wrap="square" lIns="0" tIns="0" rIns="0" bIns="0" rtlCol="0">
            <a:noAutofit/>
          </a:bodyPr>
          <a:lstStyle/>
          <a:p>
            <a:pPr>
              <a:spcAft>
                <a:spcPts val="300"/>
              </a:spcAft>
            </a:pPr>
            <a:r>
              <a:rPr lang="es-PY" sz="2100">
                <a:solidFill>
                  <a:srgbClr val="102A43"/>
                </a:solidFill>
                <a:latin typeface="Arial" panose="020B0604020202020204" pitchFamily="34" charset="0"/>
              </a:rPr>
              <a:t>fallecidos no detectados</a:t>
            </a:r>
          </a:p>
        </p:txBody>
      </p:sp>
      <p:sp>
        <p:nvSpPr>
          <p:cNvPr id="7" name="CuadroTexto 6">
            <a:extLst>
              <a:ext uri="{FF2B5EF4-FFF2-40B4-BE49-F238E27FC236}">
                <a16:creationId xmlns:a16="http://schemas.microsoft.com/office/drawing/2014/main" id="{8FC69DA4-43B6-5EE8-BB60-DDED62924475}"/>
              </a:ext>
            </a:extLst>
          </p:cNvPr>
          <p:cNvSpPr txBox="1"/>
          <p:nvPr/>
        </p:nvSpPr>
        <p:spPr>
          <a:xfrm>
            <a:off x="7937500" y="3860800"/>
            <a:ext cx="3644900" cy="1320800"/>
          </a:xfrm>
          <a:prstGeom prst="rect">
            <a:avLst/>
          </a:prstGeom>
          <a:noFill/>
        </p:spPr>
        <p:txBody>
          <a:bodyPr vert="horz" wrap="square" lIns="0" tIns="0" rIns="0" bIns="0" rtlCol="0">
            <a:noAutofit/>
          </a:bodyPr>
          <a:lstStyle/>
          <a:p>
            <a:pPr>
              <a:spcAft>
                <a:spcPts val="300"/>
              </a:spcAft>
            </a:pPr>
            <a:r>
              <a:rPr lang="es-ES" sz="2200">
                <a:solidFill>
                  <a:srgbClr val="102A43"/>
                </a:solidFill>
                <a:latin typeface="Arial" panose="020B0604020202020204" pitchFamily="34" charset="0"/>
              </a:rPr>
              <a:t>Recall 45,41 %
Precisión 23,24 %
Exactitud 63,51 %</a:t>
            </a:r>
            <a:endParaRPr lang="es-PY" sz="2200">
              <a:solidFill>
                <a:srgbClr val="102A43"/>
              </a:solidFill>
              <a:latin typeface="Arial" panose="020B0604020202020204" pitchFamily="34" charset="0"/>
            </a:endParaRPr>
          </a:p>
        </p:txBody>
      </p:sp>
      <p:sp>
        <p:nvSpPr>
          <p:cNvPr id="8" name="CuadroTexto 7">
            <a:extLst>
              <a:ext uri="{FF2B5EF4-FFF2-40B4-BE49-F238E27FC236}">
                <a16:creationId xmlns:a16="http://schemas.microsoft.com/office/drawing/2014/main" id="{946CAC7A-F3F7-C301-2773-D0856966198E}"/>
              </a:ext>
            </a:extLst>
          </p:cNvPr>
          <p:cNvSpPr txBox="1"/>
          <p:nvPr/>
        </p:nvSpPr>
        <p:spPr>
          <a:xfrm>
            <a:off x="609600" y="5486400"/>
            <a:ext cx="10972800" cy="812800"/>
          </a:xfrm>
          <a:prstGeom prst="rect">
            <a:avLst/>
          </a:prstGeom>
          <a:noFill/>
        </p:spPr>
        <p:txBody>
          <a:bodyPr vert="horz" wrap="square" lIns="0" tIns="0" rIns="0" bIns="0" rtlCol="0">
            <a:noAutofit/>
          </a:bodyPr>
          <a:lstStyle/>
          <a:p>
            <a:pPr>
              <a:spcAft>
                <a:spcPts val="300"/>
              </a:spcAft>
            </a:pPr>
            <a:r>
              <a:rPr lang="es-ES" sz="1900" b="1">
                <a:solidFill>
                  <a:srgbClr val="102A43"/>
                </a:solidFill>
                <a:latin typeface="Arial" panose="020B0604020202020204" pitchFamily="34" charset="0"/>
              </a:rPr>
              <a:t>Omisiones: 33/33 mujeres fallecidas y 81/81 menores de 30.
Comparten 15 casos. Las omisiones impiden recomendar un uso individual.</a:t>
            </a:r>
            <a:endParaRPr lang="es-PY" sz="1900" b="1">
              <a:solidFill>
                <a:srgbClr val="102A43"/>
              </a:solidFill>
              <a:latin typeface="Arial" panose="020B0604020202020204" pitchFamily="34" charset="0"/>
            </a:endParaRPr>
          </a:p>
        </p:txBody>
      </p:sp>
      <p:graphicFrame>
        <p:nvGraphicFramePr>
          <p:cNvPr id="9" name="Tabla 8">
            <a:extLst>
              <a:ext uri="{FF2B5EF4-FFF2-40B4-BE49-F238E27FC236}">
                <a16:creationId xmlns:a16="http://schemas.microsoft.com/office/drawing/2014/main" id="{CCBA897E-6B78-1D5C-05B1-380F5D2A9E7E}"/>
              </a:ext>
            </a:extLst>
          </p:cNvPr>
          <p:cNvGraphicFramePr>
            <a:graphicFrameLocks noGrp="1"/>
          </p:cNvGraphicFramePr>
          <p:nvPr>
            <p:extLst>
              <p:ext uri="{D42A27DB-BD31-4B8C-83A1-F6EECF244321}">
                <p14:modId xmlns:p14="http://schemas.microsoft.com/office/powerpoint/2010/main" val="2386255979"/>
              </p:ext>
            </p:extLst>
          </p:nvPr>
        </p:nvGraphicFramePr>
        <p:xfrm>
          <a:off x="609600" y="2324100"/>
          <a:ext cx="6692900" cy="2463800"/>
        </p:xfrm>
        <a:graphic>
          <a:graphicData uri="http://schemas.openxmlformats.org/drawingml/2006/table">
            <a:tbl>
              <a:tblPr firstRow="1" bandRow="1">
                <a:tableStyleId>{5C22544A-7EE6-4342-B048-85BDC9FD1C3A}</a:tableStyleId>
              </a:tblPr>
              <a:tblGrid>
                <a:gridCol w="2400300">
                  <a:extLst>
                    <a:ext uri="{9D8B030D-6E8A-4147-A177-3AD203B41FA5}">
                      <a16:colId xmlns:a16="http://schemas.microsoft.com/office/drawing/2014/main" val="2996538977"/>
                    </a:ext>
                  </a:extLst>
                </a:gridCol>
                <a:gridCol w="2146300">
                  <a:extLst>
                    <a:ext uri="{9D8B030D-6E8A-4147-A177-3AD203B41FA5}">
                      <a16:colId xmlns:a16="http://schemas.microsoft.com/office/drawing/2014/main" val="91964777"/>
                    </a:ext>
                  </a:extLst>
                </a:gridCol>
                <a:gridCol w="2146300">
                  <a:extLst>
                    <a:ext uri="{9D8B030D-6E8A-4147-A177-3AD203B41FA5}">
                      <a16:colId xmlns:a16="http://schemas.microsoft.com/office/drawing/2014/main" val="247855325"/>
                    </a:ext>
                  </a:extLst>
                </a:gridCol>
              </a:tblGrid>
              <a:tr h="821267">
                <a:tc>
                  <a:txBody>
                    <a:bodyPr/>
                    <a:lstStyle/>
                    <a:p>
                      <a:pPr algn="l">
                        <a:spcAft>
                          <a:spcPts val="0"/>
                        </a:spcAft>
                      </a:pPr>
                      <a:r>
                        <a:rPr lang="es-PY" sz="2500" b="1">
                          <a:solidFill>
                            <a:srgbClr val="FFFFFF"/>
                          </a:solidFill>
                          <a:latin typeface="Arial" panose="020B0604020202020204" pitchFamily="34" charset="0"/>
                        </a:rPr>
                        <a:t>Real</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tc>
                  <a:txBody>
                    <a:bodyPr/>
                    <a:lstStyle/>
                    <a:p>
                      <a:pPr algn="ctr">
                        <a:spcAft>
                          <a:spcPts val="0"/>
                        </a:spcAft>
                      </a:pPr>
                      <a:r>
                        <a:rPr lang="es-PY" sz="2500" b="1">
                          <a:solidFill>
                            <a:srgbClr val="FFFFFF"/>
                          </a:solidFill>
                          <a:latin typeface="Arial" panose="020B0604020202020204" pitchFamily="34" charset="0"/>
                        </a:rPr>
                        <a:t>Predijo
Herido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tc>
                  <a:txBody>
                    <a:bodyPr/>
                    <a:lstStyle/>
                    <a:p>
                      <a:pPr algn="ctr">
                        <a:spcAft>
                          <a:spcPts val="0"/>
                        </a:spcAft>
                      </a:pPr>
                      <a:r>
                        <a:rPr lang="es-PY" sz="2500" b="1">
                          <a:solidFill>
                            <a:srgbClr val="FFFFFF"/>
                          </a:solidFill>
                          <a:latin typeface="Arial" panose="020B0604020202020204" pitchFamily="34" charset="0"/>
                        </a:rPr>
                        <a:t>Predijo
Fallecido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02A43"/>
                    </a:solidFill>
                  </a:tcPr>
                </a:tc>
                <a:extLst>
                  <a:ext uri="{0D108BD9-81ED-4DB2-BD59-A6C34878D82A}">
                    <a16:rowId xmlns:a16="http://schemas.microsoft.com/office/drawing/2014/main" val="720443728"/>
                  </a:ext>
                </a:extLst>
              </a:tr>
              <a:tr h="821267">
                <a:tc>
                  <a:txBody>
                    <a:bodyPr/>
                    <a:lstStyle/>
                    <a:p>
                      <a:pPr algn="l">
                        <a:spcAft>
                          <a:spcPts val="0"/>
                        </a:spcAft>
                      </a:pPr>
                      <a:r>
                        <a:rPr lang="es-PY" sz="2500" b="0">
                          <a:solidFill>
                            <a:srgbClr val="102A43"/>
                          </a:solidFill>
                          <a:latin typeface="Arial" panose="020B0604020202020204" pitchFamily="34" charset="0"/>
                        </a:rPr>
                        <a:t>Herido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2500" b="0">
                          <a:solidFill>
                            <a:srgbClr val="102A43"/>
                          </a:solidFill>
                          <a:latin typeface="Arial" panose="020B0604020202020204" pitchFamily="34" charset="0"/>
                        </a:rPr>
                        <a:t>609</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tc>
                  <a:txBody>
                    <a:bodyPr/>
                    <a:lstStyle/>
                    <a:p>
                      <a:pPr algn="ctr">
                        <a:spcAft>
                          <a:spcPts val="0"/>
                        </a:spcAft>
                      </a:pPr>
                      <a:r>
                        <a:rPr lang="es-PY" sz="2500" b="0">
                          <a:solidFill>
                            <a:srgbClr val="102A43"/>
                          </a:solidFill>
                          <a:latin typeface="Arial" panose="020B0604020202020204" pitchFamily="34" charset="0"/>
                        </a:rPr>
                        <a:t>294</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EFF3F8"/>
                    </a:solidFill>
                  </a:tcPr>
                </a:tc>
                <a:extLst>
                  <a:ext uri="{0D108BD9-81ED-4DB2-BD59-A6C34878D82A}">
                    <a16:rowId xmlns:a16="http://schemas.microsoft.com/office/drawing/2014/main" val="450581314"/>
                  </a:ext>
                </a:extLst>
              </a:tr>
              <a:tr h="821267">
                <a:tc>
                  <a:txBody>
                    <a:bodyPr/>
                    <a:lstStyle/>
                    <a:p>
                      <a:pPr algn="l">
                        <a:spcAft>
                          <a:spcPts val="0"/>
                        </a:spcAft>
                      </a:pPr>
                      <a:r>
                        <a:rPr lang="es-PY" sz="2500" b="0">
                          <a:solidFill>
                            <a:srgbClr val="102A43"/>
                          </a:solidFill>
                          <a:latin typeface="Arial" panose="020B0604020202020204" pitchFamily="34" charset="0"/>
                        </a:rPr>
                        <a:t>Fallecido</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FFFFFF"/>
                    </a:solidFill>
                  </a:tcPr>
                </a:tc>
                <a:tc>
                  <a:txBody>
                    <a:bodyPr/>
                    <a:lstStyle/>
                    <a:p>
                      <a:pPr algn="ctr">
                        <a:spcAft>
                          <a:spcPts val="0"/>
                        </a:spcAft>
                      </a:pPr>
                      <a:r>
                        <a:rPr lang="es-PY" sz="2500" b="1">
                          <a:solidFill>
                            <a:srgbClr val="FFFFFF"/>
                          </a:solidFill>
                          <a:latin typeface="Arial" panose="020B0604020202020204" pitchFamily="34" charset="0"/>
                        </a:rPr>
                        <a:t>107</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AC3F14"/>
                    </a:solidFill>
                  </a:tcPr>
                </a:tc>
                <a:tc>
                  <a:txBody>
                    <a:bodyPr/>
                    <a:lstStyle/>
                    <a:p>
                      <a:pPr algn="ctr">
                        <a:spcAft>
                          <a:spcPts val="0"/>
                        </a:spcAft>
                      </a:pPr>
                      <a:r>
                        <a:rPr lang="es-PY" sz="2500" b="1">
                          <a:solidFill>
                            <a:srgbClr val="FFFFFF"/>
                          </a:solidFill>
                          <a:latin typeface="Arial" panose="020B0604020202020204" pitchFamily="34" charset="0"/>
                        </a:rPr>
                        <a:t>89</a:t>
                      </a:r>
                    </a:p>
                  </a:txBody>
                  <a:tcPr marL="127000" marR="101600" marT="63500" marB="63500" anchor="ctr">
                    <a:lnL w="8255" cmpd="sng">
                      <a:solidFill>
                        <a:srgbClr val="C7D1DD"/>
                      </a:solidFill>
                    </a:lnL>
                    <a:lnR w="8255" cmpd="sng">
                      <a:solidFill>
                        <a:srgbClr val="C7D1DD"/>
                      </a:solidFill>
                    </a:lnR>
                    <a:lnT w="8255" cmpd="sng">
                      <a:solidFill>
                        <a:srgbClr val="C7D1DD"/>
                      </a:solidFill>
                    </a:lnT>
                    <a:lnB w="8255" cmpd="sng">
                      <a:solidFill>
                        <a:srgbClr val="C7D1DD"/>
                      </a:solidFill>
                    </a:lnB>
                    <a:solidFill>
                      <a:srgbClr val="155D99"/>
                    </a:solidFill>
                  </a:tcPr>
                </a:tc>
                <a:extLst>
                  <a:ext uri="{0D108BD9-81ED-4DB2-BD59-A6C34878D82A}">
                    <a16:rowId xmlns:a16="http://schemas.microsoft.com/office/drawing/2014/main" val="1130927012"/>
                  </a:ext>
                </a:extLst>
              </a:tr>
            </a:tbl>
          </a:graphicData>
        </a:graphic>
      </p:graphicFrame>
      <p:sp>
        <p:nvSpPr>
          <p:cNvPr id="10" name="CuadroTexto 9">
            <a:extLst>
              <a:ext uri="{FF2B5EF4-FFF2-40B4-BE49-F238E27FC236}">
                <a16:creationId xmlns:a16="http://schemas.microsoft.com/office/drawing/2014/main" id="{E8253AF6-C7C6-AE42-B8F8-300396781A42}"/>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predicciones de prueba del árbol. N = 1.099 filas, con 196 fallecidos.</a:t>
            </a:r>
            <a:endParaRPr lang="es-PY" sz="1050">
              <a:solidFill>
                <a:srgbClr val="465466"/>
              </a:solidFill>
              <a:latin typeface="Arial" panose="020B0604020202020204" pitchFamily="34" charset="0"/>
            </a:endParaRPr>
          </a:p>
        </p:txBody>
      </p:sp>
      <p:sp>
        <p:nvSpPr>
          <p:cNvPr id="11" name="CuadroTexto 10">
            <a:extLst>
              <a:ext uri="{FF2B5EF4-FFF2-40B4-BE49-F238E27FC236}">
                <a16:creationId xmlns:a16="http://schemas.microsoft.com/office/drawing/2014/main" id="{11B9FBA7-43F6-0591-31A7-CE49AE254EB9}"/>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13</a:t>
            </a:r>
          </a:p>
        </p:txBody>
      </p:sp>
    </p:spTree>
    <p:extLst>
      <p:ext uri="{BB962C8B-B14F-4D97-AF65-F5344CB8AC3E}">
        <p14:creationId xmlns:p14="http://schemas.microsoft.com/office/powerpoint/2010/main" val="1351978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3A00A05F-1F7B-2612-1891-37D816FEFAED}"/>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AC3F14"/>
                </a:solidFill>
                <a:latin typeface="Arial" panose="020B0604020202020204" pitchFamily="34" charset="0"/>
              </a:rPr>
              <a:t>FASE 3   VALIDACIÓN</a:t>
            </a:r>
          </a:p>
        </p:txBody>
      </p:sp>
      <p:sp>
        <p:nvSpPr>
          <p:cNvPr id="3" name="CuadroTexto 2">
            <a:extLst>
              <a:ext uri="{FF2B5EF4-FFF2-40B4-BE49-F238E27FC236}">
                <a16:creationId xmlns:a16="http://schemas.microsoft.com/office/drawing/2014/main" id="{98E6A216-B381-6DBA-31B6-A03C1E13EA4F}"/>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102A43"/>
                </a:solidFill>
                <a:latin typeface="Arial" panose="020B0604020202020204" pitchFamily="34" charset="0"/>
              </a:rPr>
              <a:t>Generalización e importancia de variables</a:t>
            </a:r>
            <a:endParaRPr lang="es-PY" sz="3200">
              <a:solidFill>
                <a:srgbClr val="102A43"/>
              </a:solidFill>
              <a:latin typeface="Arial" panose="020B0604020202020204" pitchFamily="34" charset="0"/>
            </a:endParaRPr>
          </a:p>
        </p:txBody>
      </p:sp>
      <p:sp>
        <p:nvSpPr>
          <p:cNvPr id="4" name="CuadroTexto 3">
            <a:extLst>
              <a:ext uri="{FF2B5EF4-FFF2-40B4-BE49-F238E27FC236}">
                <a16:creationId xmlns:a16="http://schemas.microsoft.com/office/drawing/2014/main" id="{40A6D84A-A691-7245-4297-6475C315077D}"/>
              </a:ext>
            </a:extLst>
          </p:cNvPr>
          <p:cNvSpPr txBox="1"/>
          <p:nvPr/>
        </p:nvSpPr>
        <p:spPr>
          <a:xfrm>
            <a:off x="609600" y="1562100"/>
            <a:ext cx="6070600" cy="368300"/>
          </a:xfrm>
          <a:prstGeom prst="rect">
            <a:avLst/>
          </a:prstGeom>
          <a:noFill/>
        </p:spPr>
        <p:txBody>
          <a:bodyPr vert="horz" wrap="square" lIns="0" tIns="0" rIns="0" bIns="0" rtlCol="0">
            <a:noAutofit/>
          </a:bodyPr>
          <a:lstStyle/>
          <a:p>
            <a:pPr>
              <a:spcAft>
                <a:spcPts val="300"/>
              </a:spcAft>
            </a:pPr>
            <a:r>
              <a:rPr lang="es-PY" sz="2100" b="1">
                <a:solidFill>
                  <a:srgbClr val="102A43"/>
                </a:solidFill>
                <a:latin typeface="Arial" panose="020B0604020202020204" pitchFamily="34" charset="0"/>
              </a:rPr>
              <a:t>F1 macro según evaluación</a:t>
            </a:r>
          </a:p>
        </p:txBody>
      </p:sp>
      <p:sp>
        <p:nvSpPr>
          <p:cNvPr id="5" name="CuadroTexto 4">
            <a:extLst>
              <a:ext uri="{FF2B5EF4-FFF2-40B4-BE49-F238E27FC236}">
                <a16:creationId xmlns:a16="http://schemas.microsoft.com/office/drawing/2014/main" id="{F702277C-D951-6407-B86B-432945FB374F}"/>
              </a:ext>
            </a:extLst>
          </p:cNvPr>
          <p:cNvSpPr txBox="1"/>
          <p:nvPr/>
        </p:nvSpPr>
        <p:spPr>
          <a:xfrm>
            <a:off x="7010400" y="1562100"/>
            <a:ext cx="4572000" cy="685800"/>
          </a:xfrm>
          <a:prstGeom prst="rect">
            <a:avLst/>
          </a:prstGeom>
          <a:noFill/>
        </p:spPr>
        <p:txBody>
          <a:bodyPr vert="horz" wrap="square" lIns="0" tIns="0" rIns="0" bIns="0" rtlCol="0">
            <a:noAutofit/>
          </a:bodyPr>
          <a:lstStyle/>
          <a:p>
            <a:pPr>
              <a:spcAft>
                <a:spcPts val="300"/>
              </a:spcAft>
            </a:pPr>
            <a:r>
              <a:rPr lang="es-ES" sz="2100" b="1">
                <a:solidFill>
                  <a:srgbClr val="102A43"/>
                </a:solidFill>
                <a:latin typeface="Arial" panose="020B0604020202020204" pitchFamily="34" charset="0"/>
              </a:rPr>
              <a:t>Caída de F1 al mezclar cada variable</a:t>
            </a:r>
            <a:endParaRPr lang="es-PY" sz="2100" b="1">
              <a:solidFill>
                <a:srgbClr val="102A43"/>
              </a:solidFill>
              <a:latin typeface="Arial" panose="020B0604020202020204" pitchFamily="34" charset="0"/>
            </a:endParaRPr>
          </a:p>
        </p:txBody>
      </p:sp>
      <p:sp>
        <p:nvSpPr>
          <p:cNvPr id="6" name="CuadroTexto 5">
            <a:extLst>
              <a:ext uri="{FF2B5EF4-FFF2-40B4-BE49-F238E27FC236}">
                <a16:creationId xmlns:a16="http://schemas.microsoft.com/office/drawing/2014/main" id="{F66E60A6-7651-DDE2-6DBA-3CCDF1AB0A5A}"/>
              </a:ext>
            </a:extLst>
          </p:cNvPr>
          <p:cNvSpPr txBox="1"/>
          <p:nvPr/>
        </p:nvSpPr>
        <p:spPr>
          <a:xfrm>
            <a:off x="609600" y="5461000"/>
            <a:ext cx="10972800" cy="368300"/>
          </a:xfrm>
          <a:prstGeom prst="rect">
            <a:avLst/>
          </a:prstGeom>
          <a:noFill/>
        </p:spPr>
        <p:txBody>
          <a:bodyPr vert="horz" wrap="square" lIns="0" tIns="0" rIns="0" bIns="0" rtlCol="0">
            <a:noAutofit/>
          </a:bodyPr>
          <a:lstStyle/>
          <a:p>
            <a:pPr>
              <a:spcAft>
                <a:spcPts val="300"/>
              </a:spcAft>
            </a:pPr>
            <a:r>
              <a:rPr lang="es-ES">
                <a:solidFill>
                  <a:srgbClr val="102A43"/>
                </a:solidFill>
                <a:latin typeface="Arial" panose="020B0604020202020204" pitchFamily="34" charset="0"/>
              </a:rPr>
              <a:t>Separar perfiles reduce el F1 a 0,456. Es una sensibilidad dentro de entrenamiento.</a:t>
            </a:r>
            <a:endParaRPr lang="es-PY">
              <a:solidFill>
                <a:srgbClr val="102A43"/>
              </a:solidFill>
              <a:latin typeface="Arial" panose="020B0604020202020204" pitchFamily="34" charset="0"/>
            </a:endParaRPr>
          </a:p>
        </p:txBody>
      </p:sp>
      <p:sp>
        <p:nvSpPr>
          <p:cNvPr id="7" name="CuadroTexto 6">
            <a:extLst>
              <a:ext uri="{FF2B5EF4-FFF2-40B4-BE49-F238E27FC236}">
                <a16:creationId xmlns:a16="http://schemas.microsoft.com/office/drawing/2014/main" id="{0E8A7D9C-AC34-0DDC-6C89-F95FF2C127A8}"/>
              </a:ext>
            </a:extLst>
          </p:cNvPr>
          <p:cNvSpPr txBox="1"/>
          <p:nvPr/>
        </p:nvSpPr>
        <p:spPr>
          <a:xfrm>
            <a:off x="609600" y="5943600"/>
            <a:ext cx="10972800" cy="368300"/>
          </a:xfrm>
          <a:prstGeom prst="rect">
            <a:avLst/>
          </a:prstGeom>
          <a:noFill/>
        </p:spPr>
        <p:txBody>
          <a:bodyPr vert="horz" wrap="square" lIns="0" tIns="0" rIns="0" bIns="0" rtlCol="0">
            <a:noAutofit/>
          </a:bodyPr>
          <a:lstStyle/>
          <a:p>
            <a:pPr>
              <a:spcAft>
                <a:spcPts val="300"/>
              </a:spcAft>
            </a:pPr>
            <a:r>
              <a:rPr lang="es-ES" sz="1900" b="1">
                <a:solidFill>
                  <a:srgbClr val="102A43"/>
                </a:solidFill>
                <a:latin typeface="Arial" panose="020B0604020202020204" pitchFamily="34" charset="0"/>
              </a:rPr>
              <a:t>Puntaje medio 0,4902 frente a fracción real 0,1783. Los puntajes necesitan calibración.</a:t>
            </a:r>
            <a:endParaRPr lang="es-PY" sz="1900" b="1">
              <a:solidFill>
                <a:srgbClr val="102A43"/>
              </a:solidFill>
              <a:latin typeface="Arial" panose="020B0604020202020204" pitchFamily="34" charset="0"/>
            </a:endParaRPr>
          </a:p>
        </p:txBody>
      </p:sp>
      <p:graphicFrame>
        <p:nvGraphicFramePr>
          <p:cNvPr id="8" name="CHART_12"/>
          <p:cNvGraphicFramePr/>
          <p:nvPr/>
        </p:nvGraphicFramePr>
        <p:xfrm>
          <a:off x="393700" y="2260600"/>
          <a:ext cx="6057900" cy="3060700"/>
        </p:xfrm>
        <a:graphic>
          <a:graphicData uri="http://schemas.openxmlformats.org/drawingml/2006/chart">
            <ns2:chart xmlns:ns2="http://schemas.openxmlformats.org/drawingml/2006/chart" r:id="rIdGraph12"/>
          </a:graphicData>
        </a:graphic>
      </p:graphicFrame>
      <p:graphicFrame>
        <p:nvGraphicFramePr>
          <p:cNvPr id="9" name="CHART_13"/>
          <p:cNvGraphicFramePr/>
          <p:nvPr/>
        </p:nvGraphicFramePr>
        <p:xfrm>
          <a:off x="6959600" y="2438400"/>
          <a:ext cx="4610100" cy="2705100"/>
        </p:xfrm>
        <a:graphic>
          <a:graphicData uri="http://schemas.openxmlformats.org/drawingml/2006/chart">
            <ns2:chart xmlns:ns2="http://schemas.openxmlformats.org/drawingml/2006/chart" r:id="rIdGraph13"/>
          </a:graphicData>
        </a:graphic>
      </p:graphicFrame>
      <p:sp>
        <p:nvSpPr>
          <p:cNvPr id="10" name="CuadroTexto 9">
            <a:extLst>
              <a:ext uri="{FF2B5EF4-FFF2-40B4-BE49-F238E27FC236}">
                <a16:creationId xmlns:a16="http://schemas.microsoft.com/office/drawing/2014/main" id="{0EF256A1-2BC3-DFD6-AEB3-2154792CA725}"/>
              </a:ext>
            </a:extLst>
          </p:cNvPr>
          <p:cNvSpPr txBox="1"/>
          <p:nvPr/>
        </p:nvSpPr>
        <p:spPr>
          <a:xfrm>
            <a:off x="609600" y="6477000"/>
            <a:ext cx="10464800" cy="292100"/>
          </a:xfrm>
          <a:prstGeom prst="rect">
            <a:avLst/>
          </a:prstGeom>
          <a:noFill/>
        </p:spPr>
        <p:txBody>
          <a:bodyPr vert="horz" wrap="square" lIns="0" tIns="0" rIns="0" bIns="0" rtlCol="0">
            <a:noAutofit/>
          </a:bodyPr>
          <a:lstStyle/>
          <a:p>
            <a:pPr>
              <a:spcAft>
                <a:spcPts val="300"/>
              </a:spcAft>
            </a:pPr>
            <a:r>
              <a:rPr lang="es-ES" sz="1050">
                <a:solidFill>
                  <a:srgbClr val="465466"/>
                </a:solidFill>
                <a:latin typeface="Arial" panose="020B0604020202020204" pitchFamily="34" charset="0"/>
              </a:rPr>
              <a:t>Fuente: brechas, sensibilidad por perfiles, permutación y calibración del notebook.</a:t>
            </a:r>
            <a:endParaRPr lang="es-PY" sz="1050">
              <a:solidFill>
                <a:srgbClr val="465466"/>
              </a:solidFill>
              <a:latin typeface="Arial" panose="020B0604020202020204" pitchFamily="34" charset="0"/>
            </a:endParaRPr>
          </a:p>
        </p:txBody>
      </p:sp>
      <p:sp>
        <p:nvSpPr>
          <p:cNvPr id="11" name="CuadroTexto 10">
            <a:extLst>
              <a:ext uri="{FF2B5EF4-FFF2-40B4-BE49-F238E27FC236}">
                <a16:creationId xmlns:a16="http://schemas.microsoft.com/office/drawing/2014/main" id="{73BE65F8-E07E-F2FC-1C46-DCB218A544F9}"/>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465466"/>
                </a:solidFill>
                <a:latin typeface="Arial" panose="020B0604020202020204" pitchFamily="34" charset="0"/>
              </a:rPr>
              <a:t>14</a:t>
            </a:r>
          </a:p>
        </p:txBody>
      </p:sp>
    </p:spTree>
    <p:extLst>
      <p:ext uri="{BB962C8B-B14F-4D97-AF65-F5344CB8AC3E}">
        <p14:creationId xmlns:p14="http://schemas.microsoft.com/office/powerpoint/2010/main" val="3768368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6DA9DA1-CEDA-77C7-A92A-32F83DCB8F73}"/>
              </a:ext>
            </a:extLst>
          </p:cNvPr>
          <p:cNvSpPr txBox="1"/>
          <p:nvPr/>
        </p:nvSpPr>
        <p:spPr>
          <a:xfrm>
            <a:off x="609600" y="368300"/>
            <a:ext cx="10972800" cy="279400"/>
          </a:xfrm>
          <a:prstGeom prst="rect">
            <a:avLst/>
          </a:prstGeom>
          <a:noFill/>
        </p:spPr>
        <p:txBody>
          <a:bodyPr vert="horz" wrap="square" lIns="0" tIns="0" rIns="0" bIns="0" rtlCol="0">
            <a:noAutofit/>
          </a:bodyPr>
          <a:lstStyle/>
          <a:p>
            <a:pPr>
              <a:spcAft>
                <a:spcPts val="300"/>
              </a:spcAft>
            </a:pPr>
            <a:r>
              <a:rPr lang="es-PY" sz="1200" b="1">
                <a:solidFill>
                  <a:srgbClr val="FFD2AF"/>
                </a:solidFill>
                <a:latin typeface="Arial" panose="020B0604020202020204" pitchFamily="34" charset="0"/>
              </a:rPr>
              <a:t>INTEGRACIÓN Y CIERRE</a:t>
            </a:r>
          </a:p>
        </p:txBody>
      </p:sp>
      <p:sp>
        <p:nvSpPr>
          <p:cNvPr id="3" name="CuadroTexto 2">
            <a:extLst>
              <a:ext uri="{FF2B5EF4-FFF2-40B4-BE49-F238E27FC236}">
                <a16:creationId xmlns:a16="http://schemas.microsoft.com/office/drawing/2014/main" id="{9668A45B-32F7-1AC2-5791-866D617250AF}"/>
              </a:ext>
            </a:extLst>
          </p:cNvPr>
          <p:cNvSpPr txBox="1"/>
          <p:nvPr/>
        </p:nvSpPr>
        <p:spPr>
          <a:xfrm>
            <a:off x="609600" y="774700"/>
            <a:ext cx="10972800" cy="571500"/>
          </a:xfrm>
          <a:prstGeom prst="rect">
            <a:avLst/>
          </a:prstGeom>
          <a:noFill/>
        </p:spPr>
        <p:txBody>
          <a:bodyPr vert="horz" wrap="square" lIns="0" tIns="0" rIns="0" bIns="0" rtlCol="0">
            <a:noAutofit/>
          </a:bodyPr>
          <a:lstStyle/>
          <a:p>
            <a:pPr>
              <a:spcAft>
                <a:spcPts val="300"/>
              </a:spcAft>
            </a:pPr>
            <a:r>
              <a:rPr lang="es-ES" sz="3200">
                <a:solidFill>
                  <a:srgbClr val="FFFFFF"/>
                </a:solidFill>
                <a:latin typeface="Arial" panose="020B0604020202020204" pitchFamily="34" charset="0"/>
              </a:rPr>
              <a:t>Qué aportaron las tres fases</a:t>
            </a:r>
            <a:endParaRPr lang="es-PY" sz="3200">
              <a:solidFill>
                <a:srgbClr val="FFFFFF"/>
              </a:solidFill>
              <a:latin typeface="Arial" panose="020B0604020202020204" pitchFamily="34" charset="0"/>
            </a:endParaRPr>
          </a:p>
        </p:txBody>
      </p:sp>
      <p:sp>
        <p:nvSpPr>
          <p:cNvPr id="4" name="CuadroTexto 3">
            <a:extLst>
              <a:ext uri="{FF2B5EF4-FFF2-40B4-BE49-F238E27FC236}">
                <a16:creationId xmlns:a16="http://schemas.microsoft.com/office/drawing/2014/main" id="{A3D3A9F0-E4B2-B1DC-B4C4-6023781FA85D}"/>
              </a:ext>
            </a:extLst>
          </p:cNvPr>
          <p:cNvSpPr txBox="1"/>
          <p:nvPr/>
        </p:nvSpPr>
        <p:spPr>
          <a:xfrm>
            <a:off x="609600" y="1689100"/>
            <a:ext cx="10972800" cy="419100"/>
          </a:xfrm>
          <a:prstGeom prst="rect">
            <a:avLst/>
          </a:prstGeom>
          <a:noFill/>
        </p:spPr>
        <p:txBody>
          <a:bodyPr vert="horz" wrap="square" lIns="0" tIns="0" rIns="0" bIns="0" rtlCol="0">
            <a:noAutofit/>
          </a:bodyPr>
          <a:lstStyle/>
          <a:p>
            <a:pPr>
              <a:spcAft>
                <a:spcPts val="300"/>
              </a:spcAft>
            </a:pPr>
            <a:r>
              <a:rPr lang="es-PY" sz="2300" b="1">
                <a:solidFill>
                  <a:srgbClr val="FFD2AF"/>
                </a:solidFill>
                <a:latin typeface="Arial" panose="020B0604020202020204" pitchFamily="34" charset="0"/>
              </a:rPr>
              <a:t>Fase 1  Descripción</a:t>
            </a:r>
          </a:p>
        </p:txBody>
      </p:sp>
      <p:sp>
        <p:nvSpPr>
          <p:cNvPr id="5" name="CuadroTexto 4">
            <a:extLst>
              <a:ext uri="{FF2B5EF4-FFF2-40B4-BE49-F238E27FC236}">
                <a16:creationId xmlns:a16="http://schemas.microsoft.com/office/drawing/2014/main" id="{1846FBA0-BAA0-B37F-332F-5373B80D87D7}"/>
              </a:ext>
            </a:extLst>
          </p:cNvPr>
          <p:cNvSpPr txBox="1"/>
          <p:nvPr/>
        </p:nvSpPr>
        <p:spPr>
          <a:xfrm>
            <a:off x="609600" y="2197100"/>
            <a:ext cx="10972800" cy="431800"/>
          </a:xfrm>
          <a:prstGeom prst="rect">
            <a:avLst/>
          </a:prstGeom>
          <a:noFill/>
        </p:spPr>
        <p:txBody>
          <a:bodyPr vert="horz" wrap="square" lIns="0" tIns="0" rIns="0" bIns="0" rtlCol="0">
            <a:noAutofit/>
          </a:bodyPr>
          <a:lstStyle/>
          <a:p>
            <a:pPr>
              <a:spcAft>
                <a:spcPts val="300"/>
              </a:spcAft>
            </a:pPr>
            <a:r>
              <a:rPr lang="es-ES" sz="2200">
                <a:solidFill>
                  <a:srgbClr val="FFFFFF"/>
                </a:solidFill>
                <a:latin typeface="Arial" panose="020B0604020202020204" pitchFamily="34" charset="0"/>
              </a:rPr>
              <a:t>Identificamos diferencias en los registros.</a:t>
            </a:r>
            <a:endParaRPr lang="es-PY" sz="2200">
              <a:solidFill>
                <a:srgbClr val="FFFFFF"/>
              </a:solidFill>
              <a:latin typeface="Arial" panose="020B0604020202020204" pitchFamily="34" charset="0"/>
            </a:endParaRPr>
          </a:p>
        </p:txBody>
      </p:sp>
      <p:sp>
        <p:nvSpPr>
          <p:cNvPr id="6" name="CuadroTexto 5">
            <a:extLst>
              <a:ext uri="{FF2B5EF4-FFF2-40B4-BE49-F238E27FC236}">
                <a16:creationId xmlns:a16="http://schemas.microsoft.com/office/drawing/2014/main" id="{E229B44B-75D9-6104-9199-4897AB0E2FF8}"/>
              </a:ext>
            </a:extLst>
          </p:cNvPr>
          <p:cNvSpPr txBox="1"/>
          <p:nvPr/>
        </p:nvSpPr>
        <p:spPr>
          <a:xfrm>
            <a:off x="609600" y="2806700"/>
            <a:ext cx="10972800" cy="419100"/>
          </a:xfrm>
          <a:prstGeom prst="rect">
            <a:avLst/>
          </a:prstGeom>
          <a:noFill/>
        </p:spPr>
        <p:txBody>
          <a:bodyPr vert="horz" wrap="square" lIns="0" tIns="0" rIns="0" bIns="0" rtlCol="0">
            <a:noAutofit/>
          </a:bodyPr>
          <a:lstStyle/>
          <a:p>
            <a:pPr>
              <a:spcAft>
                <a:spcPts val="300"/>
              </a:spcAft>
            </a:pPr>
            <a:r>
              <a:rPr lang="es-PY" sz="2300" b="1">
                <a:solidFill>
                  <a:srgbClr val="FFD2AF"/>
                </a:solidFill>
                <a:latin typeface="Arial" panose="020B0604020202020204" pitchFamily="34" charset="0"/>
              </a:rPr>
              <a:t>Fase 2  Asociación</a:t>
            </a:r>
          </a:p>
        </p:txBody>
      </p:sp>
      <p:sp>
        <p:nvSpPr>
          <p:cNvPr id="7" name="CuadroTexto 6">
            <a:extLst>
              <a:ext uri="{FF2B5EF4-FFF2-40B4-BE49-F238E27FC236}">
                <a16:creationId xmlns:a16="http://schemas.microsoft.com/office/drawing/2014/main" id="{208E86B5-10B2-50F2-7D79-03A073F6052D}"/>
              </a:ext>
            </a:extLst>
          </p:cNvPr>
          <p:cNvSpPr txBox="1"/>
          <p:nvPr/>
        </p:nvSpPr>
        <p:spPr>
          <a:xfrm>
            <a:off x="609600" y="3314700"/>
            <a:ext cx="10972800" cy="431800"/>
          </a:xfrm>
          <a:prstGeom prst="rect">
            <a:avLst/>
          </a:prstGeom>
          <a:noFill/>
        </p:spPr>
        <p:txBody>
          <a:bodyPr vert="horz" wrap="square" lIns="0" tIns="0" rIns="0" bIns="0" rtlCol="0">
            <a:noAutofit/>
          </a:bodyPr>
          <a:lstStyle/>
          <a:p>
            <a:pPr>
              <a:spcAft>
                <a:spcPts val="300"/>
              </a:spcAft>
            </a:pPr>
            <a:r>
              <a:rPr lang="es-ES" sz="2200">
                <a:solidFill>
                  <a:srgbClr val="FFFFFF"/>
                </a:solidFill>
                <a:latin typeface="Arial" panose="020B0604020202020204" pitchFamily="34" charset="0"/>
              </a:rPr>
              <a:t>RR de motocicleta: 1,95. RR de 60 años o más: 2,05.</a:t>
            </a:r>
            <a:endParaRPr lang="es-PY" sz="2200">
              <a:solidFill>
                <a:srgbClr val="FFFFFF"/>
              </a:solidFill>
              <a:latin typeface="Arial" panose="020B0604020202020204" pitchFamily="34" charset="0"/>
            </a:endParaRPr>
          </a:p>
        </p:txBody>
      </p:sp>
      <p:sp>
        <p:nvSpPr>
          <p:cNvPr id="8" name="CuadroTexto 7">
            <a:extLst>
              <a:ext uri="{FF2B5EF4-FFF2-40B4-BE49-F238E27FC236}">
                <a16:creationId xmlns:a16="http://schemas.microsoft.com/office/drawing/2014/main" id="{E07C0DD3-BD64-B217-5264-F329C31720E4}"/>
              </a:ext>
            </a:extLst>
          </p:cNvPr>
          <p:cNvSpPr txBox="1"/>
          <p:nvPr/>
        </p:nvSpPr>
        <p:spPr>
          <a:xfrm>
            <a:off x="609600" y="3924300"/>
            <a:ext cx="10972800" cy="419100"/>
          </a:xfrm>
          <a:prstGeom prst="rect">
            <a:avLst/>
          </a:prstGeom>
          <a:noFill/>
        </p:spPr>
        <p:txBody>
          <a:bodyPr vert="horz" wrap="square" lIns="0" tIns="0" rIns="0" bIns="0" rtlCol="0">
            <a:noAutofit/>
          </a:bodyPr>
          <a:lstStyle/>
          <a:p>
            <a:pPr>
              <a:spcAft>
                <a:spcPts val="300"/>
              </a:spcAft>
            </a:pPr>
            <a:r>
              <a:rPr lang="es-PY" sz="2300" b="1">
                <a:solidFill>
                  <a:srgbClr val="FFD2AF"/>
                </a:solidFill>
                <a:latin typeface="Arial" panose="020B0604020202020204" pitchFamily="34" charset="0"/>
              </a:rPr>
              <a:t>Fase 3  Predicción</a:t>
            </a:r>
          </a:p>
        </p:txBody>
      </p:sp>
      <p:sp>
        <p:nvSpPr>
          <p:cNvPr id="9" name="CuadroTexto 8">
            <a:extLst>
              <a:ext uri="{FF2B5EF4-FFF2-40B4-BE49-F238E27FC236}">
                <a16:creationId xmlns:a16="http://schemas.microsoft.com/office/drawing/2014/main" id="{22D2E2C9-D401-90F6-F99A-A8810CDDC629}"/>
              </a:ext>
            </a:extLst>
          </p:cNvPr>
          <p:cNvSpPr txBox="1"/>
          <p:nvPr/>
        </p:nvSpPr>
        <p:spPr>
          <a:xfrm>
            <a:off x="609600" y="4432300"/>
            <a:ext cx="10972800" cy="431800"/>
          </a:xfrm>
          <a:prstGeom prst="rect">
            <a:avLst/>
          </a:prstGeom>
          <a:noFill/>
        </p:spPr>
        <p:txBody>
          <a:bodyPr vert="horz" wrap="square" lIns="0" tIns="0" rIns="0" bIns="0" rtlCol="0">
            <a:noAutofit/>
          </a:bodyPr>
          <a:lstStyle/>
          <a:p>
            <a:pPr>
              <a:spcAft>
                <a:spcPts val="300"/>
              </a:spcAft>
            </a:pPr>
            <a:r>
              <a:rPr lang="es-ES" sz="2200">
                <a:solidFill>
                  <a:srgbClr val="FFFFFF"/>
                </a:solidFill>
                <a:latin typeface="Arial" panose="020B0604020202020204" pitchFamily="34" charset="0"/>
              </a:rPr>
              <a:t>El Modelo A tiene capacidad limitada. AUC: 0,5809.</a:t>
            </a:r>
            <a:endParaRPr lang="es-PY" sz="2200">
              <a:solidFill>
                <a:srgbClr val="FFFFFF"/>
              </a:solidFill>
              <a:latin typeface="Arial" panose="020B0604020202020204" pitchFamily="34" charset="0"/>
            </a:endParaRPr>
          </a:p>
        </p:txBody>
      </p:sp>
      <p:sp>
        <p:nvSpPr>
          <p:cNvPr id="10" name="CuadroTexto 9">
            <a:extLst>
              <a:ext uri="{FF2B5EF4-FFF2-40B4-BE49-F238E27FC236}">
                <a16:creationId xmlns:a16="http://schemas.microsoft.com/office/drawing/2014/main" id="{FBDE7FD6-4A5E-984E-52FA-3816D830C923}"/>
              </a:ext>
            </a:extLst>
          </p:cNvPr>
          <p:cNvSpPr txBox="1"/>
          <p:nvPr/>
        </p:nvSpPr>
        <p:spPr>
          <a:xfrm>
            <a:off x="609600" y="5181600"/>
            <a:ext cx="10972800" cy="685800"/>
          </a:xfrm>
          <a:prstGeom prst="rect">
            <a:avLst/>
          </a:prstGeom>
          <a:noFill/>
        </p:spPr>
        <p:txBody>
          <a:bodyPr vert="horz" wrap="square" lIns="0" tIns="0" rIns="0" bIns="0" rtlCol="0">
            <a:noAutofit/>
          </a:bodyPr>
          <a:lstStyle/>
          <a:p>
            <a:pPr>
              <a:spcAft>
                <a:spcPts val="300"/>
              </a:spcAft>
            </a:pPr>
            <a:r>
              <a:rPr lang="es-ES" sz="2200" b="1">
                <a:solidFill>
                  <a:srgbClr val="FFFFFF"/>
                </a:solidFill>
                <a:latin typeface="Arial" panose="020B0604020202020204" pitchFamily="34" charset="0"/>
              </a:rPr>
              <a:t>Respuesta parcial a la pregunta original. Las asociaciones no demuestran causalidad.</a:t>
            </a:r>
            <a:endParaRPr lang="es-PY" sz="2200" b="1">
              <a:solidFill>
                <a:srgbClr val="FFFFFF"/>
              </a:solidFill>
              <a:latin typeface="Arial" panose="020B0604020202020204" pitchFamily="34" charset="0"/>
            </a:endParaRPr>
          </a:p>
        </p:txBody>
      </p:sp>
      <p:sp>
        <p:nvSpPr>
          <p:cNvPr id="11" name="CuadroTexto 10">
            <a:extLst>
              <a:ext uri="{FF2B5EF4-FFF2-40B4-BE49-F238E27FC236}">
                <a16:creationId xmlns:a16="http://schemas.microsoft.com/office/drawing/2014/main" id="{3F15479D-F9E3-1AAB-2BDC-A218A44F151E}"/>
              </a:ext>
            </a:extLst>
          </p:cNvPr>
          <p:cNvSpPr txBox="1"/>
          <p:nvPr/>
        </p:nvSpPr>
        <p:spPr>
          <a:xfrm>
            <a:off x="609600" y="6032500"/>
            <a:ext cx="10972800" cy="342900"/>
          </a:xfrm>
          <a:prstGeom prst="rect">
            <a:avLst/>
          </a:prstGeom>
          <a:noFill/>
        </p:spPr>
        <p:txBody>
          <a:bodyPr vert="horz" wrap="square" lIns="0" tIns="0" rIns="0" bIns="0" rtlCol="0">
            <a:noAutofit/>
          </a:bodyPr>
          <a:lstStyle/>
          <a:p>
            <a:pPr>
              <a:spcAft>
                <a:spcPts val="300"/>
              </a:spcAft>
            </a:pPr>
            <a:r>
              <a:rPr lang="es-ES">
                <a:solidFill>
                  <a:srgbClr val="FFFFFF"/>
                </a:solidFill>
                <a:latin typeface="Arial" panose="020B0604020202020204" pitchFamily="34" charset="0"/>
              </a:rPr>
              <a:t>Para avanzar: vincular víctimas y siniestros y validar con datos de otro año.</a:t>
            </a:r>
            <a:endParaRPr lang="es-PY">
              <a:solidFill>
                <a:srgbClr val="FFFFFF"/>
              </a:solidFill>
              <a:latin typeface="Arial" panose="020B0604020202020204" pitchFamily="34" charset="0"/>
            </a:endParaRPr>
          </a:p>
        </p:txBody>
      </p:sp>
      <p:sp>
        <p:nvSpPr>
          <p:cNvPr id="12" name="CuadroTexto 11">
            <a:extLst>
              <a:ext uri="{FF2B5EF4-FFF2-40B4-BE49-F238E27FC236}">
                <a16:creationId xmlns:a16="http://schemas.microsoft.com/office/drawing/2014/main" id="{781B68F2-0691-B03B-8F9E-A7450467FBB1}"/>
              </a:ext>
            </a:extLst>
          </p:cNvPr>
          <p:cNvSpPr txBox="1"/>
          <p:nvPr/>
        </p:nvSpPr>
        <p:spPr>
          <a:xfrm>
            <a:off x="11303000" y="6477000"/>
            <a:ext cx="292100" cy="254000"/>
          </a:xfrm>
          <a:prstGeom prst="rect">
            <a:avLst/>
          </a:prstGeom>
          <a:noFill/>
        </p:spPr>
        <p:txBody>
          <a:bodyPr vert="horz" wrap="square" lIns="0" tIns="0" rIns="0" bIns="0" rtlCol="0">
            <a:noAutofit/>
          </a:bodyPr>
          <a:lstStyle/>
          <a:p>
            <a:pPr algn="r">
              <a:spcAft>
                <a:spcPts val="300"/>
              </a:spcAft>
            </a:pPr>
            <a:r>
              <a:rPr lang="es-PY" sz="1100">
                <a:solidFill>
                  <a:srgbClr val="FFFFFF"/>
                </a:solidFill>
                <a:latin typeface="Arial" panose="020B0604020202020204" pitchFamily="34" charset="0"/>
              </a:rPr>
              <a:t>15</a:t>
            </a:r>
          </a:p>
        </p:txBody>
      </p:sp>
    </p:spTree>
    <p:extLst>
      <p:ext uri="{BB962C8B-B14F-4D97-AF65-F5344CB8AC3E}">
        <p14:creationId xmlns:p14="http://schemas.microsoft.com/office/powerpoint/2010/main" val="187112111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5711</Words>
  <Application>Microsoft Office PowerPoint</Application>
  <PresentationFormat>Personalizado</PresentationFormat>
  <Paragraphs>216</Paragraphs>
  <Slides>15</Slides>
  <Notes>15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15</vt:i4>
      </vt:variant>
    </vt:vector>
  </HeadingPairs>
  <TitlesOfParts>
    <vt:vector size="19"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Gravedad de las víctimas de tránsito en Paraguay</dc:title>
  <dc:creator>Alan Alcaraz; Leandro Ferreira; Jorge Rios</dc:creator>
  <cp:lastModifiedBy>Leandro Ferreira</cp:lastModifiedBy>
  <cp:revision>1</cp:revision>
  <dcterms:created xsi:type="dcterms:W3CDTF">2026-10-28T21:50:05Z</dcterms:created>
  <dcterms:modified xsi:type="dcterms:W3CDTF">2026-10-28T21:50:05Z</dcterms:modified>
  <dc:subject>Resultados de las Fases 1, 2 y 3. Presentación de 15 diapositivas.</dc:subject>
</cp:coreProperties>
</file>